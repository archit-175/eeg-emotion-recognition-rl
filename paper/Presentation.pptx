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 Italics" charset="1" panose="020F05020202040A0204"/>
      <p:regular r:id="rId27"/>
    </p:embeddedFont>
    <p:embeddedFont>
      <p:font typeface="Calibri (MS)" charset="1" panose="020F0502020204030204"/>
      <p:regular r:id="rId28"/>
    </p:embeddedFont>
    <p:embeddedFont>
      <p:font typeface="Calibri (MS) Bold Italics" charset="1" panose="020F07020304040A0204"/>
      <p:regular r:id="rId31"/>
    </p:embeddedFont>
    <p:embeddedFont>
      <p:font typeface="Consolas Bold" charset="1" panose="020B0709020204030204"/>
      <p:regular r:id="rId34"/>
    </p:embeddedFont>
    <p:embeddedFont>
      <p:font typeface="Consolas" charset="1" panose="020B0609020204030204"/>
      <p:regular r:id="rId36"/>
    </p:embeddedFont>
    <p:embeddedFont>
      <p:font typeface="Impact" charset="1" panose="020B080603090205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6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5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520423" y="-1658617"/>
            <a:ext cx="6609083" cy="6609083"/>
            <a:chOff x="0" y="0"/>
            <a:chExt cx="8812111" cy="8812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778240" cy="8778241"/>
            </a:xfrm>
            <a:custGeom>
              <a:avLst/>
              <a:gdLst/>
              <a:ahLst/>
              <a:cxnLst/>
              <a:rect r="r" b="b" t="t" l="l"/>
              <a:pathLst>
                <a:path h="8778241" w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1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00C9B1">
                <a:alpha val="784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12149" cy="8812022"/>
            </a:xfrm>
            <a:custGeom>
              <a:avLst/>
              <a:gdLst/>
              <a:ahLst/>
              <a:cxnLst/>
              <a:rect r="r" b="b" t="t" l="l"/>
              <a:pathLst>
                <a:path h="8812022" w="8812149">
                  <a:moveTo>
                    <a:pt x="0" y="4406011"/>
                  </a:moveTo>
                  <a:cubicBezTo>
                    <a:pt x="0" y="1972691"/>
                    <a:pt x="1972691" y="0"/>
                    <a:pt x="4406011" y="0"/>
                  </a:cubicBezTo>
                  <a:lnTo>
                    <a:pt x="4406011" y="16891"/>
                  </a:lnTo>
                  <a:lnTo>
                    <a:pt x="4406011" y="0"/>
                  </a:lnTo>
                  <a:cubicBezTo>
                    <a:pt x="6839458" y="0"/>
                    <a:pt x="8812149" y="1972691"/>
                    <a:pt x="8812149" y="4406011"/>
                  </a:cubicBezTo>
                  <a:lnTo>
                    <a:pt x="8795258" y="4406011"/>
                  </a:lnTo>
                  <a:lnTo>
                    <a:pt x="8812149" y="4406011"/>
                  </a:lnTo>
                  <a:cubicBezTo>
                    <a:pt x="8812149" y="6839458"/>
                    <a:pt x="6839458" y="8812022"/>
                    <a:pt x="4406138" y="8812022"/>
                  </a:cubicBezTo>
                  <a:lnTo>
                    <a:pt x="4406138" y="8795131"/>
                  </a:lnTo>
                  <a:lnTo>
                    <a:pt x="4406138" y="8812022"/>
                  </a:lnTo>
                  <a:cubicBezTo>
                    <a:pt x="1972691" y="8812149"/>
                    <a:pt x="0" y="6839458"/>
                    <a:pt x="0" y="4406011"/>
                  </a:cubicBezTo>
                  <a:lnTo>
                    <a:pt x="16891" y="440601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0" y="4406011"/>
                  </a:lnTo>
                  <a:moveTo>
                    <a:pt x="33909" y="4406011"/>
                  </a:moveTo>
                  <a:cubicBezTo>
                    <a:pt x="33909" y="4415409"/>
                    <a:pt x="26289" y="4422902"/>
                    <a:pt x="17018" y="4422902"/>
                  </a:cubicBezTo>
                  <a:cubicBezTo>
                    <a:pt x="7747" y="4422902"/>
                    <a:pt x="0" y="4415409"/>
                    <a:pt x="0" y="4406011"/>
                  </a:cubicBezTo>
                  <a:cubicBezTo>
                    <a:pt x="0" y="4396613"/>
                    <a:pt x="7620" y="4389120"/>
                    <a:pt x="16891" y="4389120"/>
                  </a:cubicBezTo>
                  <a:cubicBezTo>
                    <a:pt x="26162" y="4389120"/>
                    <a:pt x="33782" y="4396740"/>
                    <a:pt x="33782" y="4406011"/>
                  </a:cubicBezTo>
                  <a:cubicBezTo>
                    <a:pt x="33909" y="6820789"/>
                    <a:pt x="1991360" y="8778240"/>
                    <a:pt x="4406011" y="8778240"/>
                  </a:cubicBezTo>
                  <a:cubicBezTo>
                    <a:pt x="6820662" y="8778240"/>
                    <a:pt x="8778240" y="6820789"/>
                    <a:pt x="8778240" y="4406011"/>
                  </a:cubicBezTo>
                  <a:cubicBezTo>
                    <a:pt x="8778240" y="1991360"/>
                    <a:pt x="6820789" y="33909"/>
                    <a:pt x="4406011" y="33909"/>
                  </a:cubicBezTo>
                  <a:lnTo>
                    <a:pt x="4406011" y="16891"/>
                  </a:lnTo>
                  <a:lnTo>
                    <a:pt x="4406011" y="33909"/>
                  </a:lnTo>
                  <a:cubicBezTo>
                    <a:pt x="1991360" y="33909"/>
                    <a:pt x="33909" y="1991360"/>
                    <a:pt x="33909" y="4406011"/>
                  </a:cubicBezTo>
                  <a:close/>
                </a:path>
              </a:pathLst>
            </a:custGeom>
            <a:solidFill>
              <a:srgbClr val="00C9B1">
                <a:alpha val="1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00583" y="4925063"/>
            <a:ext cx="4414523" cy="4414523"/>
            <a:chOff x="0" y="0"/>
            <a:chExt cx="5886031" cy="5886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00C9B1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86069" cy="5885942"/>
            </a:xfrm>
            <a:custGeom>
              <a:avLst/>
              <a:gdLst/>
              <a:ahLst/>
              <a:cxnLst/>
              <a:rect r="r" b="b" t="t" l="l"/>
              <a:pathLst>
                <a:path h="5885942" w="5886069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00C9B1">
                <a:alpha val="392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5399" y="572519"/>
            <a:ext cx="4231643" cy="683771"/>
            <a:chOff x="0" y="0"/>
            <a:chExt cx="5642191" cy="9116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608320" cy="877824"/>
            </a:xfrm>
            <a:custGeom>
              <a:avLst/>
              <a:gdLst/>
              <a:ahLst/>
              <a:cxnLst/>
              <a:rect r="r" b="b" t="t" l="l"/>
              <a:pathLst>
                <a:path h="877824" w="5608320">
                  <a:moveTo>
                    <a:pt x="0" y="121920"/>
                  </a:moveTo>
                  <a:cubicBezTo>
                    <a:pt x="0" y="54610"/>
                    <a:pt x="56388" y="0"/>
                    <a:pt x="125857" y="0"/>
                  </a:cubicBezTo>
                  <a:lnTo>
                    <a:pt x="5482463" y="0"/>
                  </a:lnTo>
                  <a:cubicBezTo>
                    <a:pt x="5551932" y="0"/>
                    <a:pt x="5608320" y="54610"/>
                    <a:pt x="5608320" y="121920"/>
                  </a:cubicBezTo>
                  <a:lnTo>
                    <a:pt x="5608320" y="755904"/>
                  </a:lnTo>
                  <a:cubicBezTo>
                    <a:pt x="5608320" y="823214"/>
                    <a:pt x="5551932" y="877824"/>
                    <a:pt x="5482463" y="877824"/>
                  </a:cubicBezTo>
                  <a:lnTo>
                    <a:pt x="125857" y="877824"/>
                  </a:lnTo>
                  <a:cubicBezTo>
                    <a:pt x="56388" y="877824"/>
                    <a:pt x="0" y="823214"/>
                    <a:pt x="0" y="755904"/>
                  </a:cubicBezTo>
                  <a:close/>
                </a:path>
              </a:pathLst>
            </a:custGeom>
            <a:solidFill>
              <a:srgbClr val="00C9B1">
                <a:alpha val="6705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2102" cy="911606"/>
            </a:xfrm>
            <a:custGeom>
              <a:avLst/>
              <a:gdLst/>
              <a:ahLst/>
              <a:cxnLst/>
              <a:rect r="r" b="b" t="t" l="l"/>
              <a:pathLst>
                <a:path h="911606" w="5642102">
                  <a:moveTo>
                    <a:pt x="0" y="138811"/>
                  </a:moveTo>
                  <a:cubicBezTo>
                    <a:pt x="0" y="61722"/>
                    <a:pt x="64389" y="0"/>
                    <a:pt x="142748" y="0"/>
                  </a:cubicBezTo>
                  <a:lnTo>
                    <a:pt x="5499354" y="0"/>
                  </a:lnTo>
                  <a:lnTo>
                    <a:pt x="5499354" y="16891"/>
                  </a:lnTo>
                  <a:lnTo>
                    <a:pt x="5499354" y="0"/>
                  </a:lnTo>
                  <a:cubicBezTo>
                    <a:pt x="5577713" y="0"/>
                    <a:pt x="5642102" y="61722"/>
                    <a:pt x="5642102" y="138811"/>
                  </a:cubicBezTo>
                  <a:lnTo>
                    <a:pt x="5625211" y="138811"/>
                  </a:lnTo>
                  <a:lnTo>
                    <a:pt x="5642102" y="138811"/>
                  </a:lnTo>
                  <a:lnTo>
                    <a:pt x="5642102" y="772795"/>
                  </a:lnTo>
                  <a:lnTo>
                    <a:pt x="5625211" y="772795"/>
                  </a:lnTo>
                  <a:lnTo>
                    <a:pt x="5642102" y="772795"/>
                  </a:lnTo>
                  <a:cubicBezTo>
                    <a:pt x="5642102" y="850011"/>
                    <a:pt x="5577713" y="911606"/>
                    <a:pt x="5499354" y="911606"/>
                  </a:cubicBezTo>
                  <a:lnTo>
                    <a:pt x="5499354" y="894715"/>
                  </a:lnTo>
                  <a:lnTo>
                    <a:pt x="5499354" y="911606"/>
                  </a:lnTo>
                  <a:lnTo>
                    <a:pt x="142748" y="911606"/>
                  </a:lnTo>
                  <a:lnTo>
                    <a:pt x="142748" y="894715"/>
                  </a:lnTo>
                  <a:lnTo>
                    <a:pt x="142748" y="911606"/>
                  </a:lnTo>
                  <a:cubicBezTo>
                    <a:pt x="64389" y="911733"/>
                    <a:pt x="0" y="850011"/>
                    <a:pt x="0" y="772795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72795"/>
                  </a:lnTo>
                  <a:lnTo>
                    <a:pt x="16891" y="772795"/>
                  </a:lnTo>
                  <a:lnTo>
                    <a:pt x="33909" y="772795"/>
                  </a:lnTo>
                  <a:cubicBezTo>
                    <a:pt x="33909" y="830326"/>
                    <a:pt x="82169" y="877824"/>
                    <a:pt x="142875" y="877824"/>
                  </a:cubicBezTo>
                  <a:lnTo>
                    <a:pt x="5499354" y="877824"/>
                  </a:lnTo>
                  <a:cubicBezTo>
                    <a:pt x="5560060" y="877824"/>
                    <a:pt x="5608320" y="830326"/>
                    <a:pt x="5608320" y="772795"/>
                  </a:cubicBezTo>
                  <a:lnTo>
                    <a:pt x="5608320" y="138811"/>
                  </a:lnTo>
                  <a:cubicBezTo>
                    <a:pt x="5608320" y="81280"/>
                    <a:pt x="5560060" y="33782"/>
                    <a:pt x="5499354" y="33782"/>
                  </a:cubicBezTo>
                  <a:lnTo>
                    <a:pt x="142748" y="33782"/>
                  </a:lnTo>
                  <a:lnTo>
                    <a:pt x="142748" y="16891"/>
                  </a:lnTo>
                  <a:lnTo>
                    <a:pt x="142748" y="33909"/>
                  </a:lnTo>
                  <a:cubicBezTo>
                    <a:pt x="82042" y="33909"/>
                    <a:pt x="33782" y="81407"/>
                    <a:pt x="33782" y="138938"/>
                  </a:cubicBez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585216"/>
            <a:ext cx="4206240" cy="658368"/>
            <a:chOff x="0" y="0"/>
            <a:chExt cx="560832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08320" cy="877824"/>
            </a:xfrm>
            <a:custGeom>
              <a:avLst/>
              <a:gdLst/>
              <a:ahLst/>
              <a:cxnLst/>
              <a:rect r="r" b="b" t="t" l="l"/>
              <a:pathLst>
                <a:path h="87782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083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368" y="1572768"/>
            <a:ext cx="14630400" cy="3421335"/>
            <a:chOff x="0" y="0"/>
            <a:chExt cx="19507200" cy="4561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4561780"/>
            </a:xfrm>
            <a:custGeom>
              <a:avLst/>
              <a:gdLst/>
              <a:ahLst/>
              <a:cxnLst/>
              <a:rect r="r" b="b" t="t" l="l"/>
              <a:pathLst>
                <a:path h="45617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561780"/>
                  </a:lnTo>
                  <a:lnTo>
                    <a:pt x="0" y="45617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52" r="0" b="-292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19507200" cy="469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Brain Emotion P</a:t>
              </a: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erception Inspired EEG Emotion Recognition With Deep Reinforcement Learning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368" y="4663440"/>
            <a:ext cx="13898880" cy="1499616"/>
            <a:chOff x="0" y="0"/>
            <a:chExt cx="18531840" cy="1999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31839" cy="1999488"/>
            </a:xfrm>
            <a:custGeom>
              <a:avLst/>
              <a:gdLst/>
              <a:ahLst/>
              <a:cxnLst/>
              <a:rect r="r" b="b" t="t" l="l"/>
              <a:pathLst>
                <a:path h="1999488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593" r="0" b="-1305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8531840" cy="2066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0C9B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via Papez-Circuit-Inspired FLD3QN + HARL</a:t>
              </a:r>
            </a:p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0C9B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with Multi-Level Domain Adaptation — DEAP &amp; SEED-IV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5671" y="6314951"/>
            <a:ext cx="10632443" cy="80267"/>
            <a:chOff x="0" y="0"/>
            <a:chExt cx="14176591" cy="1070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142719" cy="73152"/>
            </a:xfrm>
            <a:custGeom>
              <a:avLst/>
              <a:gdLst/>
              <a:ahLst/>
              <a:cxnLst/>
              <a:rect r="r" b="b" t="t" l="l"/>
              <a:pathLst>
                <a:path h="7315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94A3B8">
                <a:alpha val="2470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76502" cy="106936"/>
            </a:xfrm>
            <a:custGeom>
              <a:avLst/>
              <a:gdLst/>
              <a:ahLst/>
              <a:cxnLst/>
              <a:rect r="r" b="b" t="t" l="l"/>
              <a:pathLst>
                <a:path h="106936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90043"/>
                  </a:lnTo>
                  <a:cubicBezTo>
                    <a:pt x="14176502" y="99441"/>
                    <a:pt x="14168882" y="106934"/>
                    <a:pt x="1415961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4159610" y="73152"/>
                  </a:lnTo>
                  <a:lnTo>
                    <a:pt x="14159610" y="90043"/>
                  </a:lnTo>
                  <a:lnTo>
                    <a:pt x="14142720" y="9004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" y="6547104"/>
            <a:ext cx="14630400" cy="694944"/>
            <a:chOff x="0" y="0"/>
            <a:chExt cx="1950720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9507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Shashank Maurya · Divya Jaisansaria · Archit Savaliya ·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368" y="7278624"/>
            <a:ext cx="14630400" cy="621792"/>
            <a:chOff x="0" y="0"/>
            <a:chExt cx="1950720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07200" cy="829056"/>
            </a:xfrm>
            <a:custGeom>
              <a:avLst/>
              <a:gdLst/>
              <a:ahLst/>
              <a:cxnLst/>
              <a:rect r="r" b="b" t="t" l="l"/>
              <a:pathLst>
                <a:path h="82905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471" r="0" b="-40847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5072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Artificial Intelligence, SVNIT Surat — 395007, Gujarat, India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5671" y="8326631"/>
            <a:ext cx="4012187" cy="610619"/>
            <a:chOff x="0" y="0"/>
            <a:chExt cx="5349583" cy="8141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5214620" y="0"/>
                  </a:lnTo>
                  <a:cubicBezTo>
                    <a:pt x="5270500" y="0"/>
                    <a:pt x="5315712" y="43688"/>
                    <a:pt x="5315712" y="97536"/>
                  </a:cubicBezTo>
                  <a:lnTo>
                    <a:pt x="5315712" y="682752"/>
                  </a:lnTo>
                  <a:cubicBezTo>
                    <a:pt x="5315712" y="736600"/>
                    <a:pt x="5270500" y="780288"/>
                    <a:pt x="5214620" y="780288"/>
                  </a:cubicBezTo>
                  <a:lnTo>
                    <a:pt x="101219" y="780288"/>
                  </a:lnTo>
                  <a:cubicBezTo>
                    <a:pt x="45339" y="780288"/>
                    <a:pt x="127" y="736600"/>
                    <a:pt x="127" y="682752"/>
                  </a:cubicBez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49621" cy="814070"/>
            </a:xfrm>
            <a:custGeom>
              <a:avLst/>
              <a:gdLst/>
              <a:ahLst/>
              <a:cxnLst/>
              <a:rect r="r" b="b" t="t" l="l"/>
              <a:pathLst>
                <a:path h="814070" w="5349621">
                  <a:moveTo>
                    <a:pt x="0" y="114427"/>
                  </a:moveTo>
                  <a:cubicBezTo>
                    <a:pt x="0" y="50673"/>
                    <a:pt x="53467" y="0"/>
                    <a:pt x="118110" y="0"/>
                  </a:cubicBezTo>
                  <a:lnTo>
                    <a:pt x="5231511" y="0"/>
                  </a:lnTo>
                  <a:lnTo>
                    <a:pt x="5231511" y="16891"/>
                  </a:lnTo>
                  <a:lnTo>
                    <a:pt x="5231511" y="0"/>
                  </a:lnTo>
                  <a:cubicBezTo>
                    <a:pt x="5296154" y="0"/>
                    <a:pt x="5349621" y="50673"/>
                    <a:pt x="5349621" y="114427"/>
                  </a:cubicBezTo>
                  <a:lnTo>
                    <a:pt x="5332730" y="114427"/>
                  </a:lnTo>
                  <a:lnTo>
                    <a:pt x="5349621" y="114427"/>
                  </a:lnTo>
                  <a:lnTo>
                    <a:pt x="5349621" y="699643"/>
                  </a:lnTo>
                  <a:lnTo>
                    <a:pt x="5332730" y="699643"/>
                  </a:lnTo>
                  <a:lnTo>
                    <a:pt x="5349621" y="699643"/>
                  </a:lnTo>
                  <a:cubicBezTo>
                    <a:pt x="5349621" y="763397"/>
                    <a:pt x="5296154" y="814070"/>
                    <a:pt x="5231511" y="814070"/>
                  </a:cubicBezTo>
                  <a:lnTo>
                    <a:pt x="5231511" y="797179"/>
                  </a:lnTo>
                  <a:lnTo>
                    <a:pt x="5231511" y="814070"/>
                  </a:lnTo>
                  <a:lnTo>
                    <a:pt x="118110" y="814070"/>
                  </a:lnTo>
                  <a:lnTo>
                    <a:pt x="118110" y="797179"/>
                  </a:lnTo>
                  <a:lnTo>
                    <a:pt x="118110" y="814070"/>
                  </a:lnTo>
                  <a:cubicBezTo>
                    <a:pt x="53467" y="814070"/>
                    <a:pt x="0" y="763397"/>
                    <a:pt x="0" y="699643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43585"/>
                    <a:pt x="70993" y="780288"/>
                    <a:pt x="118110" y="780288"/>
                  </a:cubicBezTo>
                  <a:lnTo>
                    <a:pt x="5231511" y="780288"/>
                  </a:lnTo>
                  <a:cubicBezTo>
                    <a:pt x="5278628" y="780288"/>
                    <a:pt x="5315712" y="743585"/>
                    <a:pt x="5315712" y="699643"/>
                  </a:cubicBezTo>
                  <a:lnTo>
                    <a:pt x="5315712" y="114427"/>
                  </a:lnTo>
                  <a:cubicBezTo>
                    <a:pt x="5315712" y="70485"/>
                    <a:pt x="5278628" y="33782"/>
                    <a:pt x="5231511" y="33782"/>
                  </a:cubicBezTo>
                  <a:lnTo>
                    <a:pt x="118110" y="33782"/>
                  </a:lnTo>
                  <a:lnTo>
                    <a:pt x="118110" y="16891"/>
                  </a:lnTo>
                  <a:lnTo>
                    <a:pt x="118110" y="33909"/>
                  </a:lnTo>
                  <a:cubicBezTo>
                    <a:pt x="70993" y="33909"/>
                    <a:pt x="33909" y="70612"/>
                    <a:pt x="33909" y="114554"/>
                  </a:cubicBezTo>
                  <a:close/>
                </a:path>
              </a:pathLst>
            </a:custGeom>
            <a:solidFill>
              <a:srgbClr val="00C9B1">
                <a:alpha val="19608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" y="8339328"/>
            <a:ext cx="3986784" cy="585216"/>
            <a:chOff x="0" y="0"/>
            <a:chExt cx="5315712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741" r="0" b="-82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315712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00C9B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DEAP Dataset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43351" y="8326631"/>
            <a:ext cx="4012187" cy="610619"/>
            <a:chOff x="0" y="0"/>
            <a:chExt cx="5349583" cy="81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5214620" y="0"/>
                  </a:lnTo>
                  <a:cubicBezTo>
                    <a:pt x="5270500" y="0"/>
                    <a:pt x="5315712" y="43688"/>
                    <a:pt x="5315712" y="97536"/>
                  </a:cubicBezTo>
                  <a:lnTo>
                    <a:pt x="5315712" y="682752"/>
                  </a:lnTo>
                  <a:cubicBezTo>
                    <a:pt x="5315712" y="736600"/>
                    <a:pt x="5270500" y="780288"/>
                    <a:pt x="5214620" y="780288"/>
                  </a:cubicBezTo>
                  <a:lnTo>
                    <a:pt x="101219" y="780288"/>
                  </a:lnTo>
                  <a:cubicBezTo>
                    <a:pt x="45339" y="780288"/>
                    <a:pt x="127" y="736600"/>
                    <a:pt x="127" y="682752"/>
                  </a:cubicBez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9621" cy="814070"/>
            </a:xfrm>
            <a:custGeom>
              <a:avLst/>
              <a:gdLst/>
              <a:ahLst/>
              <a:cxnLst/>
              <a:rect r="r" b="b" t="t" l="l"/>
              <a:pathLst>
                <a:path h="814070" w="5349621">
                  <a:moveTo>
                    <a:pt x="0" y="114427"/>
                  </a:moveTo>
                  <a:cubicBezTo>
                    <a:pt x="0" y="50673"/>
                    <a:pt x="53467" y="0"/>
                    <a:pt x="118110" y="0"/>
                  </a:cubicBezTo>
                  <a:lnTo>
                    <a:pt x="5231511" y="0"/>
                  </a:lnTo>
                  <a:lnTo>
                    <a:pt x="5231511" y="16891"/>
                  </a:lnTo>
                  <a:lnTo>
                    <a:pt x="5231511" y="0"/>
                  </a:lnTo>
                  <a:cubicBezTo>
                    <a:pt x="5296154" y="0"/>
                    <a:pt x="5349621" y="50673"/>
                    <a:pt x="5349621" y="114427"/>
                  </a:cubicBezTo>
                  <a:lnTo>
                    <a:pt x="5332730" y="114427"/>
                  </a:lnTo>
                  <a:lnTo>
                    <a:pt x="5349621" y="114427"/>
                  </a:lnTo>
                  <a:lnTo>
                    <a:pt x="5349621" y="699643"/>
                  </a:lnTo>
                  <a:lnTo>
                    <a:pt x="5332730" y="699643"/>
                  </a:lnTo>
                  <a:lnTo>
                    <a:pt x="5349621" y="699643"/>
                  </a:lnTo>
                  <a:cubicBezTo>
                    <a:pt x="5349621" y="763397"/>
                    <a:pt x="5296154" y="814070"/>
                    <a:pt x="5231511" y="814070"/>
                  </a:cubicBezTo>
                  <a:lnTo>
                    <a:pt x="5231511" y="797179"/>
                  </a:lnTo>
                  <a:lnTo>
                    <a:pt x="5231511" y="814070"/>
                  </a:lnTo>
                  <a:lnTo>
                    <a:pt x="118110" y="814070"/>
                  </a:lnTo>
                  <a:lnTo>
                    <a:pt x="118110" y="797179"/>
                  </a:lnTo>
                  <a:lnTo>
                    <a:pt x="118110" y="814070"/>
                  </a:lnTo>
                  <a:cubicBezTo>
                    <a:pt x="53467" y="814070"/>
                    <a:pt x="0" y="763397"/>
                    <a:pt x="0" y="699643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43585"/>
                    <a:pt x="70993" y="780288"/>
                    <a:pt x="118110" y="780288"/>
                  </a:cubicBezTo>
                  <a:lnTo>
                    <a:pt x="5231511" y="780288"/>
                  </a:lnTo>
                  <a:cubicBezTo>
                    <a:pt x="5278628" y="780288"/>
                    <a:pt x="5315712" y="743585"/>
                    <a:pt x="5315712" y="699643"/>
                  </a:cubicBezTo>
                  <a:lnTo>
                    <a:pt x="5315712" y="114427"/>
                  </a:lnTo>
                  <a:cubicBezTo>
                    <a:pt x="5315712" y="70485"/>
                    <a:pt x="5278628" y="33782"/>
                    <a:pt x="5231511" y="33782"/>
                  </a:cubicBezTo>
                  <a:lnTo>
                    <a:pt x="118110" y="33782"/>
                  </a:lnTo>
                  <a:lnTo>
                    <a:pt x="118110" y="16891"/>
                  </a:lnTo>
                  <a:lnTo>
                    <a:pt x="118110" y="33909"/>
                  </a:lnTo>
                  <a:cubicBezTo>
                    <a:pt x="70993" y="33909"/>
                    <a:pt x="33909" y="70612"/>
                    <a:pt x="33909" y="114554"/>
                  </a:cubicBezTo>
                  <a:close/>
                </a:path>
              </a:pathLst>
            </a:custGeom>
            <a:solidFill>
              <a:srgbClr val="00E676">
                <a:alpha val="19608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56048" y="8339328"/>
            <a:ext cx="3986784" cy="585216"/>
            <a:chOff x="0" y="0"/>
            <a:chExt cx="5315712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741" r="0" b="-827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15712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00E6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SEED-IV Dataset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41031" y="8326631"/>
            <a:ext cx="4012187" cy="610619"/>
            <a:chOff x="0" y="0"/>
            <a:chExt cx="5349583" cy="8141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5214620" y="0"/>
                  </a:lnTo>
                  <a:cubicBezTo>
                    <a:pt x="5270500" y="0"/>
                    <a:pt x="5315712" y="43688"/>
                    <a:pt x="5315712" y="97536"/>
                  </a:cubicBezTo>
                  <a:lnTo>
                    <a:pt x="5315712" y="682752"/>
                  </a:lnTo>
                  <a:cubicBezTo>
                    <a:pt x="5315712" y="736600"/>
                    <a:pt x="5270500" y="780288"/>
                    <a:pt x="5214620" y="780288"/>
                  </a:cubicBezTo>
                  <a:lnTo>
                    <a:pt x="101219" y="780288"/>
                  </a:lnTo>
                  <a:cubicBezTo>
                    <a:pt x="45339" y="780288"/>
                    <a:pt x="127" y="736600"/>
                    <a:pt x="127" y="682752"/>
                  </a:cubicBez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49621" cy="814070"/>
            </a:xfrm>
            <a:custGeom>
              <a:avLst/>
              <a:gdLst/>
              <a:ahLst/>
              <a:cxnLst/>
              <a:rect r="r" b="b" t="t" l="l"/>
              <a:pathLst>
                <a:path h="814070" w="5349621">
                  <a:moveTo>
                    <a:pt x="0" y="114427"/>
                  </a:moveTo>
                  <a:cubicBezTo>
                    <a:pt x="0" y="50673"/>
                    <a:pt x="53467" y="0"/>
                    <a:pt x="118110" y="0"/>
                  </a:cubicBezTo>
                  <a:lnTo>
                    <a:pt x="5231511" y="0"/>
                  </a:lnTo>
                  <a:lnTo>
                    <a:pt x="5231511" y="16891"/>
                  </a:lnTo>
                  <a:lnTo>
                    <a:pt x="5231511" y="0"/>
                  </a:lnTo>
                  <a:cubicBezTo>
                    <a:pt x="5296154" y="0"/>
                    <a:pt x="5349621" y="50673"/>
                    <a:pt x="5349621" y="114427"/>
                  </a:cubicBezTo>
                  <a:lnTo>
                    <a:pt x="5332730" y="114427"/>
                  </a:lnTo>
                  <a:lnTo>
                    <a:pt x="5349621" y="114427"/>
                  </a:lnTo>
                  <a:lnTo>
                    <a:pt x="5349621" y="699643"/>
                  </a:lnTo>
                  <a:lnTo>
                    <a:pt x="5332730" y="699643"/>
                  </a:lnTo>
                  <a:lnTo>
                    <a:pt x="5349621" y="699643"/>
                  </a:lnTo>
                  <a:cubicBezTo>
                    <a:pt x="5349621" y="763397"/>
                    <a:pt x="5296154" y="814070"/>
                    <a:pt x="5231511" y="814070"/>
                  </a:cubicBezTo>
                  <a:lnTo>
                    <a:pt x="5231511" y="797179"/>
                  </a:lnTo>
                  <a:lnTo>
                    <a:pt x="5231511" y="814070"/>
                  </a:lnTo>
                  <a:lnTo>
                    <a:pt x="118110" y="814070"/>
                  </a:lnTo>
                  <a:lnTo>
                    <a:pt x="118110" y="797179"/>
                  </a:lnTo>
                  <a:lnTo>
                    <a:pt x="118110" y="814070"/>
                  </a:lnTo>
                  <a:cubicBezTo>
                    <a:pt x="53467" y="814070"/>
                    <a:pt x="0" y="763397"/>
                    <a:pt x="0" y="699643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43585"/>
                    <a:pt x="70993" y="780288"/>
                    <a:pt x="118110" y="780288"/>
                  </a:cubicBezTo>
                  <a:lnTo>
                    <a:pt x="5231511" y="780288"/>
                  </a:lnTo>
                  <a:cubicBezTo>
                    <a:pt x="5278628" y="780288"/>
                    <a:pt x="5315712" y="743585"/>
                    <a:pt x="5315712" y="699643"/>
                  </a:cubicBezTo>
                  <a:lnTo>
                    <a:pt x="5315712" y="114427"/>
                  </a:lnTo>
                  <a:cubicBezTo>
                    <a:pt x="5315712" y="70485"/>
                    <a:pt x="5278628" y="33782"/>
                    <a:pt x="5231511" y="33782"/>
                  </a:cubicBezTo>
                  <a:lnTo>
                    <a:pt x="118110" y="33782"/>
                  </a:lnTo>
                  <a:lnTo>
                    <a:pt x="118110" y="16891"/>
                  </a:lnTo>
                  <a:lnTo>
                    <a:pt x="118110" y="33909"/>
                  </a:lnTo>
                  <a:cubicBezTo>
                    <a:pt x="70993" y="33909"/>
                    <a:pt x="33909" y="70612"/>
                    <a:pt x="33909" y="114554"/>
                  </a:cubicBezTo>
                  <a:close/>
                </a:path>
              </a:pathLst>
            </a:custGeom>
            <a:solidFill>
              <a:srgbClr val="7C4DFF">
                <a:alpha val="19608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53728" y="8339328"/>
            <a:ext cx="3986784" cy="585216"/>
            <a:chOff x="0" y="0"/>
            <a:chExt cx="5315712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741" r="0" b="-827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315712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7C4D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LOSO Eval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38711" y="8326631"/>
            <a:ext cx="4012187" cy="610619"/>
            <a:chOff x="0" y="0"/>
            <a:chExt cx="5349583" cy="8141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5214620" y="0"/>
                  </a:lnTo>
                  <a:cubicBezTo>
                    <a:pt x="5270500" y="0"/>
                    <a:pt x="5315712" y="43688"/>
                    <a:pt x="5315712" y="97536"/>
                  </a:cubicBezTo>
                  <a:lnTo>
                    <a:pt x="5315712" y="682752"/>
                  </a:lnTo>
                  <a:cubicBezTo>
                    <a:pt x="5315712" y="736600"/>
                    <a:pt x="5270500" y="780288"/>
                    <a:pt x="5214620" y="780288"/>
                  </a:cubicBezTo>
                  <a:lnTo>
                    <a:pt x="101219" y="780288"/>
                  </a:lnTo>
                  <a:cubicBezTo>
                    <a:pt x="45339" y="780288"/>
                    <a:pt x="127" y="736600"/>
                    <a:pt x="127" y="682752"/>
                  </a:cubicBez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49621" cy="814070"/>
            </a:xfrm>
            <a:custGeom>
              <a:avLst/>
              <a:gdLst/>
              <a:ahLst/>
              <a:cxnLst/>
              <a:rect r="r" b="b" t="t" l="l"/>
              <a:pathLst>
                <a:path h="814070" w="5349621">
                  <a:moveTo>
                    <a:pt x="0" y="114427"/>
                  </a:moveTo>
                  <a:cubicBezTo>
                    <a:pt x="0" y="50673"/>
                    <a:pt x="53467" y="0"/>
                    <a:pt x="118110" y="0"/>
                  </a:cubicBezTo>
                  <a:lnTo>
                    <a:pt x="5231511" y="0"/>
                  </a:lnTo>
                  <a:lnTo>
                    <a:pt x="5231511" y="16891"/>
                  </a:lnTo>
                  <a:lnTo>
                    <a:pt x="5231511" y="0"/>
                  </a:lnTo>
                  <a:cubicBezTo>
                    <a:pt x="5296154" y="0"/>
                    <a:pt x="5349621" y="50673"/>
                    <a:pt x="5349621" y="114427"/>
                  </a:cubicBezTo>
                  <a:lnTo>
                    <a:pt x="5332730" y="114427"/>
                  </a:lnTo>
                  <a:lnTo>
                    <a:pt x="5349621" y="114427"/>
                  </a:lnTo>
                  <a:lnTo>
                    <a:pt x="5349621" y="699643"/>
                  </a:lnTo>
                  <a:lnTo>
                    <a:pt x="5332730" y="699643"/>
                  </a:lnTo>
                  <a:lnTo>
                    <a:pt x="5349621" y="699643"/>
                  </a:lnTo>
                  <a:cubicBezTo>
                    <a:pt x="5349621" y="763397"/>
                    <a:pt x="5296154" y="814070"/>
                    <a:pt x="5231511" y="814070"/>
                  </a:cubicBezTo>
                  <a:lnTo>
                    <a:pt x="5231511" y="797179"/>
                  </a:lnTo>
                  <a:lnTo>
                    <a:pt x="5231511" y="814070"/>
                  </a:lnTo>
                  <a:lnTo>
                    <a:pt x="118110" y="814070"/>
                  </a:lnTo>
                  <a:lnTo>
                    <a:pt x="118110" y="797179"/>
                  </a:lnTo>
                  <a:lnTo>
                    <a:pt x="118110" y="814070"/>
                  </a:lnTo>
                  <a:cubicBezTo>
                    <a:pt x="53467" y="814070"/>
                    <a:pt x="0" y="763397"/>
                    <a:pt x="0" y="699643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43585"/>
                    <a:pt x="70993" y="780288"/>
                    <a:pt x="118110" y="780288"/>
                  </a:cubicBezTo>
                  <a:lnTo>
                    <a:pt x="5231511" y="780288"/>
                  </a:lnTo>
                  <a:cubicBezTo>
                    <a:pt x="5278628" y="780288"/>
                    <a:pt x="5315712" y="743585"/>
                    <a:pt x="5315712" y="699643"/>
                  </a:cubicBezTo>
                  <a:lnTo>
                    <a:pt x="5315712" y="114427"/>
                  </a:lnTo>
                  <a:cubicBezTo>
                    <a:pt x="5315712" y="70485"/>
                    <a:pt x="5278628" y="33782"/>
                    <a:pt x="5231511" y="33782"/>
                  </a:cubicBezTo>
                  <a:lnTo>
                    <a:pt x="118110" y="33782"/>
                  </a:lnTo>
                  <a:lnTo>
                    <a:pt x="118110" y="16891"/>
                  </a:lnTo>
                  <a:lnTo>
                    <a:pt x="118110" y="33909"/>
                  </a:lnTo>
                  <a:cubicBezTo>
                    <a:pt x="70993" y="33909"/>
                    <a:pt x="33909" y="70612"/>
                    <a:pt x="33909" y="114554"/>
                  </a:cubicBezTo>
                  <a:close/>
                </a:path>
              </a:pathLst>
            </a:custGeom>
            <a:solidFill>
              <a:srgbClr val="FF7043">
                <a:alpha val="19608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551408" y="8339328"/>
            <a:ext cx="3986784" cy="585216"/>
            <a:chOff x="0" y="0"/>
            <a:chExt cx="5315712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15712" cy="780288"/>
            </a:xfrm>
            <a:custGeom>
              <a:avLst/>
              <a:gdLst/>
              <a:ahLst/>
              <a:cxnLst/>
              <a:rect r="r" b="b" t="t" l="l"/>
              <a:pathLst>
                <a:path h="78028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741" r="0" b="-827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315712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FF704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RL + HARL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910560" y="914400"/>
            <a:ext cx="2011680" cy="2011680"/>
            <a:chOff x="0" y="0"/>
            <a:chExt cx="2682240" cy="268224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Current EEG Models Fail in the Real World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754886"/>
            <a:ext cx="5524500" cy="3183636"/>
            <a:chOff x="0" y="0"/>
            <a:chExt cx="7366000" cy="4244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7315200" cy="4194048"/>
            </a:xfrm>
            <a:custGeom>
              <a:avLst/>
              <a:gdLst/>
              <a:ahLst/>
              <a:cxnLst/>
              <a:rect r="r" b="b" t="t" l="l"/>
              <a:pathLst>
                <a:path h="41940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94048"/>
                  </a:lnTo>
                  <a:lnTo>
                    <a:pt x="0" y="4194048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0" cy="4244848"/>
            </a:xfrm>
            <a:custGeom>
              <a:avLst/>
              <a:gdLst/>
              <a:ahLst/>
              <a:cxnLst/>
              <a:rect r="r" b="b" t="t" l="l"/>
              <a:pathLst>
                <a:path h="4244848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4219448"/>
                  </a:lnTo>
                  <a:cubicBezTo>
                    <a:pt x="7366000" y="4233418"/>
                    <a:pt x="7354570" y="4244848"/>
                    <a:pt x="7340600" y="4244848"/>
                  </a:cubicBezTo>
                  <a:lnTo>
                    <a:pt x="25400" y="4244848"/>
                  </a:lnTo>
                  <a:cubicBezTo>
                    <a:pt x="11430" y="4244848"/>
                    <a:pt x="0" y="4233418"/>
                    <a:pt x="0" y="42194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19448"/>
                  </a:lnTo>
                  <a:lnTo>
                    <a:pt x="25400" y="4219448"/>
                  </a:lnTo>
                  <a:lnTo>
                    <a:pt x="25400" y="4194048"/>
                  </a:lnTo>
                  <a:lnTo>
                    <a:pt x="7340600" y="4194048"/>
                  </a:lnTo>
                  <a:lnTo>
                    <a:pt x="7340600" y="4219448"/>
                  </a:lnTo>
                  <a:lnTo>
                    <a:pt x="7315200" y="4219448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761239"/>
            <a:ext cx="5511803" cy="153419"/>
            <a:chOff x="0" y="0"/>
            <a:chExt cx="7349071" cy="20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2011680"/>
            <a:ext cx="4974336" cy="1196317"/>
            <a:chOff x="0" y="0"/>
            <a:chExt cx="6632448" cy="15950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32448" cy="1595090"/>
            </a:xfrm>
            <a:custGeom>
              <a:avLst/>
              <a:gdLst/>
              <a:ahLst/>
              <a:cxnLst/>
              <a:rect r="r" b="b" t="t" l="l"/>
              <a:pathLst>
                <a:path h="159509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595090"/>
                  </a:lnTo>
                  <a:lnTo>
                    <a:pt x="0" y="1595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01" r="0" b="-299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632448" cy="166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Mental Health</a:t>
              </a:r>
            </a:p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8096" y="3218688"/>
            <a:ext cx="4974336" cy="1371600"/>
            <a:chOff x="0" y="0"/>
            <a:chExt cx="6632448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324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65" r="0" b="-206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632448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affective BCI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zero calibration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18326" y="1754886"/>
            <a:ext cx="5524500" cy="3183636"/>
            <a:chOff x="0" y="0"/>
            <a:chExt cx="7366000" cy="4244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7315200" cy="4194048"/>
            </a:xfrm>
            <a:custGeom>
              <a:avLst/>
              <a:gdLst/>
              <a:ahLst/>
              <a:cxnLst/>
              <a:rect r="r" b="b" t="t" l="l"/>
              <a:pathLst>
                <a:path h="41940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94048"/>
                  </a:lnTo>
                  <a:lnTo>
                    <a:pt x="0" y="4194048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66000" cy="4244848"/>
            </a:xfrm>
            <a:custGeom>
              <a:avLst/>
              <a:gdLst/>
              <a:ahLst/>
              <a:cxnLst/>
              <a:rect r="r" b="b" t="t" l="l"/>
              <a:pathLst>
                <a:path h="4244848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4219448"/>
                  </a:lnTo>
                  <a:cubicBezTo>
                    <a:pt x="7366000" y="4233418"/>
                    <a:pt x="7354570" y="4244848"/>
                    <a:pt x="7340600" y="4244848"/>
                  </a:cubicBezTo>
                  <a:lnTo>
                    <a:pt x="25400" y="4244848"/>
                  </a:lnTo>
                  <a:cubicBezTo>
                    <a:pt x="11430" y="4244848"/>
                    <a:pt x="0" y="4233418"/>
                    <a:pt x="0" y="42194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19448"/>
                  </a:lnTo>
                  <a:lnTo>
                    <a:pt x="25400" y="4219448"/>
                  </a:lnTo>
                  <a:lnTo>
                    <a:pt x="25400" y="4194048"/>
                  </a:lnTo>
                  <a:lnTo>
                    <a:pt x="7340600" y="4194048"/>
                  </a:lnTo>
                  <a:lnTo>
                    <a:pt x="7340600" y="4219448"/>
                  </a:lnTo>
                  <a:lnTo>
                    <a:pt x="7315200" y="4219448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24679" y="1761239"/>
            <a:ext cx="5511803" cy="153419"/>
            <a:chOff x="0" y="0"/>
            <a:chExt cx="7349071" cy="2045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93408" y="2011680"/>
            <a:ext cx="4974336" cy="1196317"/>
            <a:chOff x="0" y="0"/>
            <a:chExt cx="6632448" cy="15950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32448" cy="1595090"/>
            </a:xfrm>
            <a:custGeom>
              <a:avLst/>
              <a:gdLst/>
              <a:ahLst/>
              <a:cxnLst/>
              <a:rect r="r" b="b" t="t" l="l"/>
              <a:pathLst>
                <a:path h="159509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595090"/>
                  </a:lnTo>
                  <a:lnTo>
                    <a:pt x="0" y="1595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01" r="0" b="-299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6632448" cy="166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</a:t>
              </a:r>
            </a:p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93408" y="3218688"/>
            <a:ext cx="4974336" cy="1371600"/>
            <a:chOff x="0" y="0"/>
            <a:chExt cx="6632448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324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65" r="0" b="-206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632448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emotion feedback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across all students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3638" y="1754886"/>
            <a:ext cx="5524500" cy="3183636"/>
            <a:chOff x="0" y="0"/>
            <a:chExt cx="7366000" cy="42448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7315200" cy="4194048"/>
            </a:xfrm>
            <a:custGeom>
              <a:avLst/>
              <a:gdLst/>
              <a:ahLst/>
              <a:cxnLst/>
              <a:rect r="r" b="b" t="t" l="l"/>
              <a:pathLst>
                <a:path h="41940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94048"/>
                  </a:lnTo>
                  <a:lnTo>
                    <a:pt x="0" y="4194048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66000" cy="4244848"/>
            </a:xfrm>
            <a:custGeom>
              <a:avLst/>
              <a:gdLst/>
              <a:ahLst/>
              <a:cxnLst/>
              <a:rect r="r" b="b" t="t" l="l"/>
              <a:pathLst>
                <a:path h="4244848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4219448"/>
                  </a:lnTo>
                  <a:cubicBezTo>
                    <a:pt x="7366000" y="4233418"/>
                    <a:pt x="7354570" y="4244848"/>
                    <a:pt x="7340600" y="4244848"/>
                  </a:cubicBezTo>
                  <a:lnTo>
                    <a:pt x="25400" y="4244848"/>
                  </a:lnTo>
                  <a:cubicBezTo>
                    <a:pt x="11430" y="4244848"/>
                    <a:pt x="0" y="4233418"/>
                    <a:pt x="0" y="42194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219448"/>
                  </a:lnTo>
                  <a:lnTo>
                    <a:pt x="25400" y="4219448"/>
                  </a:lnTo>
                  <a:lnTo>
                    <a:pt x="25400" y="4194048"/>
                  </a:lnTo>
                  <a:lnTo>
                    <a:pt x="7340600" y="4194048"/>
                  </a:lnTo>
                  <a:lnTo>
                    <a:pt x="7340600" y="4219448"/>
                  </a:lnTo>
                  <a:lnTo>
                    <a:pt x="7315200" y="4219448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49991" y="1761239"/>
            <a:ext cx="5511803" cy="153419"/>
            <a:chOff x="0" y="0"/>
            <a:chExt cx="7349071" cy="2045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618720" y="2011680"/>
            <a:ext cx="4974336" cy="1196317"/>
            <a:chOff x="0" y="0"/>
            <a:chExt cx="6632448" cy="15950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32448" cy="1595090"/>
            </a:xfrm>
            <a:custGeom>
              <a:avLst/>
              <a:gdLst/>
              <a:ahLst/>
              <a:cxnLst/>
              <a:rect r="r" b="b" t="t" l="l"/>
              <a:pathLst>
                <a:path h="159509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595090"/>
                  </a:lnTo>
                  <a:lnTo>
                    <a:pt x="0" y="1595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01" r="0" b="-299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6632448" cy="166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</a:t>
              </a:r>
            </a:p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Vehicle Safety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18720" y="3218688"/>
            <a:ext cx="4974336" cy="1371600"/>
            <a:chOff x="0" y="0"/>
            <a:chExt cx="6632448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32448" cy="1828800"/>
            </a:xfrm>
            <a:custGeom>
              <a:avLst/>
              <a:gdLst/>
              <a:ahLst/>
              <a:cxnLst/>
              <a:rect r="r" b="b" t="t" l="l"/>
              <a:pathLst>
                <a:path h="182880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65" r="0" b="-206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632448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 drowsiness detection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every individual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3014" y="5247894"/>
            <a:ext cx="17301972" cy="1208532"/>
            <a:chOff x="0" y="0"/>
            <a:chExt cx="23069296" cy="16113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23018496" cy="1560576"/>
            </a:xfrm>
            <a:custGeom>
              <a:avLst/>
              <a:gdLst/>
              <a:ahLst/>
              <a:cxnLst/>
              <a:rect r="r" b="b" t="t" l="l"/>
              <a:pathLst>
                <a:path h="1560576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560576"/>
                  </a:lnTo>
                  <a:lnTo>
                    <a:pt x="0" y="1560576"/>
                  </a:lnTo>
                  <a:close/>
                </a:path>
              </a:pathLst>
            </a:custGeom>
            <a:solidFill>
              <a:srgbClr val="1A0A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69296" cy="1611376"/>
            </a:xfrm>
            <a:custGeom>
              <a:avLst/>
              <a:gdLst/>
              <a:ahLst/>
              <a:cxnLst/>
              <a:rect r="r" b="b" t="t" l="l"/>
              <a:pathLst>
                <a:path h="1611376" w="23069296">
                  <a:moveTo>
                    <a:pt x="25400" y="0"/>
                  </a:moveTo>
                  <a:lnTo>
                    <a:pt x="23043896" y="0"/>
                  </a:lnTo>
                  <a:cubicBezTo>
                    <a:pt x="23057865" y="0"/>
                    <a:pt x="23069296" y="11430"/>
                    <a:pt x="23069296" y="25400"/>
                  </a:cubicBezTo>
                  <a:lnTo>
                    <a:pt x="23069296" y="1585976"/>
                  </a:lnTo>
                  <a:cubicBezTo>
                    <a:pt x="23069296" y="1599946"/>
                    <a:pt x="23057865" y="1611376"/>
                    <a:pt x="23043896" y="1611376"/>
                  </a:cubicBezTo>
                  <a:lnTo>
                    <a:pt x="25400" y="1611376"/>
                  </a:lnTo>
                  <a:cubicBezTo>
                    <a:pt x="11430" y="1611376"/>
                    <a:pt x="0" y="1599946"/>
                    <a:pt x="0" y="1585976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585976"/>
                  </a:lnTo>
                  <a:lnTo>
                    <a:pt x="25400" y="1585976"/>
                  </a:lnTo>
                  <a:lnTo>
                    <a:pt x="25400" y="1560576"/>
                  </a:lnTo>
                  <a:lnTo>
                    <a:pt x="23043896" y="1560576"/>
                  </a:lnTo>
                  <a:lnTo>
                    <a:pt x="23043896" y="1585976"/>
                  </a:lnTo>
                  <a:lnTo>
                    <a:pt x="23018496" y="1585976"/>
                  </a:lnTo>
                  <a:lnTo>
                    <a:pt x="23018496" y="25400"/>
                  </a:lnTo>
                  <a:lnTo>
                    <a:pt x="23043896" y="25400"/>
                  </a:lnTo>
                  <a:lnTo>
                    <a:pt x="2304389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865376" y="5266944"/>
            <a:ext cx="15727680" cy="1170432"/>
            <a:chOff x="0" y="0"/>
            <a:chExt cx="20970240" cy="15605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970239" cy="1560576"/>
            </a:xfrm>
            <a:custGeom>
              <a:avLst/>
              <a:gdLst/>
              <a:ahLst/>
              <a:cxnLst/>
              <a:rect r="r" b="b" t="t" l="l"/>
              <a:pathLst>
                <a:path h="156057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0970240" cy="1598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PROBLEM: Subject-Dependent Models Require 20–30 min Per-User Calibration — Impractical for Real BCI Deployment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3014" y="6747510"/>
            <a:ext cx="5487924" cy="3019044"/>
            <a:chOff x="0" y="0"/>
            <a:chExt cx="7317232" cy="40253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7266432" cy="3974592"/>
            </a:xfrm>
            <a:custGeom>
              <a:avLst/>
              <a:gdLst/>
              <a:ahLst/>
              <a:cxnLst/>
              <a:rect r="r" b="b" t="t" l="l"/>
              <a:pathLst>
                <a:path h="397459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3974592"/>
                  </a:lnTo>
                  <a:lnTo>
                    <a:pt x="0" y="397459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7232" cy="4025392"/>
            </a:xfrm>
            <a:custGeom>
              <a:avLst/>
              <a:gdLst/>
              <a:ahLst/>
              <a:cxnLst/>
              <a:rect r="r" b="b" t="t" l="l"/>
              <a:pathLst>
                <a:path h="4025392" w="7317232">
                  <a:moveTo>
                    <a:pt x="25400" y="0"/>
                  </a:moveTo>
                  <a:lnTo>
                    <a:pt x="7291832" y="0"/>
                  </a:lnTo>
                  <a:cubicBezTo>
                    <a:pt x="7305801" y="0"/>
                    <a:pt x="7317232" y="11430"/>
                    <a:pt x="7317232" y="25400"/>
                  </a:cubicBezTo>
                  <a:lnTo>
                    <a:pt x="7317232" y="3999992"/>
                  </a:lnTo>
                  <a:cubicBezTo>
                    <a:pt x="7317232" y="4013962"/>
                    <a:pt x="7305801" y="4025392"/>
                    <a:pt x="7291832" y="4025392"/>
                  </a:cubicBezTo>
                  <a:lnTo>
                    <a:pt x="25400" y="4025392"/>
                  </a:lnTo>
                  <a:cubicBezTo>
                    <a:pt x="11430" y="4025392"/>
                    <a:pt x="0" y="4013962"/>
                    <a:pt x="0" y="39999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99992"/>
                  </a:lnTo>
                  <a:lnTo>
                    <a:pt x="25400" y="3999992"/>
                  </a:lnTo>
                  <a:lnTo>
                    <a:pt x="25400" y="3974592"/>
                  </a:lnTo>
                  <a:lnTo>
                    <a:pt x="7291832" y="3974592"/>
                  </a:lnTo>
                  <a:lnTo>
                    <a:pt x="7291832" y="3999992"/>
                  </a:lnTo>
                  <a:lnTo>
                    <a:pt x="7266432" y="3999992"/>
                  </a:lnTo>
                  <a:lnTo>
                    <a:pt x="7266432" y="25400"/>
                  </a:lnTo>
                  <a:lnTo>
                    <a:pt x="7291832" y="25400"/>
                  </a:lnTo>
                  <a:lnTo>
                    <a:pt x="729183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12064" y="6912864"/>
            <a:ext cx="5449824" cy="1188720"/>
            <a:chOff x="0" y="0"/>
            <a:chExt cx="7266432" cy="158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266432" cy="1584960"/>
            </a:xfrm>
            <a:custGeom>
              <a:avLst/>
              <a:gdLst/>
              <a:ahLst/>
              <a:cxnLst/>
              <a:rect r="r" b="b" t="t" l="l"/>
              <a:pathLst>
                <a:path h="158496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31" r="0" b="-3933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42875"/>
              <a:ext cx="7266432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&gt;30%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4944" y="8193024"/>
            <a:ext cx="5084064" cy="1005840"/>
            <a:chOff x="0" y="0"/>
            <a:chExt cx="6778752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7875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88" r="0" b="-484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77875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drop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without calibration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18326" y="6747510"/>
            <a:ext cx="5487924" cy="3019044"/>
            <a:chOff x="0" y="0"/>
            <a:chExt cx="7317232" cy="40253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7266432" cy="3974592"/>
            </a:xfrm>
            <a:custGeom>
              <a:avLst/>
              <a:gdLst/>
              <a:ahLst/>
              <a:cxnLst/>
              <a:rect r="r" b="b" t="t" l="l"/>
              <a:pathLst>
                <a:path h="397459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3974592"/>
                  </a:lnTo>
                  <a:lnTo>
                    <a:pt x="0" y="397459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7232" cy="4025392"/>
            </a:xfrm>
            <a:custGeom>
              <a:avLst/>
              <a:gdLst/>
              <a:ahLst/>
              <a:cxnLst/>
              <a:rect r="r" b="b" t="t" l="l"/>
              <a:pathLst>
                <a:path h="4025392" w="7317232">
                  <a:moveTo>
                    <a:pt x="25400" y="0"/>
                  </a:moveTo>
                  <a:lnTo>
                    <a:pt x="7291832" y="0"/>
                  </a:lnTo>
                  <a:cubicBezTo>
                    <a:pt x="7305801" y="0"/>
                    <a:pt x="7317232" y="11430"/>
                    <a:pt x="7317232" y="25400"/>
                  </a:cubicBezTo>
                  <a:lnTo>
                    <a:pt x="7317232" y="3999992"/>
                  </a:lnTo>
                  <a:cubicBezTo>
                    <a:pt x="7317232" y="4013962"/>
                    <a:pt x="7305801" y="4025392"/>
                    <a:pt x="7291832" y="4025392"/>
                  </a:cubicBezTo>
                  <a:lnTo>
                    <a:pt x="25400" y="4025392"/>
                  </a:lnTo>
                  <a:cubicBezTo>
                    <a:pt x="11430" y="4025392"/>
                    <a:pt x="0" y="4013962"/>
                    <a:pt x="0" y="39999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99992"/>
                  </a:lnTo>
                  <a:lnTo>
                    <a:pt x="25400" y="3999992"/>
                  </a:lnTo>
                  <a:lnTo>
                    <a:pt x="25400" y="3974592"/>
                  </a:lnTo>
                  <a:lnTo>
                    <a:pt x="7291832" y="3974592"/>
                  </a:lnTo>
                  <a:lnTo>
                    <a:pt x="7291832" y="3999992"/>
                  </a:lnTo>
                  <a:lnTo>
                    <a:pt x="7266432" y="3999992"/>
                  </a:lnTo>
                  <a:lnTo>
                    <a:pt x="7266432" y="25400"/>
                  </a:lnTo>
                  <a:lnTo>
                    <a:pt x="7291832" y="25400"/>
                  </a:lnTo>
                  <a:lnTo>
                    <a:pt x="729183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37376" y="6912864"/>
            <a:ext cx="5449824" cy="1188720"/>
            <a:chOff x="0" y="0"/>
            <a:chExt cx="7266432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66432" cy="1584960"/>
            </a:xfrm>
            <a:custGeom>
              <a:avLst/>
              <a:gdLst/>
              <a:ahLst/>
              <a:cxnLst/>
              <a:rect r="r" b="b" t="t" l="l"/>
              <a:pathLst>
                <a:path h="158496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31" r="0" b="-3933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42875"/>
              <a:ext cx="7266432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20-30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20256" y="8193024"/>
            <a:ext cx="5084064" cy="1005840"/>
            <a:chOff x="0" y="0"/>
            <a:chExt cx="6778752" cy="1341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7875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88" r="0" b="-4848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77875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Minutes of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labeling per user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43638" y="6747510"/>
            <a:ext cx="5487924" cy="3019044"/>
            <a:chOff x="0" y="0"/>
            <a:chExt cx="7317232" cy="40253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5400" y="25400"/>
              <a:ext cx="7266432" cy="3974592"/>
            </a:xfrm>
            <a:custGeom>
              <a:avLst/>
              <a:gdLst/>
              <a:ahLst/>
              <a:cxnLst/>
              <a:rect r="r" b="b" t="t" l="l"/>
              <a:pathLst>
                <a:path h="397459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3974592"/>
                  </a:lnTo>
                  <a:lnTo>
                    <a:pt x="0" y="397459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7232" cy="4025392"/>
            </a:xfrm>
            <a:custGeom>
              <a:avLst/>
              <a:gdLst/>
              <a:ahLst/>
              <a:cxnLst/>
              <a:rect r="r" b="b" t="t" l="l"/>
              <a:pathLst>
                <a:path h="4025392" w="7317232">
                  <a:moveTo>
                    <a:pt x="25400" y="0"/>
                  </a:moveTo>
                  <a:lnTo>
                    <a:pt x="7291832" y="0"/>
                  </a:lnTo>
                  <a:cubicBezTo>
                    <a:pt x="7305801" y="0"/>
                    <a:pt x="7317232" y="11430"/>
                    <a:pt x="7317232" y="25400"/>
                  </a:cubicBezTo>
                  <a:lnTo>
                    <a:pt x="7317232" y="3999992"/>
                  </a:lnTo>
                  <a:cubicBezTo>
                    <a:pt x="7317232" y="4013962"/>
                    <a:pt x="7305801" y="4025392"/>
                    <a:pt x="7291832" y="4025392"/>
                  </a:cubicBezTo>
                  <a:lnTo>
                    <a:pt x="25400" y="4025392"/>
                  </a:lnTo>
                  <a:cubicBezTo>
                    <a:pt x="11430" y="4025392"/>
                    <a:pt x="0" y="4013962"/>
                    <a:pt x="0" y="399999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99992"/>
                  </a:lnTo>
                  <a:lnTo>
                    <a:pt x="25400" y="3999992"/>
                  </a:lnTo>
                  <a:lnTo>
                    <a:pt x="25400" y="3974592"/>
                  </a:lnTo>
                  <a:lnTo>
                    <a:pt x="7291832" y="3974592"/>
                  </a:lnTo>
                  <a:lnTo>
                    <a:pt x="7291832" y="3999992"/>
                  </a:lnTo>
                  <a:lnTo>
                    <a:pt x="7266432" y="3999992"/>
                  </a:lnTo>
                  <a:lnTo>
                    <a:pt x="7266432" y="25400"/>
                  </a:lnTo>
                  <a:lnTo>
                    <a:pt x="7291832" y="25400"/>
                  </a:lnTo>
                  <a:lnTo>
                    <a:pt x="729183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62688" y="6912864"/>
            <a:ext cx="5449824" cy="1188720"/>
            <a:chOff x="0" y="0"/>
            <a:chExt cx="7266432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266432" cy="1584960"/>
            </a:xfrm>
            <a:custGeom>
              <a:avLst/>
              <a:gdLst/>
              <a:ahLst/>
              <a:cxnLst/>
              <a:rect r="r" b="b" t="t" l="l"/>
              <a:pathLst>
                <a:path h="158496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31" r="0" b="-3933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42875"/>
              <a:ext cx="7266432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45568" y="8193024"/>
            <a:ext cx="5084064" cy="1005840"/>
            <a:chOff x="0" y="0"/>
            <a:chExt cx="6778752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78752" cy="1341120"/>
            </a:xfrm>
            <a:custGeom>
              <a:avLst/>
              <a:gdLst/>
              <a:ahLst/>
              <a:cxnLst/>
              <a:rect r="r" b="b" t="t" l="l"/>
              <a:pathLst>
                <a:path h="1341120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88" r="0" b="-484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778752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 tested: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DEAP + SEED-IV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4400" y="5431536"/>
            <a:ext cx="822960" cy="822960"/>
            <a:chOff x="0" y="0"/>
            <a:chExt cx="109728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Core Challenge: Inter-Subject Covariance Shift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809750"/>
            <a:ext cx="5195316" cy="7865364"/>
            <a:chOff x="0" y="0"/>
            <a:chExt cx="6927088" cy="104871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876288" cy="10436352"/>
            </a:xfrm>
            <a:custGeom>
              <a:avLst/>
              <a:gdLst/>
              <a:ahLst/>
              <a:cxnLst/>
              <a:rect r="r" b="b" t="t" l="l"/>
              <a:pathLst>
                <a:path h="104363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436352"/>
                  </a:lnTo>
                  <a:lnTo>
                    <a:pt x="0" y="104363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7088" cy="10487152"/>
            </a:xfrm>
            <a:custGeom>
              <a:avLst/>
              <a:gdLst/>
              <a:ahLst/>
              <a:cxnLst/>
              <a:rect r="r" b="b" t="t" l="l"/>
              <a:pathLst>
                <a:path h="10487152" w="6927088">
                  <a:moveTo>
                    <a:pt x="25400" y="0"/>
                  </a:moveTo>
                  <a:lnTo>
                    <a:pt x="6901688" y="0"/>
                  </a:lnTo>
                  <a:cubicBezTo>
                    <a:pt x="6915658" y="0"/>
                    <a:pt x="6927088" y="11430"/>
                    <a:pt x="6927088" y="25400"/>
                  </a:cubicBezTo>
                  <a:lnTo>
                    <a:pt x="6927088" y="10461752"/>
                  </a:lnTo>
                  <a:cubicBezTo>
                    <a:pt x="6927088" y="10475722"/>
                    <a:pt x="6915658" y="10487152"/>
                    <a:pt x="6901688" y="10487152"/>
                  </a:cubicBezTo>
                  <a:lnTo>
                    <a:pt x="25400" y="10487152"/>
                  </a:lnTo>
                  <a:cubicBezTo>
                    <a:pt x="11430" y="10487152"/>
                    <a:pt x="0" y="10475722"/>
                    <a:pt x="0" y="1046175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461752"/>
                  </a:lnTo>
                  <a:lnTo>
                    <a:pt x="25400" y="10461752"/>
                  </a:lnTo>
                  <a:lnTo>
                    <a:pt x="25400" y="10436352"/>
                  </a:lnTo>
                  <a:lnTo>
                    <a:pt x="6901688" y="10436352"/>
                  </a:lnTo>
                  <a:lnTo>
                    <a:pt x="6901688" y="10461752"/>
                  </a:lnTo>
                  <a:lnTo>
                    <a:pt x="6876288" y="10461752"/>
                  </a:lnTo>
                  <a:lnTo>
                    <a:pt x="6876288" y="25400"/>
                  </a:lnTo>
                  <a:lnTo>
                    <a:pt x="6901688" y="25400"/>
                  </a:lnTo>
                  <a:lnTo>
                    <a:pt x="69016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1901952"/>
            <a:ext cx="5157216" cy="694944"/>
            <a:chOff x="0" y="0"/>
            <a:chExt cx="6876288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6288" cy="926592"/>
            </a:xfrm>
            <a:custGeom>
              <a:avLst/>
              <a:gdLst/>
              <a:ahLst/>
              <a:cxnLst/>
              <a:rect r="r" b="b" t="t" l="l"/>
              <a:pathLst>
                <a:path h="92659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99" r="0" b="-9459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87628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spc="400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SUBJECT 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8551" y="3297431"/>
            <a:ext cx="4377947" cy="409451"/>
            <a:chOff x="0" y="0"/>
            <a:chExt cx="5837263" cy="545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803392" cy="512064"/>
            </a:xfrm>
            <a:custGeom>
              <a:avLst/>
              <a:gdLst/>
              <a:ahLst/>
              <a:cxnLst/>
              <a:rect r="r" b="b" t="t" l="l"/>
              <a:pathLst>
                <a:path h="512064" w="5803392">
                  <a:moveTo>
                    <a:pt x="0" y="256032"/>
                  </a:moveTo>
                  <a:cubicBezTo>
                    <a:pt x="0" y="114681"/>
                    <a:pt x="1299083" y="0"/>
                    <a:pt x="2901696" y="0"/>
                  </a:cubicBezTo>
                  <a:cubicBezTo>
                    <a:pt x="4504309" y="0"/>
                    <a:pt x="5803392" y="114681"/>
                    <a:pt x="5803392" y="256032"/>
                  </a:cubicBezTo>
                  <a:cubicBezTo>
                    <a:pt x="5803392" y="397383"/>
                    <a:pt x="4504309" y="512064"/>
                    <a:pt x="2901696" y="512064"/>
                  </a:cubicBezTo>
                  <a:cubicBezTo>
                    <a:pt x="1299083" y="512064"/>
                    <a:pt x="0" y="397510"/>
                    <a:pt x="0" y="256032"/>
                  </a:cubicBezTo>
                  <a:close/>
                </a:path>
              </a:pathLst>
            </a:custGeom>
            <a:solidFill>
              <a:srgbClr val="00C9B1">
                <a:alpha val="8627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37301" cy="545846"/>
            </a:xfrm>
            <a:custGeom>
              <a:avLst/>
              <a:gdLst/>
              <a:ahLst/>
              <a:cxnLst/>
              <a:rect r="r" b="b" t="t" l="l"/>
              <a:pathLst>
                <a:path h="545846" w="5837301">
                  <a:moveTo>
                    <a:pt x="0" y="272923"/>
                  </a:moveTo>
                  <a:lnTo>
                    <a:pt x="16891" y="272923"/>
                  </a:lnTo>
                  <a:lnTo>
                    <a:pt x="0" y="272923"/>
                  </a:lnTo>
                  <a:cubicBezTo>
                    <a:pt x="0" y="109220"/>
                    <a:pt x="1334643" y="0"/>
                    <a:pt x="2918587" y="0"/>
                  </a:cubicBezTo>
                  <a:cubicBezTo>
                    <a:pt x="4502531" y="0"/>
                    <a:pt x="5837301" y="109220"/>
                    <a:pt x="5837301" y="272923"/>
                  </a:cubicBezTo>
                  <a:lnTo>
                    <a:pt x="5820410" y="272923"/>
                  </a:lnTo>
                  <a:lnTo>
                    <a:pt x="5837301" y="272923"/>
                  </a:lnTo>
                  <a:cubicBezTo>
                    <a:pt x="5837301" y="436753"/>
                    <a:pt x="4502658" y="545846"/>
                    <a:pt x="2918714" y="545846"/>
                  </a:cubicBezTo>
                  <a:lnTo>
                    <a:pt x="2918714" y="528955"/>
                  </a:lnTo>
                  <a:lnTo>
                    <a:pt x="2918714" y="545846"/>
                  </a:lnTo>
                  <a:cubicBezTo>
                    <a:pt x="1334643" y="545973"/>
                    <a:pt x="0" y="436753"/>
                    <a:pt x="0" y="272923"/>
                  </a:cubicBezTo>
                  <a:lnTo>
                    <a:pt x="16891" y="272923"/>
                  </a:lnTo>
                  <a:lnTo>
                    <a:pt x="33909" y="272923"/>
                  </a:lnTo>
                  <a:lnTo>
                    <a:pt x="16891" y="272923"/>
                  </a:lnTo>
                  <a:lnTo>
                    <a:pt x="0" y="272923"/>
                  </a:lnTo>
                  <a:moveTo>
                    <a:pt x="33909" y="272923"/>
                  </a:moveTo>
                  <a:cubicBezTo>
                    <a:pt x="33909" y="282321"/>
                    <a:pt x="26289" y="289814"/>
                    <a:pt x="17018" y="289814"/>
                  </a:cubicBezTo>
                  <a:cubicBezTo>
                    <a:pt x="7747" y="289814"/>
                    <a:pt x="0" y="282321"/>
                    <a:pt x="0" y="272923"/>
                  </a:cubicBezTo>
                  <a:cubicBezTo>
                    <a:pt x="0" y="263525"/>
                    <a:pt x="7620" y="256032"/>
                    <a:pt x="16891" y="256032"/>
                  </a:cubicBezTo>
                  <a:cubicBezTo>
                    <a:pt x="26162" y="256032"/>
                    <a:pt x="33782" y="263652"/>
                    <a:pt x="33782" y="272923"/>
                  </a:cubicBezTo>
                  <a:cubicBezTo>
                    <a:pt x="33782" y="391922"/>
                    <a:pt x="1297432" y="512064"/>
                    <a:pt x="2918587" y="512064"/>
                  </a:cubicBezTo>
                  <a:cubicBezTo>
                    <a:pt x="4539742" y="512064"/>
                    <a:pt x="5803392" y="391922"/>
                    <a:pt x="5803392" y="272923"/>
                  </a:cubicBezTo>
                  <a:cubicBezTo>
                    <a:pt x="5803392" y="153924"/>
                    <a:pt x="4539742" y="33782"/>
                    <a:pt x="2918587" y="33782"/>
                  </a:cubicBezTo>
                  <a:lnTo>
                    <a:pt x="2918587" y="16891"/>
                  </a:lnTo>
                  <a:lnTo>
                    <a:pt x="2918587" y="33909"/>
                  </a:lnTo>
                  <a:cubicBezTo>
                    <a:pt x="1297432" y="33909"/>
                    <a:pt x="33909" y="153924"/>
                    <a:pt x="33909" y="272923"/>
                  </a:cubicBezTo>
                  <a:close/>
                </a:path>
              </a:pathLst>
            </a:custGeom>
            <a:solidFill>
              <a:srgbClr val="00C9B1">
                <a:alpha val="48627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40615" y="3955799"/>
            <a:ext cx="4213355" cy="409451"/>
            <a:chOff x="0" y="0"/>
            <a:chExt cx="5617807" cy="5459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583936" cy="512064"/>
            </a:xfrm>
            <a:custGeom>
              <a:avLst/>
              <a:gdLst/>
              <a:ahLst/>
              <a:cxnLst/>
              <a:rect r="r" b="b" t="t" l="l"/>
              <a:pathLst>
                <a:path h="512064" w="5583936">
                  <a:moveTo>
                    <a:pt x="0" y="256032"/>
                  </a:moveTo>
                  <a:cubicBezTo>
                    <a:pt x="0" y="114681"/>
                    <a:pt x="1250061" y="0"/>
                    <a:pt x="2791968" y="0"/>
                  </a:cubicBezTo>
                  <a:cubicBezTo>
                    <a:pt x="4333875" y="0"/>
                    <a:pt x="5583936" y="114681"/>
                    <a:pt x="5583936" y="256032"/>
                  </a:cubicBezTo>
                  <a:cubicBezTo>
                    <a:pt x="5583936" y="397383"/>
                    <a:pt x="4333875" y="512064"/>
                    <a:pt x="2791968" y="512064"/>
                  </a:cubicBezTo>
                  <a:cubicBezTo>
                    <a:pt x="1250061" y="512064"/>
                    <a:pt x="0" y="397510"/>
                    <a:pt x="0" y="256032"/>
                  </a:cubicBezTo>
                  <a:close/>
                </a:path>
              </a:pathLst>
            </a:custGeom>
            <a:solidFill>
              <a:srgbClr val="00C9B1">
                <a:alpha val="8627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17845" cy="545846"/>
            </a:xfrm>
            <a:custGeom>
              <a:avLst/>
              <a:gdLst/>
              <a:ahLst/>
              <a:cxnLst/>
              <a:rect r="r" b="b" t="t" l="l"/>
              <a:pathLst>
                <a:path h="545846" w="5617845">
                  <a:moveTo>
                    <a:pt x="0" y="272923"/>
                  </a:moveTo>
                  <a:lnTo>
                    <a:pt x="16891" y="272923"/>
                  </a:lnTo>
                  <a:lnTo>
                    <a:pt x="0" y="272923"/>
                  </a:lnTo>
                  <a:cubicBezTo>
                    <a:pt x="0" y="109220"/>
                    <a:pt x="1285367" y="0"/>
                    <a:pt x="2808859" y="0"/>
                  </a:cubicBezTo>
                  <a:cubicBezTo>
                    <a:pt x="4332351" y="0"/>
                    <a:pt x="5617845" y="109220"/>
                    <a:pt x="5617845" y="272923"/>
                  </a:cubicBezTo>
                  <a:lnTo>
                    <a:pt x="5600954" y="272923"/>
                  </a:lnTo>
                  <a:lnTo>
                    <a:pt x="5617845" y="272923"/>
                  </a:lnTo>
                  <a:cubicBezTo>
                    <a:pt x="5617845" y="436753"/>
                    <a:pt x="4332478" y="545846"/>
                    <a:pt x="2808986" y="545846"/>
                  </a:cubicBezTo>
                  <a:lnTo>
                    <a:pt x="2808986" y="528955"/>
                  </a:lnTo>
                  <a:lnTo>
                    <a:pt x="2808986" y="545846"/>
                  </a:lnTo>
                  <a:cubicBezTo>
                    <a:pt x="1285367" y="545973"/>
                    <a:pt x="0" y="436753"/>
                    <a:pt x="0" y="272923"/>
                  </a:cubicBezTo>
                  <a:lnTo>
                    <a:pt x="16891" y="272923"/>
                  </a:lnTo>
                  <a:lnTo>
                    <a:pt x="33909" y="272923"/>
                  </a:lnTo>
                  <a:lnTo>
                    <a:pt x="16891" y="272923"/>
                  </a:lnTo>
                  <a:lnTo>
                    <a:pt x="0" y="272923"/>
                  </a:lnTo>
                  <a:moveTo>
                    <a:pt x="33909" y="272923"/>
                  </a:moveTo>
                  <a:cubicBezTo>
                    <a:pt x="33909" y="282321"/>
                    <a:pt x="26289" y="289814"/>
                    <a:pt x="17018" y="289814"/>
                  </a:cubicBezTo>
                  <a:cubicBezTo>
                    <a:pt x="7747" y="289814"/>
                    <a:pt x="0" y="282321"/>
                    <a:pt x="0" y="272923"/>
                  </a:cubicBezTo>
                  <a:cubicBezTo>
                    <a:pt x="0" y="263525"/>
                    <a:pt x="7620" y="256032"/>
                    <a:pt x="16891" y="256032"/>
                  </a:cubicBezTo>
                  <a:cubicBezTo>
                    <a:pt x="26162" y="256032"/>
                    <a:pt x="33782" y="263652"/>
                    <a:pt x="33782" y="272923"/>
                  </a:cubicBezTo>
                  <a:cubicBezTo>
                    <a:pt x="33782" y="391922"/>
                    <a:pt x="1248410" y="512064"/>
                    <a:pt x="2808859" y="512064"/>
                  </a:cubicBezTo>
                  <a:cubicBezTo>
                    <a:pt x="4369308" y="512064"/>
                    <a:pt x="5583936" y="391922"/>
                    <a:pt x="5583936" y="272923"/>
                  </a:cubicBezTo>
                  <a:cubicBezTo>
                    <a:pt x="5583936" y="153924"/>
                    <a:pt x="4369308" y="33782"/>
                    <a:pt x="2808859" y="33782"/>
                  </a:cubicBezTo>
                  <a:lnTo>
                    <a:pt x="2808859" y="16891"/>
                  </a:lnTo>
                  <a:lnTo>
                    <a:pt x="2808859" y="33909"/>
                  </a:lnTo>
                  <a:cubicBezTo>
                    <a:pt x="1248537" y="33909"/>
                    <a:pt x="33909" y="153924"/>
                    <a:pt x="33909" y="272923"/>
                  </a:cubicBezTo>
                  <a:close/>
                </a:path>
              </a:pathLst>
            </a:custGeom>
            <a:solidFill>
              <a:srgbClr val="00C9B1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8551" y="4614167"/>
            <a:ext cx="4048763" cy="409451"/>
            <a:chOff x="0" y="0"/>
            <a:chExt cx="5398351" cy="5459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256032"/>
                  </a:moveTo>
                  <a:cubicBezTo>
                    <a:pt x="0" y="114681"/>
                    <a:pt x="1200912" y="0"/>
                    <a:pt x="2682240" y="0"/>
                  </a:cubicBezTo>
                  <a:cubicBezTo>
                    <a:pt x="4163568" y="0"/>
                    <a:pt x="5364480" y="114681"/>
                    <a:pt x="5364480" y="256032"/>
                  </a:cubicBezTo>
                  <a:cubicBezTo>
                    <a:pt x="5364480" y="397383"/>
                    <a:pt x="4163568" y="512064"/>
                    <a:pt x="2682240" y="512064"/>
                  </a:cubicBezTo>
                  <a:cubicBezTo>
                    <a:pt x="1200912" y="512064"/>
                    <a:pt x="0" y="397510"/>
                    <a:pt x="0" y="256032"/>
                  </a:cubicBezTo>
                  <a:close/>
                </a:path>
              </a:pathLst>
            </a:custGeom>
            <a:solidFill>
              <a:srgbClr val="00C9B1">
                <a:alpha val="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8262" cy="545846"/>
            </a:xfrm>
            <a:custGeom>
              <a:avLst/>
              <a:gdLst/>
              <a:ahLst/>
              <a:cxnLst/>
              <a:rect r="r" b="b" t="t" l="l"/>
              <a:pathLst>
                <a:path h="545846" w="5398262">
                  <a:moveTo>
                    <a:pt x="0" y="272923"/>
                  </a:moveTo>
                  <a:lnTo>
                    <a:pt x="16891" y="272923"/>
                  </a:lnTo>
                  <a:lnTo>
                    <a:pt x="0" y="272923"/>
                  </a:lnTo>
                  <a:cubicBezTo>
                    <a:pt x="0" y="109220"/>
                    <a:pt x="1236091" y="0"/>
                    <a:pt x="2699131" y="0"/>
                  </a:cubicBezTo>
                  <a:cubicBezTo>
                    <a:pt x="4162171" y="0"/>
                    <a:pt x="5398262" y="109220"/>
                    <a:pt x="5398262" y="272923"/>
                  </a:cubicBezTo>
                  <a:lnTo>
                    <a:pt x="5381371" y="272923"/>
                  </a:lnTo>
                  <a:lnTo>
                    <a:pt x="5398262" y="272923"/>
                  </a:lnTo>
                  <a:cubicBezTo>
                    <a:pt x="5398262" y="436753"/>
                    <a:pt x="4162171" y="545846"/>
                    <a:pt x="2699131" y="545846"/>
                  </a:cubicBezTo>
                  <a:lnTo>
                    <a:pt x="2699131" y="528955"/>
                  </a:lnTo>
                  <a:lnTo>
                    <a:pt x="2699131" y="545846"/>
                  </a:lnTo>
                  <a:cubicBezTo>
                    <a:pt x="1236091" y="545973"/>
                    <a:pt x="0" y="436753"/>
                    <a:pt x="0" y="272923"/>
                  </a:cubicBezTo>
                  <a:lnTo>
                    <a:pt x="16891" y="272923"/>
                  </a:lnTo>
                  <a:lnTo>
                    <a:pt x="33909" y="272923"/>
                  </a:lnTo>
                  <a:lnTo>
                    <a:pt x="16891" y="272923"/>
                  </a:lnTo>
                  <a:lnTo>
                    <a:pt x="0" y="272923"/>
                  </a:lnTo>
                  <a:moveTo>
                    <a:pt x="33909" y="272923"/>
                  </a:moveTo>
                  <a:cubicBezTo>
                    <a:pt x="33909" y="282321"/>
                    <a:pt x="26289" y="289814"/>
                    <a:pt x="17018" y="289814"/>
                  </a:cubicBezTo>
                  <a:cubicBezTo>
                    <a:pt x="7747" y="289814"/>
                    <a:pt x="0" y="282321"/>
                    <a:pt x="0" y="272923"/>
                  </a:cubicBezTo>
                  <a:cubicBezTo>
                    <a:pt x="0" y="263525"/>
                    <a:pt x="7620" y="256032"/>
                    <a:pt x="16891" y="256032"/>
                  </a:cubicBezTo>
                  <a:cubicBezTo>
                    <a:pt x="26162" y="256032"/>
                    <a:pt x="33782" y="263652"/>
                    <a:pt x="33782" y="272923"/>
                  </a:cubicBezTo>
                  <a:cubicBezTo>
                    <a:pt x="33782" y="391922"/>
                    <a:pt x="1199388" y="512064"/>
                    <a:pt x="2699131" y="512064"/>
                  </a:cubicBezTo>
                  <a:cubicBezTo>
                    <a:pt x="4198747" y="512064"/>
                    <a:pt x="5364480" y="392049"/>
                    <a:pt x="5364480" y="272923"/>
                  </a:cubicBezTo>
                  <a:cubicBezTo>
                    <a:pt x="5364480" y="153924"/>
                    <a:pt x="4198874" y="33782"/>
                    <a:pt x="2699131" y="33782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199515" y="33909"/>
                    <a:pt x="33909" y="153924"/>
                    <a:pt x="33909" y="272923"/>
                  </a:cubicBezTo>
                  <a:close/>
                </a:path>
              </a:pathLst>
            </a:custGeom>
            <a:solidFill>
              <a:srgbClr val="00C9B1">
                <a:alpha val="48627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40615" y="5272535"/>
            <a:ext cx="3884171" cy="409451"/>
            <a:chOff x="0" y="0"/>
            <a:chExt cx="5178895" cy="5459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145024" cy="512064"/>
            </a:xfrm>
            <a:custGeom>
              <a:avLst/>
              <a:gdLst/>
              <a:ahLst/>
              <a:cxnLst/>
              <a:rect r="r" b="b" t="t" l="l"/>
              <a:pathLst>
                <a:path h="512064" w="5145024">
                  <a:moveTo>
                    <a:pt x="0" y="256032"/>
                  </a:moveTo>
                  <a:cubicBezTo>
                    <a:pt x="0" y="114681"/>
                    <a:pt x="1151763" y="0"/>
                    <a:pt x="2572512" y="0"/>
                  </a:cubicBezTo>
                  <a:cubicBezTo>
                    <a:pt x="3993261" y="0"/>
                    <a:pt x="5145024" y="114681"/>
                    <a:pt x="5145024" y="256032"/>
                  </a:cubicBezTo>
                  <a:cubicBezTo>
                    <a:pt x="5145024" y="397383"/>
                    <a:pt x="3993261" y="512064"/>
                    <a:pt x="2572512" y="512064"/>
                  </a:cubicBezTo>
                  <a:cubicBezTo>
                    <a:pt x="1151763" y="512064"/>
                    <a:pt x="0" y="397510"/>
                    <a:pt x="0" y="256032"/>
                  </a:cubicBezTo>
                  <a:close/>
                </a:path>
              </a:pathLst>
            </a:custGeom>
            <a:solidFill>
              <a:srgbClr val="00C9B1">
                <a:alpha val="8627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78933" cy="545846"/>
            </a:xfrm>
            <a:custGeom>
              <a:avLst/>
              <a:gdLst/>
              <a:ahLst/>
              <a:cxnLst/>
              <a:rect r="r" b="b" t="t" l="l"/>
              <a:pathLst>
                <a:path h="545846" w="5178933">
                  <a:moveTo>
                    <a:pt x="0" y="272923"/>
                  </a:moveTo>
                  <a:lnTo>
                    <a:pt x="16891" y="272923"/>
                  </a:lnTo>
                  <a:lnTo>
                    <a:pt x="0" y="272923"/>
                  </a:lnTo>
                  <a:cubicBezTo>
                    <a:pt x="0" y="109220"/>
                    <a:pt x="1186815" y="0"/>
                    <a:pt x="2589403" y="0"/>
                  </a:cubicBezTo>
                  <a:cubicBezTo>
                    <a:pt x="3991991" y="0"/>
                    <a:pt x="5178933" y="109220"/>
                    <a:pt x="5178933" y="272923"/>
                  </a:cubicBezTo>
                  <a:lnTo>
                    <a:pt x="5162042" y="272923"/>
                  </a:lnTo>
                  <a:lnTo>
                    <a:pt x="5178933" y="272923"/>
                  </a:lnTo>
                  <a:cubicBezTo>
                    <a:pt x="5178933" y="436626"/>
                    <a:pt x="3992118" y="545846"/>
                    <a:pt x="2589530" y="545846"/>
                  </a:cubicBezTo>
                  <a:lnTo>
                    <a:pt x="2589530" y="528955"/>
                  </a:lnTo>
                  <a:lnTo>
                    <a:pt x="2589530" y="545846"/>
                  </a:lnTo>
                  <a:cubicBezTo>
                    <a:pt x="1186815" y="545973"/>
                    <a:pt x="0" y="436753"/>
                    <a:pt x="0" y="272923"/>
                  </a:cubicBezTo>
                  <a:lnTo>
                    <a:pt x="16891" y="272923"/>
                  </a:lnTo>
                  <a:lnTo>
                    <a:pt x="33909" y="272923"/>
                  </a:lnTo>
                  <a:lnTo>
                    <a:pt x="16891" y="272923"/>
                  </a:lnTo>
                  <a:lnTo>
                    <a:pt x="0" y="272923"/>
                  </a:lnTo>
                  <a:moveTo>
                    <a:pt x="33909" y="272923"/>
                  </a:moveTo>
                  <a:cubicBezTo>
                    <a:pt x="33909" y="282321"/>
                    <a:pt x="26289" y="289814"/>
                    <a:pt x="17018" y="289814"/>
                  </a:cubicBezTo>
                  <a:cubicBezTo>
                    <a:pt x="7747" y="289814"/>
                    <a:pt x="0" y="282321"/>
                    <a:pt x="0" y="272923"/>
                  </a:cubicBezTo>
                  <a:cubicBezTo>
                    <a:pt x="0" y="263525"/>
                    <a:pt x="7620" y="256032"/>
                    <a:pt x="16891" y="256032"/>
                  </a:cubicBezTo>
                  <a:cubicBezTo>
                    <a:pt x="26162" y="256032"/>
                    <a:pt x="33782" y="263652"/>
                    <a:pt x="33782" y="272923"/>
                  </a:cubicBezTo>
                  <a:cubicBezTo>
                    <a:pt x="33782" y="391922"/>
                    <a:pt x="1150493" y="512064"/>
                    <a:pt x="2589403" y="512064"/>
                  </a:cubicBezTo>
                  <a:cubicBezTo>
                    <a:pt x="4028313" y="512064"/>
                    <a:pt x="5145024" y="392049"/>
                    <a:pt x="5145024" y="272923"/>
                  </a:cubicBezTo>
                  <a:cubicBezTo>
                    <a:pt x="5145024" y="153924"/>
                    <a:pt x="4028313" y="33782"/>
                    <a:pt x="2589403" y="33782"/>
                  </a:cubicBezTo>
                  <a:lnTo>
                    <a:pt x="2589403" y="16891"/>
                  </a:lnTo>
                  <a:lnTo>
                    <a:pt x="2589403" y="33909"/>
                  </a:lnTo>
                  <a:cubicBezTo>
                    <a:pt x="1150620" y="33909"/>
                    <a:pt x="33909" y="153924"/>
                    <a:pt x="33909" y="272923"/>
                  </a:cubicBezTo>
                  <a:close/>
                </a:path>
              </a:pathLst>
            </a:custGeom>
            <a:solidFill>
              <a:srgbClr val="00C9B1">
                <a:alpha val="48627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8551" y="5930903"/>
            <a:ext cx="3719579" cy="409451"/>
            <a:chOff x="0" y="0"/>
            <a:chExt cx="4959439" cy="5459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925568" cy="512064"/>
            </a:xfrm>
            <a:custGeom>
              <a:avLst/>
              <a:gdLst/>
              <a:ahLst/>
              <a:cxnLst/>
              <a:rect r="r" b="b" t="t" l="l"/>
              <a:pathLst>
                <a:path h="512064" w="4925568">
                  <a:moveTo>
                    <a:pt x="0" y="256032"/>
                  </a:moveTo>
                  <a:cubicBezTo>
                    <a:pt x="0" y="114681"/>
                    <a:pt x="1102614" y="0"/>
                    <a:pt x="2462784" y="0"/>
                  </a:cubicBezTo>
                  <a:cubicBezTo>
                    <a:pt x="3822954" y="0"/>
                    <a:pt x="4925568" y="114681"/>
                    <a:pt x="4925568" y="256032"/>
                  </a:cubicBezTo>
                  <a:cubicBezTo>
                    <a:pt x="4925568" y="397383"/>
                    <a:pt x="3822954" y="512064"/>
                    <a:pt x="2462784" y="512064"/>
                  </a:cubicBezTo>
                  <a:cubicBezTo>
                    <a:pt x="1102614" y="512064"/>
                    <a:pt x="0" y="397510"/>
                    <a:pt x="0" y="256032"/>
                  </a:cubicBezTo>
                  <a:close/>
                </a:path>
              </a:pathLst>
            </a:custGeom>
            <a:solidFill>
              <a:srgbClr val="00C9B1">
                <a:alpha val="8627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59477" cy="545846"/>
            </a:xfrm>
            <a:custGeom>
              <a:avLst/>
              <a:gdLst/>
              <a:ahLst/>
              <a:cxnLst/>
              <a:rect r="r" b="b" t="t" l="l"/>
              <a:pathLst>
                <a:path h="545846" w="4959477">
                  <a:moveTo>
                    <a:pt x="0" y="272923"/>
                  </a:moveTo>
                  <a:lnTo>
                    <a:pt x="16891" y="272923"/>
                  </a:lnTo>
                  <a:lnTo>
                    <a:pt x="0" y="272923"/>
                  </a:lnTo>
                  <a:cubicBezTo>
                    <a:pt x="0" y="109220"/>
                    <a:pt x="1137412" y="0"/>
                    <a:pt x="2479675" y="0"/>
                  </a:cubicBezTo>
                  <a:cubicBezTo>
                    <a:pt x="3821938" y="0"/>
                    <a:pt x="4959477" y="109220"/>
                    <a:pt x="4959477" y="272923"/>
                  </a:cubicBezTo>
                  <a:lnTo>
                    <a:pt x="4942586" y="272923"/>
                  </a:lnTo>
                  <a:lnTo>
                    <a:pt x="4959477" y="272923"/>
                  </a:lnTo>
                  <a:cubicBezTo>
                    <a:pt x="4959477" y="436626"/>
                    <a:pt x="3822065" y="545846"/>
                    <a:pt x="2479802" y="545846"/>
                  </a:cubicBezTo>
                  <a:lnTo>
                    <a:pt x="2479802" y="528955"/>
                  </a:lnTo>
                  <a:lnTo>
                    <a:pt x="2479802" y="545846"/>
                  </a:lnTo>
                  <a:cubicBezTo>
                    <a:pt x="1137412" y="545973"/>
                    <a:pt x="0" y="436753"/>
                    <a:pt x="0" y="272923"/>
                  </a:cubicBezTo>
                  <a:lnTo>
                    <a:pt x="16891" y="272923"/>
                  </a:lnTo>
                  <a:lnTo>
                    <a:pt x="33909" y="272923"/>
                  </a:lnTo>
                  <a:lnTo>
                    <a:pt x="16891" y="272923"/>
                  </a:lnTo>
                  <a:lnTo>
                    <a:pt x="0" y="272923"/>
                  </a:lnTo>
                  <a:moveTo>
                    <a:pt x="33909" y="272923"/>
                  </a:moveTo>
                  <a:cubicBezTo>
                    <a:pt x="33909" y="282321"/>
                    <a:pt x="26289" y="289814"/>
                    <a:pt x="17018" y="289814"/>
                  </a:cubicBezTo>
                  <a:cubicBezTo>
                    <a:pt x="7747" y="289814"/>
                    <a:pt x="0" y="282321"/>
                    <a:pt x="0" y="272923"/>
                  </a:cubicBezTo>
                  <a:cubicBezTo>
                    <a:pt x="0" y="263525"/>
                    <a:pt x="7620" y="256032"/>
                    <a:pt x="16891" y="256032"/>
                  </a:cubicBezTo>
                  <a:cubicBezTo>
                    <a:pt x="26162" y="256032"/>
                    <a:pt x="33782" y="263652"/>
                    <a:pt x="33782" y="272923"/>
                  </a:cubicBezTo>
                  <a:cubicBezTo>
                    <a:pt x="33782" y="392049"/>
                    <a:pt x="1101598" y="512064"/>
                    <a:pt x="2479675" y="512064"/>
                  </a:cubicBezTo>
                  <a:cubicBezTo>
                    <a:pt x="3857752" y="512064"/>
                    <a:pt x="4925568" y="392049"/>
                    <a:pt x="4925568" y="272923"/>
                  </a:cubicBezTo>
                  <a:cubicBezTo>
                    <a:pt x="4925568" y="153797"/>
                    <a:pt x="3857752" y="33782"/>
                    <a:pt x="2479675" y="33782"/>
                  </a:cubicBezTo>
                  <a:lnTo>
                    <a:pt x="2479675" y="16891"/>
                  </a:lnTo>
                  <a:lnTo>
                    <a:pt x="2479675" y="33909"/>
                  </a:lnTo>
                  <a:cubicBezTo>
                    <a:pt x="1101598" y="33909"/>
                    <a:pt x="33909" y="153924"/>
                    <a:pt x="33909" y="272923"/>
                  </a:cubicBezTo>
                  <a:close/>
                </a:path>
              </a:pathLst>
            </a:custGeom>
            <a:solidFill>
              <a:srgbClr val="00C9B1">
                <a:alpha val="4862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12064" y="7223760"/>
            <a:ext cx="5157216" cy="768096"/>
            <a:chOff x="0" y="0"/>
            <a:chExt cx="6876288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762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687628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EEG Space: Region 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888736" y="3861311"/>
            <a:ext cx="2633472" cy="768096"/>
            <a:chOff x="0" y="0"/>
            <a:chExt cx="3511296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1129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3511296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P(X) ≠ P(X')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58919" y="4705607"/>
            <a:ext cx="2037083" cy="116843"/>
            <a:chOff x="0" y="0"/>
            <a:chExt cx="2716111" cy="155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682240" cy="121920"/>
            </a:xfrm>
            <a:custGeom>
              <a:avLst/>
              <a:gdLst/>
              <a:ahLst/>
              <a:cxnLst/>
              <a:rect r="r" b="b" t="t" l="l"/>
              <a:pathLst>
                <a:path h="1219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16022" cy="155704"/>
            </a:xfrm>
            <a:custGeom>
              <a:avLst/>
              <a:gdLst/>
              <a:ahLst/>
              <a:cxnLst/>
              <a:rect r="r" b="b" t="t" l="l"/>
              <a:pathLst>
                <a:path h="15570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38811"/>
                  </a:lnTo>
                  <a:cubicBezTo>
                    <a:pt x="2716022" y="148209"/>
                    <a:pt x="2708402" y="155702"/>
                    <a:pt x="26991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699131" y="121920"/>
                  </a:lnTo>
                  <a:lnTo>
                    <a:pt x="2699131" y="138811"/>
                  </a:lnTo>
                  <a:lnTo>
                    <a:pt x="2682240" y="13881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888736" y="4864608"/>
            <a:ext cx="2377440" cy="621792"/>
            <a:chOff x="0" y="0"/>
            <a:chExt cx="3169920" cy="829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69920" cy="829056"/>
            </a:xfrm>
            <a:custGeom>
              <a:avLst/>
              <a:gdLst/>
              <a:ahLst/>
              <a:cxnLst/>
              <a:rect r="r" b="b" t="t" l="l"/>
              <a:pathLst>
                <a:path h="8290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16992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577840" y="5559552"/>
            <a:ext cx="3035808" cy="768096"/>
            <a:chOff x="0" y="0"/>
            <a:chExt cx="4047744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047744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i="true">
                  <a:solidFill>
                    <a:srgbClr val="00C9B1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P(Y|X) ≈ P(Y|X')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22614" y="1809750"/>
            <a:ext cx="5195316" cy="7865364"/>
            <a:chOff x="0" y="0"/>
            <a:chExt cx="6927088" cy="104871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6876288" cy="10436352"/>
            </a:xfrm>
            <a:custGeom>
              <a:avLst/>
              <a:gdLst/>
              <a:ahLst/>
              <a:cxnLst/>
              <a:rect r="r" b="b" t="t" l="l"/>
              <a:pathLst>
                <a:path h="104363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436352"/>
                  </a:lnTo>
                  <a:lnTo>
                    <a:pt x="0" y="104363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27088" cy="10487152"/>
            </a:xfrm>
            <a:custGeom>
              <a:avLst/>
              <a:gdLst/>
              <a:ahLst/>
              <a:cxnLst/>
              <a:rect r="r" b="b" t="t" l="l"/>
              <a:pathLst>
                <a:path h="10487152" w="6927088">
                  <a:moveTo>
                    <a:pt x="25400" y="0"/>
                  </a:moveTo>
                  <a:lnTo>
                    <a:pt x="6901688" y="0"/>
                  </a:lnTo>
                  <a:cubicBezTo>
                    <a:pt x="6915658" y="0"/>
                    <a:pt x="6927088" y="11430"/>
                    <a:pt x="6927088" y="25400"/>
                  </a:cubicBezTo>
                  <a:lnTo>
                    <a:pt x="6927088" y="10461752"/>
                  </a:lnTo>
                  <a:cubicBezTo>
                    <a:pt x="6927088" y="10475722"/>
                    <a:pt x="6915658" y="10487152"/>
                    <a:pt x="6901688" y="10487152"/>
                  </a:cubicBezTo>
                  <a:lnTo>
                    <a:pt x="25400" y="10487152"/>
                  </a:lnTo>
                  <a:cubicBezTo>
                    <a:pt x="11430" y="10487152"/>
                    <a:pt x="0" y="10475722"/>
                    <a:pt x="0" y="1046175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461752"/>
                  </a:lnTo>
                  <a:lnTo>
                    <a:pt x="25400" y="10461752"/>
                  </a:lnTo>
                  <a:lnTo>
                    <a:pt x="25400" y="10436352"/>
                  </a:lnTo>
                  <a:lnTo>
                    <a:pt x="6901688" y="10436352"/>
                  </a:lnTo>
                  <a:lnTo>
                    <a:pt x="6901688" y="10461752"/>
                  </a:lnTo>
                  <a:lnTo>
                    <a:pt x="6876288" y="10461752"/>
                  </a:lnTo>
                  <a:lnTo>
                    <a:pt x="6876288" y="25400"/>
                  </a:lnTo>
                  <a:lnTo>
                    <a:pt x="6901688" y="25400"/>
                  </a:lnTo>
                  <a:lnTo>
                    <a:pt x="69016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741664" y="1901952"/>
            <a:ext cx="5157216" cy="694944"/>
            <a:chOff x="0" y="0"/>
            <a:chExt cx="6876288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76288" cy="926592"/>
            </a:xfrm>
            <a:custGeom>
              <a:avLst/>
              <a:gdLst/>
              <a:ahLst/>
              <a:cxnLst/>
              <a:rect r="r" b="b" t="t" l="l"/>
              <a:pathLst>
                <a:path h="92659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99" r="0" b="-945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87628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spc="400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SUBJECT 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39863" y="3297431"/>
            <a:ext cx="4268219" cy="537467"/>
            <a:chOff x="0" y="0"/>
            <a:chExt cx="5690959" cy="7166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657088" cy="682752"/>
            </a:xfrm>
            <a:custGeom>
              <a:avLst/>
              <a:gdLst/>
              <a:ahLst/>
              <a:cxnLst/>
              <a:rect r="r" b="b" t="t" l="l"/>
              <a:pathLst>
                <a:path h="682752" w="5657088">
                  <a:moveTo>
                    <a:pt x="0" y="341376"/>
                  </a:moveTo>
                  <a:cubicBezTo>
                    <a:pt x="0" y="152781"/>
                    <a:pt x="1266444" y="0"/>
                    <a:pt x="2828544" y="0"/>
                  </a:cubicBezTo>
                  <a:cubicBezTo>
                    <a:pt x="4390644" y="0"/>
                    <a:pt x="5657088" y="152908"/>
                    <a:pt x="5657088" y="341376"/>
                  </a:cubicBezTo>
                  <a:cubicBezTo>
                    <a:pt x="5657088" y="529844"/>
                    <a:pt x="4390771" y="682752"/>
                    <a:pt x="2828544" y="682752"/>
                  </a:cubicBezTo>
                  <a:cubicBezTo>
                    <a:pt x="1266317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F7043">
                <a:alpha val="7451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90997" cy="716534"/>
            </a:xfrm>
            <a:custGeom>
              <a:avLst/>
              <a:gdLst/>
              <a:ahLst/>
              <a:cxnLst/>
              <a:rect r="r" b="b" t="t" l="l"/>
              <a:pathLst>
                <a:path h="716534" w="5690997">
                  <a:moveTo>
                    <a:pt x="0" y="358267"/>
                  </a:moveTo>
                  <a:lnTo>
                    <a:pt x="16891" y="358267"/>
                  </a:lnTo>
                  <a:lnTo>
                    <a:pt x="0" y="358267"/>
                  </a:lnTo>
                  <a:cubicBezTo>
                    <a:pt x="0" y="147574"/>
                    <a:pt x="1300480" y="0"/>
                    <a:pt x="2845435" y="0"/>
                  </a:cubicBezTo>
                  <a:cubicBezTo>
                    <a:pt x="4390517" y="0"/>
                    <a:pt x="5690997" y="147574"/>
                    <a:pt x="5690997" y="358267"/>
                  </a:cubicBezTo>
                  <a:lnTo>
                    <a:pt x="5674106" y="358267"/>
                  </a:lnTo>
                  <a:lnTo>
                    <a:pt x="5690997" y="358267"/>
                  </a:lnTo>
                  <a:cubicBezTo>
                    <a:pt x="5690997" y="569087"/>
                    <a:pt x="4390517" y="716534"/>
                    <a:pt x="2845562" y="716534"/>
                  </a:cubicBezTo>
                  <a:lnTo>
                    <a:pt x="2845562" y="699643"/>
                  </a:lnTo>
                  <a:lnTo>
                    <a:pt x="2845562" y="716534"/>
                  </a:lnTo>
                  <a:cubicBezTo>
                    <a:pt x="1300480" y="716661"/>
                    <a:pt x="0" y="569087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24510"/>
                    <a:pt x="1266063" y="682752"/>
                    <a:pt x="2845435" y="682752"/>
                  </a:cubicBezTo>
                  <a:cubicBezTo>
                    <a:pt x="4424807" y="682752"/>
                    <a:pt x="5657088" y="524637"/>
                    <a:pt x="5657088" y="358267"/>
                  </a:cubicBezTo>
                  <a:cubicBezTo>
                    <a:pt x="5657088" y="192024"/>
                    <a:pt x="4424807" y="33782"/>
                    <a:pt x="2845435" y="33782"/>
                  </a:cubicBezTo>
                  <a:lnTo>
                    <a:pt x="2845435" y="16891"/>
                  </a:lnTo>
                  <a:lnTo>
                    <a:pt x="2845435" y="33909"/>
                  </a:lnTo>
                  <a:cubicBezTo>
                    <a:pt x="1266190" y="33909"/>
                    <a:pt x="33909" y="192024"/>
                    <a:pt x="33909" y="358267"/>
                  </a:cubicBezTo>
                  <a:close/>
                </a:path>
              </a:pathLst>
            </a:custGeom>
            <a:solidFill>
              <a:srgbClr val="FF7043">
                <a:alpha val="41961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95895" y="3955799"/>
            <a:ext cx="4176779" cy="537467"/>
            <a:chOff x="0" y="0"/>
            <a:chExt cx="5569039" cy="7166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535168" cy="682752"/>
            </a:xfrm>
            <a:custGeom>
              <a:avLst/>
              <a:gdLst/>
              <a:ahLst/>
              <a:cxnLst/>
              <a:rect r="r" b="b" t="t" l="l"/>
              <a:pathLst>
                <a:path h="682752" w="5535168">
                  <a:moveTo>
                    <a:pt x="0" y="341376"/>
                  </a:moveTo>
                  <a:cubicBezTo>
                    <a:pt x="0" y="152908"/>
                    <a:pt x="1239139" y="0"/>
                    <a:pt x="2767584" y="0"/>
                  </a:cubicBezTo>
                  <a:cubicBezTo>
                    <a:pt x="4296029" y="0"/>
                    <a:pt x="5535168" y="152908"/>
                    <a:pt x="5535168" y="341376"/>
                  </a:cubicBezTo>
                  <a:cubicBezTo>
                    <a:pt x="5535168" y="529844"/>
                    <a:pt x="4296156" y="682752"/>
                    <a:pt x="2767584" y="682752"/>
                  </a:cubicBezTo>
                  <a:cubicBezTo>
                    <a:pt x="1239012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F7043">
                <a:alpha val="7451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569077" cy="716534"/>
            </a:xfrm>
            <a:custGeom>
              <a:avLst/>
              <a:gdLst/>
              <a:ahLst/>
              <a:cxnLst/>
              <a:rect r="r" b="b" t="t" l="l"/>
              <a:pathLst>
                <a:path h="716534" w="5569077">
                  <a:moveTo>
                    <a:pt x="0" y="358267"/>
                  </a:moveTo>
                  <a:lnTo>
                    <a:pt x="16891" y="358267"/>
                  </a:lnTo>
                  <a:lnTo>
                    <a:pt x="0" y="358267"/>
                  </a:lnTo>
                  <a:cubicBezTo>
                    <a:pt x="0" y="147574"/>
                    <a:pt x="1273048" y="0"/>
                    <a:pt x="2784475" y="0"/>
                  </a:cubicBezTo>
                  <a:cubicBezTo>
                    <a:pt x="4295902" y="0"/>
                    <a:pt x="5569077" y="147574"/>
                    <a:pt x="5569077" y="358267"/>
                  </a:cubicBezTo>
                  <a:lnTo>
                    <a:pt x="5552186" y="358267"/>
                  </a:lnTo>
                  <a:lnTo>
                    <a:pt x="5569077" y="358267"/>
                  </a:lnTo>
                  <a:cubicBezTo>
                    <a:pt x="5569077" y="569087"/>
                    <a:pt x="4296029" y="716534"/>
                    <a:pt x="2784602" y="716534"/>
                  </a:cubicBezTo>
                  <a:lnTo>
                    <a:pt x="2784602" y="699643"/>
                  </a:lnTo>
                  <a:lnTo>
                    <a:pt x="2784602" y="716534"/>
                  </a:lnTo>
                  <a:cubicBezTo>
                    <a:pt x="1273048" y="716661"/>
                    <a:pt x="0" y="569087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24510"/>
                    <a:pt x="1238885" y="682752"/>
                    <a:pt x="2784475" y="682752"/>
                  </a:cubicBezTo>
                  <a:cubicBezTo>
                    <a:pt x="4330065" y="682752"/>
                    <a:pt x="5535168" y="524637"/>
                    <a:pt x="5535168" y="358267"/>
                  </a:cubicBezTo>
                  <a:cubicBezTo>
                    <a:pt x="5535168" y="192024"/>
                    <a:pt x="4330065" y="33782"/>
                    <a:pt x="2784475" y="33782"/>
                  </a:cubicBezTo>
                  <a:lnTo>
                    <a:pt x="2784475" y="16891"/>
                  </a:lnTo>
                  <a:lnTo>
                    <a:pt x="2784475" y="33909"/>
                  </a:lnTo>
                  <a:cubicBezTo>
                    <a:pt x="1239012" y="33909"/>
                    <a:pt x="33909" y="192024"/>
                    <a:pt x="33909" y="358267"/>
                  </a:cubicBezTo>
                  <a:close/>
                </a:path>
              </a:pathLst>
            </a:custGeom>
            <a:solidFill>
              <a:srgbClr val="FF7043">
                <a:alpha val="41961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51927" y="4614167"/>
            <a:ext cx="4085339" cy="537467"/>
            <a:chOff x="0" y="0"/>
            <a:chExt cx="5447119" cy="716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413248" cy="682752"/>
            </a:xfrm>
            <a:custGeom>
              <a:avLst/>
              <a:gdLst/>
              <a:ahLst/>
              <a:cxnLst/>
              <a:rect r="r" b="b" t="t" l="l"/>
              <a:pathLst>
                <a:path h="682752" w="5413248">
                  <a:moveTo>
                    <a:pt x="0" y="341376"/>
                  </a:moveTo>
                  <a:cubicBezTo>
                    <a:pt x="0" y="152781"/>
                    <a:pt x="1211834" y="0"/>
                    <a:pt x="2706624" y="0"/>
                  </a:cubicBezTo>
                  <a:cubicBezTo>
                    <a:pt x="4201414" y="0"/>
                    <a:pt x="5413248" y="152908"/>
                    <a:pt x="5413248" y="341376"/>
                  </a:cubicBezTo>
                  <a:cubicBezTo>
                    <a:pt x="5413248" y="529844"/>
                    <a:pt x="4201541" y="682752"/>
                    <a:pt x="2706624" y="682752"/>
                  </a:cubicBezTo>
                  <a:cubicBezTo>
                    <a:pt x="1211707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F7043">
                <a:alpha val="7451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47157" cy="716534"/>
            </a:xfrm>
            <a:custGeom>
              <a:avLst/>
              <a:gdLst/>
              <a:ahLst/>
              <a:cxnLst/>
              <a:rect r="r" b="b" t="t" l="l"/>
              <a:pathLst>
                <a:path h="716534" w="5447157">
                  <a:moveTo>
                    <a:pt x="0" y="358267"/>
                  </a:moveTo>
                  <a:lnTo>
                    <a:pt x="16891" y="358267"/>
                  </a:lnTo>
                  <a:lnTo>
                    <a:pt x="0" y="358267"/>
                  </a:lnTo>
                  <a:cubicBezTo>
                    <a:pt x="0" y="147574"/>
                    <a:pt x="1245616" y="0"/>
                    <a:pt x="2723515" y="0"/>
                  </a:cubicBezTo>
                  <a:cubicBezTo>
                    <a:pt x="4201414" y="0"/>
                    <a:pt x="5447157" y="147574"/>
                    <a:pt x="5447157" y="358267"/>
                  </a:cubicBezTo>
                  <a:lnTo>
                    <a:pt x="5430266" y="358267"/>
                  </a:lnTo>
                  <a:lnTo>
                    <a:pt x="5447157" y="358267"/>
                  </a:lnTo>
                  <a:cubicBezTo>
                    <a:pt x="5447157" y="569087"/>
                    <a:pt x="4201541" y="716534"/>
                    <a:pt x="2723642" y="716534"/>
                  </a:cubicBezTo>
                  <a:lnTo>
                    <a:pt x="2723642" y="699643"/>
                  </a:lnTo>
                  <a:lnTo>
                    <a:pt x="2723642" y="716534"/>
                  </a:lnTo>
                  <a:cubicBezTo>
                    <a:pt x="1245616" y="716661"/>
                    <a:pt x="0" y="569087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24637"/>
                    <a:pt x="1211707" y="682752"/>
                    <a:pt x="2723515" y="682752"/>
                  </a:cubicBezTo>
                  <a:cubicBezTo>
                    <a:pt x="4235323" y="682752"/>
                    <a:pt x="5413248" y="524637"/>
                    <a:pt x="5413248" y="358267"/>
                  </a:cubicBezTo>
                  <a:cubicBezTo>
                    <a:pt x="5413248" y="191897"/>
                    <a:pt x="4235323" y="33782"/>
                    <a:pt x="2723515" y="33782"/>
                  </a:cubicBezTo>
                  <a:lnTo>
                    <a:pt x="2723515" y="16891"/>
                  </a:lnTo>
                  <a:lnTo>
                    <a:pt x="2723515" y="33909"/>
                  </a:lnTo>
                  <a:cubicBezTo>
                    <a:pt x="1211834" y="33909"/>
                    <a:pt x="33909" y="192024"/>
                    <a:pt x="33909" y="358267"/>
                  </a:cubicBezTo>
                  <a:close/>
                </a:path>
              </a:pathLst>
            </a:custGeom>
            <a:solidFill>
              <a:srgbClr val="FF7043">
                <a:alpha val="41961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039863" y="5272535"/>
            <a:ext cx="3993899" cy="537467"/>
            <a:chOff x="0" y="0"/>
            <a:chExt cx="5325199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291328" cy="682752"/>
            </a:xfrm>
            <a:custGeom>
              <a:avLst/>
              <a:gdLst/>
              <a:ahLst/>
              <a:cxnLst/>
              <a:rect r="r" b="b" t="t" l="l"/>
              <a:pathLst>
                <a:path h="682752" w="5291328">
                  <a:moveTo>
                    <a:pt x="0" y="341376"/>
                  </a:moveTo>
                  <a:cubicBezTo>
                    <a:pt x="0" y="152908"/>
                    <a:pt x="1184529" y="0"/>
                    <a:pt x="2645664" y="0"/>
                  </a:cubicBezTo>
                  <a:cubicBezTo>
                    <a:pt x="4106799" y="0"/>
                    <a:pt x="5291328" y="152908"/>
                    <a:pt x="5291328" y="341376"/>
                  </a:cubicBezTo>
                  <a:cubicBezTo>
                    <a:pt x="5291328" y="529844"/>
                    <a:pt x="4106926" y="682752"/>
                    <a:pt x="2645664" y="682752"/>
                  </a:cubicBezTo>
                  <a:cubicBezTo>
                    <a:pt x="1184402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F7043">
                <a:alpha val="7451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25237" cy="716534"/>
            </a:xfrm>
            <a:custGeom>
              <a:avLst/>
              <a:gdLst/>
              <a:ahLst/>
              <a:cxnLst/>
              <a:rect r="r" b="b" t="t" l="l"/>
              <a:pathLst>
                <a:path h="716534" w="5325237">
                  <a:moveTo>
                    <a:pt x="0" y="358267"/>
                  </a:moveTo>
                  <a:lnTo>
                    <a:pt x="16891" y="358267"/>
                  </a:lnTo>
                  <a:lnTo>
                    <a:pt x="0" y="358267"/>
                  </a:lnTo>
                  <a:cubicBezTo>
                    <a:pt x="0" y="147574"/>
                    <a:pt x="1218184" y="0"/>
                    <a:pt x="2662555" y="0"/>
                  </a:cubicBezTo>
                  <a:cubicBezTo>
                    <a:pt x="4106926" y="0"/>
                    <a:pt x="5325237" y="147574"/>
                    <a:pt x="5325237" y="358267"/>
                  </a:cubicBezTo>
                  <a:lnTo>
                    <a:pt x="5308346" y="358267"/>
                  </a:lnTo>
                  <a:lnTo>
                    <a:pt x="5325237" y="358267"/>
                  </a:lnTo>
                  <a:cubicBezTo>
                    <a:pt x="5325237" y="568960"/>
                    <a:pt x="4107053" y="716534"/>
                    <a:pt x="2662682" y="716534"/>
                  </a:cubicBezTo>
                  <a:lnTo>
                    <a:pt x="2662682" y="699643"/>
                  </a:lnTo>
                  <a:lnTo>
                    <a:pt x="2662682" y="716534"/>
                  </a:lnTo>
                  <a:cubicBezTo>
                    <a:pt x="1218184" y="716661"/>
                    <a:pt x="0" y="569087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24637"/>
                    <a:pt x="1184529" y="682752"/>
                    <a:pt x="2662555" y="682752"/>
                  </a:cubicBezTo>
                  <a:cubicBezTo>
                    <a:pt x="4140454" y="682752"/>
                    <a:pt x="5291328" y="524637"/>
                    <a:pt x="5291328" y="358267"/>
                  </a:cubicBezTo>
                  <a:cubicBezTo>
                    <a:pt x="5291328" y="191897"/>
                    <a:pt x="4140581" y="33782"/>
                    <a:pt x="2662555" y="33782"/>
                  </a:cubicBezTo>
                  <a:lnTo>
                    <a:pt x="2662555" y="16891"/>
                  </a:lnTo>
                  <a:lnTo>
                    <a:pt x="2662555" y="33909"/>
                  </a:lnTo>
                  <a:cubicBezTo>
                    <a:pt x="1184656" y="33909"/>
                    <a:pt x="33909" y="192024"/>
                    <a:pt x="33909" y="358267"/>
                  </a:cubicBezTo>
                  <a:close/>
                </a:path>
              </a:pathLst>
            </a:custGeom>
            <a:solidFill>
              <a:srgbClr val="FF7043">
                <a:alpha val="4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95895" y="5930903"/>
            <a:ext cx="3902459" cy="537467"/>
            <a:chOff x="0" y="0"/>
            <a:chExt cx="5203279" cy="7166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169408" cy="682752"/>
            </a:xfrm>
            <a:custGeom>
              <a:avLst/>
              <a:gdLst/>
              <a:ahLst/>
              <a:cxnLst/>
              <a:rect r="r" b="b" t="t" l="l"/>
              <a:pathLst>
                <a:path h="682752" w="5169408">
                  <a:moveTo>
                    <a:pt x="0" y="341376"/>
                  </a:moveTo>
                  <a:cubicBezTo>
                    <a:pt x="0" y="152781"/>
                    <a:pt x="1157224" y="0"/>
                    <a:pt x="2584704" y="0"/>
                  </a:cubicBezTo>
                  <a:cubicBezTo>
                    <a:pt x="4012184" y="0"/>
                    <a:pt x="5169408" y="152908"/>
                    <a:pt x="5169408" y="341376"/>
                  </a:cubicBezTo>
                  <a:cubicBezTo>
                    <a:pt x="5169408" y="529844"/>
                    <a:pt x="4012184" y="682752"/>
                    <a:pt x="2584704" y="682752"/>
                  </a:cubicBezTo>
                  <a:cubicBezTo>
                    <a:pt x="1157224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F7043">
                <a:alpha val="7451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03317" cy="716534"/>
            </a:xfrm>
            <a:custGeom>
              <a:avLst/>
              <a:gdLst/>
              <a:ahLst/>
              <a:cxnLst/>
              <a:rect r="r" b="b" t="t" l="l"/>
              <a:pathLst>
                <a:path h="716534" w="5203317">
                  <a:moveTo>
                    <a:pt x="0" y="358267"/>
                  </a:moveTo>
                  <a:lnTo>
                    <a:pt x="16891" y="358267"/>
                  </a:lnTo>
                  <a:lnTo>
                    <a:pt x="0" y="358267"/>
                  </a:lnTo>
                  <a:cubicBezTo>
                    <a:pt x="0" y="147574"/>
                    <a:pt x="1190752" y="0"/>
                    <a:pt x="2601595" y="0"/>
                  </a:cubicBezTo>
                  <a:cubicBezTo>
                    <a:pt x="4012438" y="0"/>
                    <a:pt x="5203317" y="147574"/>
                    <a:pt x="5203317" y="358267"/>
                  </a:cubicBezTo>
                  <a:lnTo>
                    <a:pt x="5186426" y="358267"/>
                  </a:lnTo>
                  <a:lnTo>
                    <a:pt x="5203317" y="358267"/>
                  </a:lnTo>
                  <a:cubicBezTo>
                    <a:pt x="5203317" y="568960"/>
                    <a:pt x="4012565" y="716534"/>
                    <a:pt x="2601722" y="716534"/>
                  </a:cubicBezTo>
                  <a:lnTo>
                    <a:pt x="2601722" y="699643"/>
                  </a:lnTo>
                  <a:lnTo>
                    <a:pt x="2601722" y="716534"/>
                  </a:lnTo>
                  <a:cubicBezTo>
                    <a:pt x="1190752" y="716661"/>
                    <a:pt x="0" y="569087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24637"/>
                    <a:pt x="1157351" y="682752"/>
                    <a:pt x="2601595" y="682752"/>
                  </a:cubicBezTo>
                  <a:cubicBezTo>
                    <a:pt x="4045712" y="682752"/>
                    <a:pt x="5169408" y="524637"/>
                    <a:pt x="5169408" y="358267"/>
                  </a:cubicBezTo>
                  <a:cubicBezTo>
                    <a:pt x="5169408" y="191897"/>
                    <a:pt x="4045839" y="33782"/>
                    <a:pt x="2601595" y="33782"/>
                  </a:cubicBezTo>
                  <a:lnTo>
                    <a:pt x="2601595" y="16891"/>
                  </a:lnTo>
                  <a:lnTo>
                    <a:pt x="2601595" y="33909"/>
                  </a:lnTo>
                  <a:cubicBezTo>
                    <a:pt x="1157478" y="33909"/>
                    <a:pt x="33909" y="192024"/>
                    <a:pt x="33909" y="358267"/>
                  </a:cubicBezTo>
                  <a:close/>
                </a:path>
              </a:pathLst>
            </a:custGeom>
            <a:solidFill>
              <a:srgbClr val="FF7043">
                <a:alpha val="4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741664" y="7223760"/>
            <a:ext cx="5157216" cy="768096"/>
            <a:chOff x="0" y="0"/>
            <a:chExt cx="6876288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762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687628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EEG Space: Region B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209014" y="1809750"/>
            <a:ext cx="3695700" cy="7865364"/>
            <a:chOff x="0" y="0"/>
            <a:chExt cx="4927600" cy="104871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5400" y="25400"/>
              <a:ext cx="4876800" cy="10436352"/>
            </a:xfrm>
            <a:custGeom>
              <a:avLst/>
              <a:gdLst/>
              <a:ahLst/>
              <a:cxnLst/>
              <a:rect r="r" b="b" t="t" l="l"/>
              <a:pathLst>
                <a:path h="104363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436352"/>
                  </a:lnTo>
                  <a:lnTo>
                    <a:pt x="0" y="104363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27600" cy="10487152"/>
            </a:xfrm>
            <a:custGeom>
              <a:avLst/>
              <a:gdLst/>
              <a:ahLst/>
              <a:cxnLst/>
              <a:rect r="r" b="b" t="t" l="l"/>
              <a:pathLst>
                <a:path h="10487152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10461752"/>
                  </a:lnTo>
                  <a:cubicBezTo>
                    <a:pt x="4927600" y="10475722"/>
                    <a:pt x="4916170" y="10487152"/>
                    <a:pt x="4902200" y="10487152"/>
                  </a:cubicBezTo>
                  <a:lnTo>
                    <a:pt x="25400" y="10487152"/>
                  </a:lnTo>
                  <a:cubicBezTo>
                    <a:pt x="11430" y="10487152"/>
                    <a:pt x="0" y="10475722"/>
                    <a:pt x="0" y="1046175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461752"/>
                  </a:lnTo>
                  <a:lnTo>
                    <a:pt x="25400" y="10461752"/>
                  </a:lnTo>
                  <a:lnTo>
                    <a:pt x="25400" y="10436352"/>
                  </a:lnTo>
                  <a:lnTo>
                    <a:pt x="4902200" y="10436352"/>
                  </a:lnTo>
                  <a:lnTo>
                    <a:pt x="4902200" y="10461752"/>
                  </a:lnTo>
                  <a:lnTo>
                    <a:pt x="4876800" y="10461752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228064" y="1975104"/>
            <a:ext cx="3657600" cy="694944"/>
            <a:chOff x="0" y="0"/>
            <a:chExt cx="487680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Root Causes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391894" y="2870454"/>
            <a:ext cx="3366516" cy="1537716"/>
            <a:chOff x="0" y="0"/>
            <a:chExt cx="4488688" cy="205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25400"/>
              <a:ext cx="44378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88688" cy="2050288"/>
            </a:xfrm>
            <a:custGeom>
              <a:avLst/>
              <a:gdLst/>
              <a:ahLst/>
              <a:cxnLst/>
              <a:rect r="r" b="b" t="t" l="l"/>
              <a:pathLst>
                <a:path h="2050288" w="4488688">
                  <a:moveTo>
                    <a:pt x="25400" y="0"/>
                  </a:moveTo>
                  <a:lnTo>
                    <a:pt x="4463288" y="0"/>
                  </a:lnTo>
                  <a:cubicBezTo>
                    <a:pt x="4477258" y="0"/>
                    <a:pt x="4488688" y="11430"/>
                    <a:pt x="4488688" y="25400"/>
                  </a:cubicBezTo>
                  <a:lnTo>
                    <a:pt x="4488688" y="2024888"/>
                  </a:lnTo>
                  <a:cubicBezTo>
                    <a:pt x="4488688" y="2038858"/>
                    <a:pt x="4477258" y="2050288"/>
                    <a:pt x="4463288" y="2050288"/>
                  </a:cubicBezTo>
                  <a:lnTo>
                    <a:pt x="25400" y="2050288"/>
                  </a:lnTo>
                  <a:cubicBezTo>
                    <a:pt x="11430" y="2050288"/>
                    <a:pt x="0" y="2038858"/>
                    <a:pt x="0" y="20248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24888"/>
                  </a:lnTo>
                  <a:lnTo>
                    <a:pt x="25400" y="2024888"/>
                  </a:lnTo>
                  <a:lnTo>
                    <a:pt x="25400" y="1999488"/>
                  </a:lnTo>
                  <a:lnTo>
                    <a:pt x="4463288" y="1999488"/>
                  </a:lnTo>
                  <a:lnTo>
                    <a:pt x="4463288" y="2024888"/>
                  </a:lnTo>
                  <a:lnTo>
                    <a:pt x="4437888" y="2024888"/>
                  </a:lnTo>
                  <a:lnTo>
                    <a:pt x="4437888" y="25400"/>
                  </a:lnTo>
                  <a:lnTo>
                    <a:pt x="4463288" y="25400"/>
                  </a:lnTo>
                  <a:lnTo>
                    <a:pt x="44632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>
                <a:alpha val="35686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410944" y="2889504"/>
            <a:ext cx="3328416" cy="1499616"/>
            <a:chOff x="0" y="0"/>
            <a:chExt cx="4437888" cy="19994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378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07" t="0" r="-7807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437888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Neuroanatomical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Diversity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91894" y="4662678"/>
            <a:ext cx="3366516" cy="1537716"/>
            <a:chOff x="0" y="0"/>
            <a:chExt cx="4488688" cy="205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5400" y="25400"/>
              <a:ext cx="44378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488688" cy="2050288"/>
            </a:xfrm>
            <a:custGeom>
              <a:avLst/>
              <a:gdLst/>
              <a:ahLst/>
              <a:cxnLst/>
              <a:rect r="r" b="b" t="t" l="l"/>
              <a:pathLst>
                <a:path h="2050288" w="4488688">
                  <a:moveTo>
                    <a:pt x="25400" y="0"/>
                  </a:moveTo>
                  <a:lnTo>
                    <a:pt x="4463288" y="0"/>
                  </a:lnTo>
                  <a:cubicBezTo>
                    <a:pt x="4477258" y="0"/>
                    <a:pt x="4488688" y="11430"/>
                    <a:pt x="4488688" y="25400"/>
                  </a:cubicBezTo>
                  <a:lnTo>
                    <a:pt x="4488688" y="2024888"/>
                  </a:lnTo>
                  <a:cubicBezTo>
                    <a:pt x="4488688" y="2038858"/>
                    <a:pt x="4477258" y="2050288"/>
                    <a:pt x="4463288" y="2050288"/>
                  </a:cubicBezTo>
                  <a:lnTo>
                    <a:pt x="25400" y="2050288"/>
                  </a:lnTo>
                  <a:cubicBezTo>
                    <a:pt x="11430" y="2050288"/>
                    <a:pt x="0" y="2038858"/>
                    <a:pt x="0" y="20248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24888"/>
                  </a:lnTo>
                  <a:lnTo>
                    <a:pt x="25400" y="2024888"/>
                  </a:lnTo>
                  <a:lnTo>
                    <a:pt x="25400" y="1999488"/>
                  </a:lnTo>
                  <a:lnTo>
                    <a:pt x="4463288" y="1999488"/>
                  </a:lnTo>
                  <a:lnTo>
                    <a:pt x="4463288" y="2024888"/>
                  </a:lnTo>
                  <a:lnTo>
                    <a:pt x="4437888" y="2024888"/>
                  </a:lnTo>
                  <a:lnTo>
                    <a:pt x="4437888" y="25400"/>
                  </a:lnTo>
                  <a:lnTo>
                    <a:pt x="4463288" y="25400"/>
                  </a:lnTo>
                  <a:lnTo>
                    <a:pt x="44632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>
                <a:alpha val="35686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410944" y="4681728"/>
            <a:ext cx="3328416" cy="1499616"/>
            <a:chOff x="0" y="0"/>
            <a:chExt cx="4437888" cy="19994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378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07" t="0" r="-7807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437888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Affective Style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Heterogeneity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391894" y="6454902"/>
            <a:ext cx="3366516" cy="1537716"/>
            <a:chOff x="0" y="0"/>
            <a:chExt cx="4488688" cy="205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25400" y="25400"/>
              <a:ext cx="44378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488688" cy="2050288"/>
            </a:xfrm>
            <a:custGeom>
              <a:avLst/>
              <a:gdLst/>
              <a:ahLst/>
              <a:cxnLst/>
              <a:rect r="r" b="b" t="t" l="l"/>
              <a:pathLst>
                <a:path h="2050288" w="4488688">
                  <a:moveTo>
                    <a:pt x="25400" y="0"/>
                  </a:moveTo>
                  <a:lnTo>
                    <a:pt x="4463288" y="0"/>
                  </a:lnTo>
                  <a:cubicBezTo>
                    <a:pt x="4477258" y="0"/>
                    <a:pt x="4488688" y="11430"/>
                    <a:pt x="4488688" y="25400"/>
                  </a:cubicBezTo>
                  <a:lnTo>
                    <a:pt x="4488688" y="2024888"/>
                  </a:lnTo>
                  <a:cubicBezTo>
                    <a:pt x="4488688" y="2038858"/>
                    <a:pt x="4477258" y="2050288"/>
                    <a:pt x="4463288" y="2050288"/>
                  </a:cubicBezTo>
                  <a:lnTo>
                    <a:pt x="25400" y="2050288"/>
                  </a:lnTo>
                  <a:cubicBezTo>
                    <a:pt x="11430" y="2050288"/>
                    <a:pt x="0" y="2038858"/>
                    <a:pt x="0" y="202488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24888"/>
                  </a:lnTo>
                  <a:lnTo>
                    <a:pt x="25400" y="2024888"/>
                  </a:lnTo>
                  <a:lnTo>
                    <a:pt x="25400" y="1999488"/>
                  </a:lnTo>
                  <a:lnTo>
                    <a:pt x="4463288" y="1999488"/>
                  </a:lnTo>
                  <a:lnTo>
                    <a:pt x="4463288" y="2024888"/>
                  </a:lnTo>
                  <a:lnTo>
                    <a:pt x="4437888" y="2024888"/>
                  </a:lnTo>
                  <a:lnTo>
                    <a:pt x="4437888" y="25400"/>
                  </a:lnTo>
                  <a:lnTo>
                    <a:pt x="4463288" y="25400"/>
                  </a:lnTo>
                  <a:lnTo>
                    <a:pt x="446328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>
                <a:alpha val="35686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410944" y="6473952"/>
            <a:ext cx="3328416" cy="1499616"/>
            <a:chOff x="0" y="0"/>
            <a:chExt cx="4437888" cy="19994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4378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07" t="0" r="-7807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437888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EEG Non-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Stationarity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Existing Work Falls Short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8774" y="4906669"/>
            <a:ext cx="7799386" cy="4896461"/>
            <a:chOff x="0" y="0"/>
            <a:chExt cx="10399181" cy="6528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955" y="40702"/>
              <a:ext cx="10375271" cy="6447210"/>
            </a:xfrm>
            <a:custGeom>
              <a:avLst/>
              <a:gdLst/>
              <a:ahLst/>
              <a:cxnLst/>
              <a:rect r="r" b="b" t="t" l="l"/>
              <a:pathLst>
                <a:path h="6447210" w="10375271">
                  <a:moveTo>
                    <a:pt x="0" y="0"/>
                  </a:moveTo>
                  <a:lnTo>
                    <a:pt x="10375271" y="0"/>
                  </a:lnTo>
                  <a:lnTo>
                    <a:pt x="10375271" y="6447211"/>
                  </a:lnTo>
                  <a:lnTo>
                    <a:pt x="0" y="6447211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99182" cy="6528615"/>
            </a:xfrm>
            <a:custGeom>
              <a:avLst/>
              <a:gdLst/>
              <a:ahLst/>
              <a:cxnLst/>
              <a:rect r="r" b="b" t="t" l="l"/>
              <a:pathLst>
                <a:path h="6528615" w="10399182">
                  <a:moveTo>
                    <a:pt x="11955" y="0"/>
                  </a:moveTo>
                  <a:lnTo>
                    <a:pt x="10387226" y="0"/>
                  </a:lnTo>
                  <a:cubicBezTo>
                    <a:pt x="10393801" y="0"/>
                    <a:pt x="10399182" y="18316"/>
                    <a:pt x="10399182" y="40702"/>
                  </a:cubicBezTo>
                  <a:lnTo>
                    <a:pt x="10399182" y="6487913"/>
                  </a:lnTo>
                  <a:cubicBezTo>
                    <a:pt x="10399182" y="6510299"/>
                    <a:pt x="10393801" y="6528615"/>
                    <a:pt x="10387226" y="6528615"/>
                  </a:cubicBezTo>
                  <a:lnTo>
                    <a:pt x="11955" y="6528615"/>
                  </a:lnTo>
                  <a:cubicBezTo>
                    <a:pt x="5380" y="6528615"/>
                    <a:pt x="0" y="6510299"/>
                    <a:pt x="0" y="6487913"/>
                  </a:cubicBezTo>
                  <a:lnTo>
                    <a:pt x="0" y="40702"/>
                  </a:lnTo>
                  <a:cubicBezTo>
                    <a:pt x="0" y="18316"/>
                    <a:pt x="5380" y="0"/>
                    <a:pt x="11955" y="0"/>
                  </a:cubicBezTo>
                  <a:moveTo>
                    <a:pt x="11955" y="81404"/>
                  </a:moveTo>
                  <a:lnTo>
                    <a:pt x="11955" y="40702"/>
                  </a:lnTo>
                  <a:lnTo>
                    <a:pt x="23911" y="40702"/>
                  </a:lnTo>
                  <a:lnTo>
                    <a:pt x="23911" y="6487913"/>
                  </a:lnTo>
                  <a:lnTo>
                    <a:pt x="11955" y="6487913"/>
                  </a:lnTo>
                  <a:lnTo>
                    <a:pt x="11955" y="6447210"/>
                  </a:lnTo>
                  <a:lnTo>
                    <a:pt x="10387226" y="6447210"/>
                  </a:lnTo>
                  <a:lnTo>
                    <a:pt x="10387226" y="6487913"/>
                  </a:lnTo>
                  <a:lnTo>
                    <a:pt x="10375271" y="6487913"/>
                  </a:lnTo>
                  <a:lnTo>
                    <a:pt x="10375271" y="40702"/>
                  </a:lnTo>
                  <a:lnTo>
                    <a:pt x="10387226" y="40702"/>
                  </a:lnTo>
                  <a:lnTo>
                    <a:pt x="10387226" y="81404"/>
                  </a:lnTo>
                  <a:lnTo>
                    <a:pt x="11955" y="81404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9507" y="5143500"/>
            <a:ext cx="6217920" cy="694944"/>
            <a:chOff x="0" y="0"/>
            <a:chExt cx="829056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90560" cy="926592"/>
            </a:xfrm>
            <a:custGeom>
              <a:avLst/>
              <a:gdLst/>
              <a:ahLst/>
              <a:cxnLst/>
              <a:rect r="r" b="b" t="t" l="l"/>
              <a:pathLst>
                <a:path h="92659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339" r="0" b="-12433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2905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Subject-Dep. Ceiling: ~86%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65075" y="6027041"/>
            <a:ext cx="3986784" cy="725934"/>
            <a:chOff x="0" y="0"/>
            <a:chExt cx="5315712" cy="9679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02521" y="787737"/>
              <a:ext cx="4910671" cy="180175"/>
              <a:chOff x="0" y="0"/>
              <a:chExt cx="4910671" cy="1801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6891" y="16891"/>
                <a:ext cx="4876800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FF7043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91058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163195"/>
                    </a:lnTo>
                    <a:cubicBezTo>
                      <a:pt x="4910582" y="172593"/>
                      <a:pt x="4902962" y="180086"/>
                      <a:pt x="4893691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4893691" y="146304"/>
                    </a:lnTo>
                    <a:lnTo>
                      <a:pt x="4893691" y="163195"/>
                    </a:lnTo>
                    <a:lnTo>
                      <a:pt x="4876800" y="163195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7043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5315712" cy="877824"/>
              <a:chOff x="0" y="0"/>
              <a:chExt cx="5315712" cy="87782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315712" cy="877824"/>
              </a:xfrm>
              <a:custGeom>
                <a:avLst/>
                <a:gdLst/>
                <a:ahLst/>
                <a:cxnLst/>
                <a:rect r="r" b="b" t="t" l="l"/>
                <a:pathLst>
                  <a:path h="877824" w="5315712">
                    <a:moveTo>
                      <a:pt x="0" y="0"/>
                    </a:moveTo>
                    <a:lnTo>
                      <a:pt x="5315712" y="0"/>
                    </a:lnTo>
                    <a:lnTo>
                      <a:pt x="5315712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7992" r="0" b="-67992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5315712" cy="93497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704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~30 pp GAP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379862" y="7272212"/>
            <a:ext cx="6757210" cy="866198"/>
            <a:chOff x="0" y="0"/>
            <a:chExt cx="9009614" cy="11549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09614" cy="1154931"/>
            </a:xfrm>
            <a:custGeom>
              <a:avLst/>
              <a:gdLst/>
              <a:ahLst/>
              <a:cxnLst/>
              <a:rect r="r" b="b" t="t" l="l"/>
              <a:pathLst>
                <a:path h="1154931" w="9009614">
                  <a:moveTo>
                    <a:pt x="0" y="0"/>
                  </a:moveTo>
                  <a:lnTo>
                    <a:pt x="9009614" y="0"/>
                  </a:lnTo>
                  <a:lnTo>
                    <a:pt x="9009614" y="1154931"/>
                  </a:lnTo>
                  <a:lnTo>
                    <a:pt x="0" y="1154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187" r="21513" b="-594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009614" cy="1202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LOSO Floors: ~56% (DEAP)  /  ~36% (SEED-IV 4-class)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4815" y="8157656"/>
            <a:ext cx="7067304" cy="1316736"/>
            <a:chOff x="0" y="0"/>
            <a:chExt cx="9423072" cy="1755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23072" cy="1755648"/>
            </a:xfrm>
            <a:custGeom>
              <a:avLst/>
              <a:gdLst/>
              <a:ahLst/>
              <a:cxnLst/>
              <a:rect r="r" b="b" t="t" l="l"/>
              <a:pathLst>
                <a:path h="1755648" w="9423072">
                  <a:moveTo>
                    <a:pt x="0" y="0"/>
                  </a:moveTo>
                  <a:lnTo>
                    <a:pt x="9423072" y="0"/>
                  </a:lnTo>
                  <a:lnTo>
                    <a:pt x="942307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444" r="-125129" b="-18544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423072" cy="1812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Our work establishes the first open-source dual-dataset LOSO baseline — practical zero-calibration deployment floors.</a:t>
              </a:r>
            </a:p>
          </p:txBody>
        </p:sp>
      </p:grpSp>
      <p:graphicFrame>
        <p:nvGraphicFramePr>
          <p:cNvPr name="Object 27" id="27"/>
          <p:cNvGraphicFramePr/>
          <p:nvPr/>
        </p:nvGraphicFramePr>
        <p:xfrm>
          <a:off x="858774" y="1512322"/>
          <a:ext cx="7543800" cy="2514600"/>
        </p:xfrm>
        <a:graphic>
          <a:graphicData uri="http://schemas.openxmlformats.org/presentationml/2006/ole">
            <p:oleObj imgW="9042400" imgH="4013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8" id="28"/>
          <p:cNvGraphicFramePr/>
          <p:nvPr/>
        </p:nvGraphicFramePr>
        <p:xfrm>
          <a:off x="9006459" y="4906669"/>
          <a:ext cx="3771900" cy="3771900"/>
        </p:xfrm>
        <a:graphic>
          <a:graphicData uri="http://schemas.openxmlformats.org/presentationml/2006/ole">
            <p:oleObj imgW="45212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Key Innovation: Three-Level Domain Alignment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0134" y="1956054"/>
            <a:ext cx="2817876" cy="7170420"/>
            <a:chOff x="0" y="0"/>
            <a:chExt cx="3757168" cy="9560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3706368" cy="9509760"/>
            </a:xfrm>
            <a:custGeom>
              <a:avLst/>
              <a:gdLst/>
              <a:ahLst/>
              <a:cxnLst/>
              <a:rect r="r" b="b" t="t" l="l"/>
              <a:pathLst>
                <a:path h="950976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7168" cy="9560560"/>
            </a:xfrm>
            <a:custGeom>
              <a:avLst/>
              <a:gdLst/>
              <a:ahLst/>
              <a:cxnLst/>
              <a:rect r="r" b="b" t="t" l="l"/>
              <a:pathLst>
                <a:path h="9560560" w="3757168">
                  <a:moveTo>
                    <a:pt x="25400" y="0"/>
                  </a:moveTo>
                  <a:lnTo>
                    <a:pt x="3731768" y="0"/>
                  </a:lnTo>
                  <a:cubicBezTo>
                    <a:pt x="3745738" y="0"/>
                    <a:pt x="3757168" y="11430"/>
                    <a:pt x="3757168" y="25400"/>
                  </a:cubicBezTo>
                  <a:lnTo>
                    <a:pt x="3757168" y="9535160"/>
                  </a:lnTo>
                  <a:cubicBezTo>
                    <a:pt x="3757168" y="9549130"/>
                    <a:pt x="3745738" y="9560560"/>
                    <a:pt x="3731768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3731768" y="9509760"/>
                  </a:lnTo>
                  <a:lnTo>
                    <a:pt x="3731768" y="9535160"/>
                  </a:lnTo>
                  <a:lnTo>
                    <a:pt x="3706368" y="9535160"/>
                  </a:lnTo>
                  <a:lnTo>
                    <a:pt x="3706368" y="25400"/>
                  </a:lnTo>
                  <a:lnTo>
                    <a:pt x="3731768" y="25400"/>
                  </a:lnTo>
                  <a:lnTo>
                    <a:pt x="373176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>
                <a:alpha val="19608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9184" y="3657600"/>
            <a:ext cx="2779776" cy="1645920"/>
            <a:chOff x="0" y="0"/>
            <a:chExt cx="3706368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06368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969" t="0" r="-259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706368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</a:t>
              </a:r>
            </a:p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EEG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9184" y="5486400"/>
            <a:ext cx="2779776" cy="1280160"/>
            <a:chOff x="0" y="0"/>
            <a:chExt cx="3706368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06368" cy="1706880"/>
            </a:xfrm>
            <a:custGeom>
              <a:avLst/>
              <a:gdLst/>
              <a:ahLst/>
              <a:cxnLst/>
              <a:rect r="r" b="b" t="t" l="l"/>
              <a:pathLst>
                <a:path h="170688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87" t="0" r="-908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706368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 ch / 62 ch</a:t>
              </a:r>
            </a:p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128–200 Hz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55670" y="1956054"/>
            <a:ext cx="4024884" cy="7170420"/>
            <a:chOff x="0" y="0"/>
            <a:chExt cx="5366512" cy="9560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5315712" cy="9509760"/>
            </a:xfrm>
            <a:custGeom>
              <a:avLst/>
              <a:gdLst/>
              <a:ahLst/>
              <a:cxnLst/>
              <a:rect r="r" b="b" t="t" l="l"/>
              <a:pathLst>
                <a:path h="95097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66512" cy="9560560"/>
            </a:xfrm>
            <a:custGeom>
              <a:avLst/>
              <a:gdLst/>
              <a:ahLst/>
              <a:cxnLst/>
              <a:rect r="r" b="b" t="t" l="l"/>
              <a:pathLst>
                <a:path h="9560560" w="5366512">
                  <a:moveTo>
                    <a:pt x="25400" y="0"/>
                  </a:moveTo>
                  <a:lnTo>
                    <a:pt x="5341112" y="0"/>
                  </a:lnTo>
                  <a:cubicBezTo>
                    <a:pt x="5355082" y="0"/>
                    <a:pt x="5366512" y="11430"/>
                    <a:pt x="5366512" y="25400"/>
                  </a:cubicBezTo>
                  <a:lnTo>
                    <a:pt x="5366512" y="9535160"/>
                  </a:lnTo>
                  <a:cubicBezTo>
                    <a:pt x="5366512" y="9549130"/>
                    <a:pt x="5355082" y="9560560"/>
                    <a:pt x="5341112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5341112" y="9509760"/>
                  </a:lnTo>
                  <a:lnTo>
                    <a:pt x="5341112" y="9535160"/>
                  </a:lnTo>
                  <a:lnTo>
                    <a:pt x="5315712" y="9535160"/>
                  </a:lnTo>
                  <a:lnTo>
                    <a:pt x="5315712" y="25400"/>
                  </a:lnTo>
                  <a:lnTo>
                    <a:pt x="5341112" y="25400"/>
                  </a:lnTo>
                  <a:lnTo>
                    <a:pt x="534111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>
                <a:alpha val="1960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462023" y="1962407"/>
            <a:ext cx="4012187" cy="756923"/>
            <a:chOff x="0" y="0"/>
            <a:chExt cx="5349583" cy="10092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49494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992251"/>
                  </a:lnTo>
                  <a:cubicBezTo>
                    <a:pt x="5349494" y="1001649"/>
                    <a:pt x="5341874" y="1009142"/>
                    <a:pt x="533260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32603" y="975360"/>
                  </a:lnTo>
                  <a:lnTo>
                    <a:pt x="5332603" y="992251"/>
                  </a:lnTo>
                  <a:lnTo>
                    <a:pt x="5315712" y="9922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474720" y="1975104"/>
            <a:ext cx="3986784" cy="731520"/>
            <a:chOff x="0" y="0"/>
            <a:chExt cx="5315712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315712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b="true" sz="3099" spc="619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 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74720" y="2889504"/>
            <a:ext cx="3986784" cy="1316736"/>
            <a:chOff x="0" y="0"/>
            <a:chExt cx="5315712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15712" cy="1755648"/>
            </a:xfrm>
            <a:custGeom>
              <a:avLst/>
              <a:gdLst/>
              <a:ahLst/>
              <a:cxnLst/>
              <a:rect r="r" b="b" t="t" l="l"/>
              <a:pathLst>
                <a:path h="17556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6" r="0" b="-89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315712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Euclidean</a:t>
              </a:r>
            </a:p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Alignment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74720" y="4242816"/>
            <a:ext cx="3986784" cy="548640"/>
            <a:chOff x="0" y="0"/>
            <a:chExt cx="5315712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Signal Level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584448" y="4901184"/>
            <a:ext cx="3767328" cy="731520"/>
            <a:chOff x="0" y="0"/>
            <a:chExt cx="5023104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3104" cy="975360"/>
            </a:xfrm>
            <a:custGeom>
              <a:avLst/>
              <a:gdLst/>
              <a:ahLst/>
              <a:cxnLst/>
              <a:rect r="r" b="b" t="t" l="l"/>
              <a:pathLst>
                <a:path h="9753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7" r="0" b="-503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02310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D6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X̃ = R⁻¹/² X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21024" y="5779008"/>
            <a:ext cx="3694176" cy="1609344"/>
            <a:chOff x="0" y="0"/>
            <a:chExt cx="4925568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925568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Whitens covariance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identity matrix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474720" y="7717536"/>
            <a:ext cx="3986784" cy="804672"/>
            <a:chOff x="0" y="0"/>
            <a:chExt cx="5315712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157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39" r="0" b="-4653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315712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i="true">
                  <a:solidFill>
                    <a:srgbClr val="00C9B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Reduces 1st-order shift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08214" y="1956054"/>
            <a:ext cx="4024884" cy="7170420"/>
            <a:chOff x="0" y="0"/>
            <a:chExt cx="5366512" cy="9560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5315712" cy="9509760"/>
            </a:xfrm>
            <a:custGeom>
              <a:avLst/>
              <a:gdLst/>
              <a:ahLst/>
              <a:cxnLst/>
              <a:rect r="r" b="b" t="t" l="l"/>
              <a:pathLst>
                <a:path h="95097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6512" cy="9560560"/>
            </a:xfrm>
            <a:custGeom>
              <a:avLst/>
              <a:gdLst/>
              <a:ahLst/>
              <a:cxnLst/>
              <a:rect r="r" b="b" t="t" l="l"/>
              <a:pathLst>
                <a:path h="9560560" w="5366512">
                  <a:moveTo>
                    <a:pt x="25400" y="0"/>
                  </a:moveTo>
                  <a:lnTo>
                    <a:pt x="5341112" y="0"/>
                  </a:lnTo>
                  <a:cubicBezTo>
                    <a:pt x="5355082" y="0"/>
                    <a:pt x="5366512" y="11430"/>
                    <a:pt x="5366512" y="25400"/>
                  </a:cubicBezTo>
                  <a:lnTo>
                    <a:pt x="5366512" y="9535160"/>
                  </a:lnTo>
                  <a:cubicBezTo>
                    <a:pt x="5366512" y="9549130"/>
                    <a:pt x="5355082" y="9560560"/>
                    <a:pt x="5341112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5341112" y="9509760"/>
                  </a:lnTo>
                  <a:lnTo>
                    <a:pt x="5341112" y="9535160"/>
                  </a:lnTo>
                  <a:lnTo>
                    <a:pt x="5315712" y="9535160"/>
                  </a:lnTo>
                  <a:lnTo>
                    <a:pt x="5315712" y="25400"/>
                  </a:lnTo>
                  <a:lnTo>
                    <a:pt x="5341112" y="25400"/>
                  </a:lnTo>
                  <a:lnTo>
                    <a:pt x="534111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>
                <a:alpha val="19608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814567" y="1962407"/>
            <a:ext cx="4012187" cy="756923"/>
            <a:chOff x="0" y="0"/>
            <a:chExt cx="5349583" cy="10092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49494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992251"/>
                  </a:lnTo>
                  <a:cubicBezTo>
                    <a:pt x="5349494" y="1001649"/>
                    <a:pt x="5341874" y="1009142"/>
                    <a:pt x="533260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32603" y="975360"/>
                  </a:lnTo>
                  <a:lnTo>
                    <a:pt x="5332603" y="992251"/>
                  </a:lnTo>
                  <a:lnTo>
                    <a:pt x="5315712" y="9922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827264" y="1975104"/>
            <a:ext cx="3986784" cy="731520"/>
            <a:chOff x="0" y="0"/>
            <a:chExt cx="5315712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5315712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b="true" sz="3099" spc="619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 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27264" y="2889504"/>
            <a:ext cx="3986784" cy="1316736"/>
            <a:chOff x="0" y="0"/>
            <a:chExt cx="5315712" cy="17556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15712" cy="1755648"/>
            </a:xfrm>
            <a:custGeom>
              <a:avLst/>
              <a:gdLst/>
              <a:ahLst/>
              <a:cxnLst/>
              <a:rect r="r" b="b" t="t" l="l"/>
              <a:pathLst>
                <a:path h="17556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6" r="0" b="-89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5315712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CORAL</a:t>
              </a:r>
            </a:p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27264" y="4242816"/>
            <a:ext cx="3986784" cy="548640"/>
            <a:chOff x="0" y="0"/>
            <a:chExt cx="5315712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Feature Level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936992" y="4901184"/>
            <a:ext cx="3767328" cy="731520"/>
            <a:chOff x="0" y="0"/>
            <a:chExt cx="5023104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23104" cy="975360"/>
            </a:xfrm>
            <a:custGeom>
              <a:avLst/>
              <a:gdLst/>
              <a:ahLst/>
              <a:cxnLst/>
              <a:rect r="r" b="b" t="t" l="l"/>
              <a:pathLst>
                <a:path h="9753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7" r="0" b="-5034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02310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D6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‖Cs−Ct‖²F / 4d²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973568" y="5779008"/>
            <a:ext cx="3694176" cy="1609344"/>
            <a:chOff x="0" y="0"/>
            <a:chExt cx="4925568" cy="2145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4925568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Aligns 2nd-order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covariance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827264" y="7717536"/>
            <a:ext cx="3986784" cy="804672"/>
            <a:chOff x="0" y="0"/>
            <a:chExt cx="5315712" cy="1072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157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39" r="0" b="-4653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315712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i="true">
                  <a:solidFill>
                    <a:srgbClr val="7C4D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Reduces 2nd-order shift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160758" y="1956054"/>
            <a:ext cx="4024884" cy="7170420"/>
            <a:chOff x="0" y="0"/>
            <a:chExt cx="5366512" cy="9560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5315712" cy="9509760"/>
            </a:xfrm>
            <a:custGeom>
              <a:avLst/>
              <a:gdLst/>
              <a:ahLst/>
              <a:cxnLst/>
              <a:rect r="r" b="b" t="t" l="l"/>
              <a:pathLst>
                <a:path h="95097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F2040">
                <a:alpha val="19608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66512" cy="9560560"/>
            </a:xfrm>
            <a:custGeom>
              <a:avLst/>
              <a:gdLst/>
              <a:ahLst/>
              <a:cxnLst/>
              <a:rect r="r" b="b" t="t" l="l"/>
              <a:pathLst>
                <a:path h="9560560" w="5366512">
                  <a:moveTo>
                    <a:pt x="25400" y="0"/>
                  </a:moveTo>
                  <a:lnTo>
                    <a:pt x="5341112" y="0"/>
                  </a:lnTo>
                  <a:cubicBezTo>
                    <a:pt x="5355082" y="0"/>
                    <a:pt x="5366512" y="11430"/>
                    <a:pt x="5366512" y="25400"/>
                  </a:cubicBezTo>
                  <a:lnTo>
                    <a:pt x="5366512" y="9535160"/>
                  </a:lnTo>
                  <a:cubicBezTo>
                    <a:pt x="5366512" y="9549130"/>
                    <a:pt x="5355082" y="9560560"/>
                    <a:pt x="5341112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5341112" y="9509760"/>
                  </a:lnTo>
                  <a:lnTo>
                    <a:pt x="5341112" y="9535160"/>
                  </a:lnTo>
                  <a:lnTo>
                    <a:pt x="5315712" y="9535160"/>
                  </a:lnTo>
                  <a:lnTo>
                    <a:pt x="5315712" y="25400"/>
                  </a:lnTo>
                  <a:lnTo>
                    <a:pt x="5341112" y="25400"/>
                  </a:lnTo>
                  <a:lnTo>
                    <a:pt x="534111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>
                <a:alpha val="19608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167111" y="1962407"/>
            <a:ext cx="4012187" cy="756923"/>
            <a:chOff x="0" y="0"/>
            <a:chExt cx="5349583" cy="10092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49494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992251"/>
                  </a:lnTo>
                  <a:cubicBezTo>
                    <a:pt x="5349494" y="1001649"/>
                    <a:pt x="5341874" y="1009142"/>
                    <a:pt x="533260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32603" y="975360"/>
                  </a:lnTo>
                  <a:lnTo>
                    <a:pt x="5332603" y="992251"/>
                  </a:lnTo>
                  <a:lnTo>
                    <a:pt x="5315712" y="99225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179808" y="1975104"/>
            <a:ext cx="3986784" cy="731520"/>
            <a:chOff x="0" y="0"/>
            <a:chExt cx="5315712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15712" cy="975360"/>
            </a:xfrm>
            <a:custGeom>
              <a:avLst/>
              <a:gdLst/>
              <a:ahLst/>
              <a:cxnLst/>
              <a:rect r="r" b="b" t="t" l="l"/>
              <a:pathLst>
                <a:path h="97536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5315712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b="true" sz="3099" spc="619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LEVEL 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179808" y="2889504"/>
            <a:ext cx="3986784" cy="1316736"/>
            <a:chOff x="0" y="0"/>
            <a:chExt cx="5315712" cy="17556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15712" cy="1755648"/>
            </a:xfrm>
            <a:custGeom>
              <a:avLst/>
              <a:gdLst/>
              <a:ahLst/>
              <a:cxnLst/>
              <a:rect r="r" b="b" t="t" l="l"/>
              <a:pathLst>
                <a:path h="17556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6" r="0" b="-899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5315712" cy="1822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DANN</a:t>
              </a:r>
            </a:p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GRL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179808" y="4242816"/>
            <a:ext cx="3986784" cy="548640"/>
            <a:chOff x="0" y="0"/>
            <a:chExt cx="5315712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3157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Representation Level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289536" y="4901184"/>
            <a:ext cx="3767328" cy="731520"/>
            <a:chOff x="0" y="0"/>
            <a:chExt cx="5023104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023104" cy="975360"/>
            </a:xfrm>
            <a:custGeom>
              <a:avLst/>
              <a:gdLst/>
              <a:ahLst/>
              <a:cxnLst/>
              <a:rect r="r" b="b" t="t" l="l"/>
              <a:pathLst>
                <a:path h="975360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7" r="0" b="-503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02310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D6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min θ max φ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26112" y="5779008"/>
            <a:ext cx="3694176" cy="1609344"/>
            <a:chOff x="0" y="0"/>
            <a:chExt cx="4925568" cy="2145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4925568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Adversarial training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makes features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subject-invariant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179808" y="7717536"/>
            <a:ext cx="3986784" cy="804672"/>
            <a:chOff x="0" y="0"/>
            <a:chExt cx="5315712" cy="10728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3157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39" r="0" b="-4653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315712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i="true">
                  <a:solidFill>
                    <a:srgbClr val="FF704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Eliminates identity signals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096263" y="5437127"/>
            <a:ext cx="720347" cy="116843"/>
            <a:chOff x="0" y="0"/>
            <a:chExt cx="960463" cy="1557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926592" cy="121920"/>
            </a:xfrm>
            <a:custGeom>
              <a:avLst/>
              <a:gdLst/>
              <a:ahLst/>
              <a:cxnLst/>
              <a:rect r="r" b="b" t="t" l="l"/>
              <a:pathLst>
                <a:path h="1219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60374" cy="155704"/>
            </a:xfrm>
            <a:custGeom>
              <a:avLst/>
              <a:gdLst/>
              <a:ahLst/>
              <a:cxnLst/>
              <a:rect r="r" b="b" t="t" l="l"/>
              <a:pathLst>
                <a:path h="155704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138811"/>
                  </a:lnTo>
                  <a:cubicBezTo>
                    <a:pt x="960374" y="148209"/>
                    <a:pt x="952754" y="155702"/>
                    <a:pt x="94348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943483" y="121920"/>
                  </a:lnTo>
                  <a:lnTo>
                    <a:pt x="943483" y="138811"/>
                  </a:lnTo>
                  <a:lnTo>
                    <a:pt x="926592" y="13881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3718055" y="5309111"/>
            <a:ext cx="318011" cy="372875"/>
            <a:chOff x="0" y="0"/>
            <a:chExt cx="424015" cy="49716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390144" cy="463296"/>
            </a:xfrm>
            <a:custGeom>
              <a:avLst/>
              <a:gdLst/>
              <a:ahLst/>
              <a:cxnLst/>
              <a:rect r="r" b="b" t="t" l="l"/>
              <a:pathLst>
                <a:path h="463296" w="390144">
                  <a:moveTo>
                    <a:pt x="0" y="231648"/>
                  </a:moveTo>
                  <a:cubicBezTo>
                    <a:pt x="0" y="103759"/>
                    <a:pt x="87376" y="0"/>
                    <a:pt x="195072" y="0"/>
                  </a:cubicBezTo>
                  <a:cubicBezTo>
                    <a:pt x="302768" y="0"/>
                    <a:pt x="390144" y="103759"/>
                    <a:pt x="390144" y="231648"/>
                  </a:cubicBezTo>
                  <a:cubicBezTo>
                    <a:pt x="390144" y="359537"/>
                    <a:pt x="302895" y="463296"/>
                    <a:pt x="195072" y="463296"/>
                  </a:cubicBezTo>
                  <a:cubicBezTo>
                    <a:pt x="87249" y="463296"/>
                    <a:pt x="0" y="359664"/>
                    <a:pt x="0" y="231648"/>
                  </a:cubicBez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23926" cy="497078"/>
            </a:xfrm>
            <a:custGeom>
              <a:avLst/>
              <a:gdLst/>
              <a:ahLst/>
              <a:cxnLst/>
              <a:rect r="r" b="b" t="t" l="l"/>
              <a:pathLst>
                <a:path h="497078" w="423926">
                  <a:moveTo>
                    <a:pt x="0" y="248539"/>
                  </a:moveTo>
                  <a:cubicBezTo>
                    <a:pt x="0" y="114173"/>
                    <a:pt x="92329" y="0"/>
                    <a:pt x="211963" y="0"/>
                  </a:cubicBezTo>
                  <a:lnTo>
                    <a:pt x="211963" y="16891"/>
                  </a:lnTo>
                  <a:lnTo>
                    <a:pt x="211963" y="0"/>
                  </a:lnTo>
                  <a:cubicBezTo>
                    <a:pt x="331724" y="0"/>
                    <a:pt x="423926" y="114173"/>
                    <a:pt x="423926" y="248539"/>
                  </a:cubicBezTo>
                  <a:cubicBezTo>
                    <a:pt x="423926" y="383032"/>
                    <a:pt x="331597" y="497078"/>
                    <a:pt x="211963" y="497078"/>
                  </a:cubicBezTo>
                  <a:lnTo>
                    <a:pt x="211963" y="480187"/>
                  </a:lnTo>
                  <a:lnTo>
                    <a:pt x="211963" y="497078"/>
                  </a:lnTo>
                  <a:cubicBezTo>
                    <a:pt x="92329" y="497205"/>
                    <a:pt x="0" y="383032"/>
                    <a:pt x="0" y="248539"/>
                  </a:cubicBezTo>
                  <a:lnTo>
                    <a:pt x="16891" y="248539"/>
                  </a:lnTo>
                  <a:lnTo>
                    <a:pt x="31496" y="257175"/>
                  </a:lnTo>
                  <a:cubicBezTo>
                    <a:pt x="27559" y="263779"/>
                    <a:pt x="19812" y="266827"/>
                    <a:pt x="12446" y="264922"/>
                  </a:cubicBezTo>
                  <a:cubicBezTo>
                    <a:pt x="5080" y="263017"/>
                    <a:pt x="0" y="256159"/>
                    <a:pt x="0" y="248539"/>
                  </a:cubicBezTo>
                  <a:moveTo>
                    <a:pt x="33909" y="248539"/>
                  </a:moveTo>
                  <a:lnTo>
                    <a:pt x="16891" y="248539"/>
                  </a:lnTo>
                  <a:lnTo>
                    <a:pt x="2413" y="239903"/>
                  </a:lnTo>
                  <a:cubicBezTo>
                    <a:pt x="6350" y="233299"/>
                    <a:pt x="14097" y="230251"/>
                    <a:pt x="21463" y="232156"/>
                  </a:cubicBezTo>
                  <a:cubicBezTo>
                    <a:pt x="28829" y="234061"/>
                    <a:pt x="33909" y="240919"/>
                    <a:pt x="33909" y="248539"/>
                  </a:cubicBezTo>
                  <a:cubicBezTo>
                    <a:pt x="33909" y="369951"/>
                    <a:pt x="116332" y="463296"/>
                    <a:pt x="212090" y="463296"/>
                  </a:cubicBezTo>
                  <a:cubicBezTo>
                    <a:pt x="307848" y="463296"/>
                    <a:pt x="390271" y="369951"/>
                    <a:pt x="390271" y="248539"/>
                  </a:cubicBezTo>
                  <a:lnTo>
                    <a:pt x="407162" y="248539"/>
                  </a:lnTo>
                  <a:lnTo>
                    <a:pt x="390271" y="248539"/>
                  </a:lnTo>
                  <a:cubicBezTo>
                    <a:pt x="390271" y="127127"/>
                    <a:pt x="307848" y="33782"/>
                    <a:pt x="212090" y="33782"/>
                  </a:cubicBezTo>
                  <a:lnTo>
                    <a:pt x="212090" y="16891"/>
                  </a:lnTo>
                  <a:lnTo>
                    <a:pt x="212090" y="33909"/>
                  </a:lnTo>
                  <a:cubicBezTo>
                    <a:pt x="116332" y="33909"/>
                    <a:pt x="33909" y="127254"/>
                    <a:pt x="33909" y="248666"/>
                  </a:cubicBez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448807" y="5437127"/>
            <a:ext cx="720347" cy="116843"/>
            <a:chOff x="0" y="0"/>
            <a:chExt cx="960463" cy="1557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926592" cy="121920"/>
            </a:xfrm>
            <a:custGeom>
              <a:avLst/>
              <a:gdLst/>
              <a:ahLst/>
              <a:cxnLst/>
              <a:rect r="r" b="b" t="t" l="l"/>
              <a:pathLst>
                <a:path h="1219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60374" cy="155704"/>
            </a:xfrm>
            <a:custGeom>
              <a:avLst/>
              <a:gdLst/>
              <a:ahLst/>
              <a:cxnLst/>
              <a:rect r="r" b="b" t="t" l="l"/>
              <a:pathLst>
                <a:path h="155704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138811"/>
                  </a:lnTo>
                  <a:cubicBezTo>
                    <a:pt x="960374" y="148209"/>
                    <a:pt x="952754" y="155702"/>
                    <a:pt x="94348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943483" y="121920"/>
                  </a:lnTo>
                  <a:lnTo>
                    <a:pt x="943483" y="138811"/>
                  </a:lnTo>
                  <a:lnTo>
                    <a:pt x="926592" y="13881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070599" y="5309111"/>
            <a:ext cx="318011" cy="372875"/>
            <a:chOff x="0" y="0"/>
            <a:chExt cx="424015" cy="49716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390144" cy="463296"/>
            </a:xfrm>
            <a:custGeom>
              <a:avLst/>
              <a:gdLst/>
              <a:ahLst/>
              <a:cxnLst/>
              <a:rect r="r" b="b" t="t" l="l"/>
              <a:pathLst>
                <a:path h="463296" w="390144">
                  <a:moveTo>
                    <a:pt x="0" y="231648"/>
                  </a:moveTo>
                  <a:cubicBezTo>
                    <a:pt x="0" y="103759"/>
                    <a:pt x="87376" y="0"/>
                    <a:pt x="195072" y="0"/>
                  </a:cubicBezTo>
                  <a:cubicBezTo>
                    <a:pt x="302768" y="0"/>
                    <a:pt x="390144" y="103759"/>
                    <a:pt x="390144" y="231648"/>
                  </a:cubicBezTo>
                  <a:cubicBezTo>
                    <a:pt x="390144" y="359537"/>
                    <a:pt x="302895" y="463296"/>
                    <a:pt x="195072" y="463296"/>
                  </a:cubicBezTo>
                  <a:cubicBezTo>
                    <a:pt x="87249" y="463296"/>
                    <a:pt x="0" y="359664"/>
                    <a:pt x="0" y="231648"/>
                  </a:cubicBez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23926" cy="497078"/>
            </a:xfrm>
            <a:custGeom>
              <a:avLst/>
              <a:gdLst/>
              <a:ahLst/>
              <a:cxnLst/>
              <a:rect r="r" b="b" t="t" l="l"/>
              <a:pathLst>
                <a:path h="497078" w="423926">
                  <a:moveTo>
                    <a:pt x="0" y="248539"/>
                  </a:moveTo>
                  <a:cubicBezTo>
                    <a:pt x="0" y="114173"/>
                    <a:pt x="92329" y="0"/>
                    <a:pt x="211963" y="0"/>
                  </a:cubicBezTo>
                  <a:lnTo>
                    <a:pt x="211963" y="16891"/>
                  </a:lnTo>
                  <a:lnTo>
                    <a:pt x="211963" y="0"/>
                  </a:lnTo>
                  <a:cubicBezTo>
                    <a:pt x="331724" y="0"/>
                    <a:pt x="423926" y="114173"/>
                    <a:pt x="423926" y="248539"/>
                  </a:cubicBezTo>
                  <a:cubicBezTo>
                    <a:pt x="423926" y="383032"/>
                    <a:pt x="331597" y="497078"/>
                    <a:pt x="211963" y="497078"/>
                  </a:cubicBezTo>
                  <a:lnTo>
                    <a:pt x="211963" y="480187"/>
                  </a:lnTo>
                  <a:lnTo>
                    <a:pt x="211963" y="497078"/>
                  </a:lnTo>
                  <a:cubicBezTo>
                    <a:pt x="92329" y="497205"/>
                    <a:pt x="0" y="383032"/>
                    <a:pt x="0" y="248539"/>
                  </a:cubicBezTo>
                  <a:lnTo>
                    <a:pt x="16891" y="248539"/>
                  </a:lnTo>
                  <a:lnTo>
                    <a:pt x="31496" y="257175"/>
                  </a:lnTo>
                  <a:cubicBezTo>
                    <a:pt x="27559" y="263779"/>
                    <a:pt x="19812" y="266827"/>
                    <a:pt x="12446" y="264922"/>
                  </a:cubicBezTo>
                  <a:cubicBezTo>
                    <a:pt x="5080" y="263017"/>
                    <a:pt x="0" y="256159"/>
                    <a:pt x="0" y="248539"/>
                  </a:cubicBezTo>
                  <a:moveTo>
                    <a:pt x="33909" y="248539"/>
                  </a:moveTo>
                  <a:lnTo>
                    <a:pt x="16891" y="248539"/>
                  </a:lnTo>
                  <a:lnTo>
                    <a:pt x="2413" y="239903"/>
                  </a:lnTo>
                  <a:cubicBezTo>
                    <a:pt x="6350" y="233299"/>
                    <a:pt x="14097" y="230251"/>
                    <a:pt x="21463" y="232156"/>
                  </a:cubicBezTo>
                  <a:cubicBezTo>
                    <a:pt x="28829" y="234061"/>
                    <a:pt x="33909" y="240919"/>
                    <a:pt x="33909" y="248539"/>
                  </a:cubicBezTo>
                  <a:cubicBezTo>
                    <a:pt x="33909" y="369951"/>
                    <a:pt x="116332" y="463296"/>
                    <a:pt x="212090" y="463296"/>
                  </a:cubicBezTo>
                  <a:cubicBezTo>
                    <a:pt x="307848" y="463296"/>
                    <a:pt x="390271" y="369951"/>
                    <a:pt x="390271" y="248539"/>
                  </a:cubicBezTo>
                  <a:lnTo>
                    <a:pt x="407162" y="248539"/>
                  </a:lnTo>
                  <a:lnTo>
                    <a:pt x="390271" y="248539"/>
                  </a:lnTo>
                  <a:cubicBezTo>
                    <a:pt x="390271" y="127127"/>
                    <a:pt x="307848" y="33782"/>
                    <a:pt x="212090" y="33782"/>
                  </a:cubicBezTo>
                  <a:lnTo>
                    <a:pt x="212090" y="16891"/>
                  </a:lnTo>
                  <a:lnTo>
                    <a:pt x="212090" y="33909"/>
                  </a:lnTo>
                  <a:cubicBezTo>
                    <a:pt x="116332" y="33909"/>
                    <a:pt x="33909" y="127254"/>
                    <a:pt x="33909" y="248666"/>
                  </a:cubicBez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801351" y="5437127"/>
            <a:ext cx="720347" cy="116843"/>
            <a:chOff x="0" y="0"/>
            <a:chExt cx="960463" cy="1557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926592" cy="121920"/>
            </a:xfrm>
            <a:custGeom>
              <a:avLst/>
              <a:gdLst/>
              <a:ahLst/>
              <a:cxnLst/>
              <a:rect r="r" b="b" t="t" l="l"/>
              <a:pathLst>
                <a:path h="121920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60374" cy="155704"/>
            </a:xfrm>
            <a:custGeom>
              <a:avLst/>
              <a:gdLst/>
              <a:ahLst/>
              <a:cxnLst/>
              <a:rect r="r" b="b" t="t" l="l"/>
              <a:pathLst>
                <a:path h="155704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138811"/>
                  </a:lnTo>
                  <a:cubicBezTo>
                    <a:pt x="960374" y="148209"/>
                    <a:pt x="952754" y="155702"/>
                    <a:pt x="94348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943483" y="121920"/>
                  </a:lnTo>
                  <a:lnTo>
                    <a:pt x="943483" y="138811"/>
                  </a:lnTo>
                  <a:lnTo>
                    <a:pt x="926592" y="13881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423143" y="5309111"/>
            <a:ext cx="318011" cy="372875"/>
            <a:chOff x="0" y="0"/>
            <a:chExt cx="424015" cy="49716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390144" cy="463296"/>
            </a:xfrm>
            <a:custGeom>
              <a:avLst/>
              <a:gdLst/>
              <a:ahLst/>
              <a:cxnLst/>
              <a:rect r="r" b="b" t="t" l="l"/>
              <a:pathLst>
                <a:path h="463296" w="390144">
                  <a:moveTo>
                    <a:pt x="0" y="231648"/>
                  </a:moveTo>
                  <a:cubicBezTo>
                    <a:pt x="0" y="103759"/>
                    <a:pt x="87376" y="0"/>
                    <a:pt x="195072" y="0"/>
                  </a:cubicBezTo>
                  <a:cubicBezTo>
                    <a:pt x="302768" y="0"/>
                    <a:pt x="390144" y="103759"/>
                    <a:pt x="390144" y="231648"/>
                  </a:cubicBezTo>
                  <a:cubicBezTo>
                    <a:pt x="390144" y="359537"/>
                    <a:pt x="302895" y="463296"/>
                    <a:pt x="195072" y="463296"/>
                  </a:cubicBezTo>
                  <a:cubicBezTo>
                    <a:pt x="87249" y="463296"/>
                    <a:pt x="0" y="359664"/>
                    <a:pt x="0" y="231648"/>
                  </a:cubicBez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23926" cy="497078"/>
            </a:xfrm>
            <a:custGeom>
              <a:avLst/>
              <a:gdLst/>
              <a:ahLst/>
              <a:cxnLst/>
              <a:rect r="r" b="b" t="t" l="l"/>
              <a:pathLst>
                <a:path h="497078" w="423926">
                  <a:moveTo>
                    <a:pt x="0" y="248539"/>
                  </a:moveTo>
                  <a:cubicBezTo>
                    <a:pt x="0" y="114173"/>
                    <a:pt x="92329" y="0"/>
                    <a:pt x="211963" y="0"/>
                  </a:cubicBezTo>
                  <a:lnTo>
                    <a:pt x="211963" y="16891"/>
                  </a:lnTo>
                  <a:lnTo>
                    <a:pt x="211963" y="0"/>
                  </a:lnTo>
                  <a:cubicBezTo>
                    <a:pt x="331724" y="0"/>
                    <a:pt x="423926" y="114173"/>
                    <a:pt x="423926" y="248539"/>
                  </a:cubicBezTo>
                  <a:cubicBezTo>
                    <a:pt x="423926" y="383032"/>
                    <a:pt x="331597" y="497078"/>
                    <a:pt x="211963" y="497078"/>
                  </a:cubicBezTo>
                  <a:lnTo>
                    <a:pt x="211963" y="480187"/>
                  </a:lnTo>
                  <a:lnTo>
                    <a:pt x="211963" y="497078"/>
                  </a:lnTo>
                  <a:cubicBezTo>
                    <a:pt x="92329" y="497205"/>
                    <a:pt x="0" y="383032"/>
                    <a:pt x="0" y="248539"/>
                  </a:cubicBezTo>
                  <a:lnTo>
                    <a:pt x="16891" y="248539"/>
                  </a:lnTo>
                  <a:lnTo>
                    <a:pt x="31496" y="257175"/>
                  </a:lnTo>
                  <a:cubicBezTo>
                    <a:pt x="27559" y="263779"/>
                    <a:pt x="19812" y="266827"/>
                    <a:pt x="12446" y="264922"/>
                  </a:cubicBezTo>
                  <a:cubicBezTo>
                    <a:pt x="5080" y="263017"/>
                    <a:pt x="0" y="256159"/>
                    <a:pt x="0" y="248539"/>
                  </a:cubicBezTo>
                  <a:moveTo>
                    <a:pt x="33909" y="248539"/>
                  </a:moveTo>
                  <a:lnTo>
                    <a:pt x="16891" y="248539"/>
                  </a:lnTo>
                  <a:lnTo>
                    <a:pt x="2413" y="239903"/>
                  </a:lnTo>
                  <a:cubicBezTo>
                    <a:pt x="6350" y="233299"/>
                    <a:pt x="14097" y="230251"/>
                    <a:pt x="21463" y="232156"/>
                  </a:cubicBezTo>
                  <a:cubicBezTo>
                    <a:pt x="28829" y="234061"/>
                    <a:pt x="33909" y="240919"/>
                    <a:pt x="33909" y="248539"/>
                  </a:cubicBezTo>
                  <a:cubicBezTo>
                    <a:pt x="33909" y="369951"/>
                    <a:pt x="116332" y="463296"/>
                    <a:pt x="212090" y="463296"/>
                  </a:cubicBezTo>
                  <a:cubicBezTo>
                    <a:pt x="307848" y="463296"/>
                    <a:pt x="390271" y="369951"/>
                    <a:pt x="390271" y="248539"/>
                  </a:cubicBezTo>
                  <a:lnTo>
                    <a:pt x="407162" y="248539"/>
                  </a:lnTo>
                  <a:lnTo>
                    <a:pt x="390271" y="248539"/>
                  </a:lnTo>
                  <a:cubicBezTo>
                    <a:pt x="390271" y="127127"/>
                    <a:pt x="307848" y="33782"/>
                    <a:pt x="212090" y="33782"/>
                  </a:cubicBezTo>
                  <a:lnTo>
                    <a:pt x="212090" y="16891"/>
                  </a:lnTo>
                  <a:lnTo>
                    <a:pt x="212090" y="33909"/>
                  </a:lnTo>
                  <a:cubicBezTo>
                    <a:pt x="116332" y="33909"/>
                    <a:pt x="33909" y="127254"/>
                    <a:pt x="33909" y="248666"/>
                  </a:cubicBez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6409927" y="1962407"/>
            <a:ext cx="1451867" cy="7157723"/>
            <a:chOff x="0" y="0"/>
            <a:chExt cx="1935823" cy="954363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901952" cy="9509887"/>
            </a:xfrm>
            <a:custGeom>
              <a:avLst/>
              <a:gdLst/>
              <a:ahLst/>
              <a:cxnLst/>
              <a:rect r="r" b="b" t="t" l="l"/>
              <a:pathLst>
                <a:path h="9509887" w="1901952">
                  <a:moveTo>
                    <a:pt x="0" y="123698"/>
                  </a:moveTo>
                  <a:cubicBezTo>
                    <a:pt x="0" y="55372"/>
                    <a:pt x="54610" y="0"/>
                    <a:pt x="121920" y="0"/>
                  </a:cubicBezTo>
                  <a:lnTo>
                    <a:pt x="1780032" y="0"/>
                  </a:lnTo>
                  <a:cubicBezTo>
                    <a:pt x="1847342" y="0"/>
                    <a:pt x="1901952" y="55372"/>
                    <a:pt x="1901952" y="123698"/>
                  </a:cubicBezTo>
                  <a:lnTo>
                    <a:pt x="1901952" y="9386189"/>
                  </a:lnTo>
                  <a:cubicBezTo>
                    <a:pt x="1901952" y="9454515"/>
                    <a:pt x="1847342" y="9509887"/>
                    <a:pt x="1780032" y="9509887"/>
                  </a:cubicBezTo>
                  <a:lnTo>
                    <a:pt x="121920" y="9509887"/>
                  </a:lnTo>
                  <a:cubicBezTo>
                    <a:pt x="54610" y="9509887"/>
                    <a:pt x="0" y="9454515"/>
                    <a:pt x="0" y="9386189"/>
                  </a:cubicBezTo>
                  <a:close/>
                </a:path>
              </a:pathLst>
            </a:custGeom>
            <a:solidFill>
              <a:srgbClr val="001A10">
                <a:alpha val="49804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935734" cy="9543669"/>
            </a:xfrm>
            <a:custGeom>
              <a:avLst/>
              <a:gdLst/>
              <a:ahLst/>
              <a:cxnLst/>
              <a:rect r="r" b="b" t="t" l="l"/>
              <a:pathLst>
                <a:path h="9543669" w="1935734">
                  <a:moveTo>
                    <a:pt x="0" y="140589"/>
                  </a:moveTo>
                  <a:cubicBezTo>
                    <a:pt x="0" y="63119"/>
                    <a:pt x="61976" y="0"/>
                    <a:pt x="138811" y="0"/>
                  </a:cubicBezTo>
                  <a:lnTo>
                    <a:pt x="1796923" y="0"/>
                  </a:lnTo>
                  <a:lnTo>
                    <a:pt x="1796923" y="16891"/>
                  </a:lnTo>
                  <a:lnTo>
                    <a:pt x="1796923" y="0"/>
                  </a:lnTo>
                  <a:cubicBezTo>
                    <a:pt x="1873885" y="0"/>
                    <a:pt x="1935734" y="63119"/>
                    <a:pt x="1935734" y="140589"/>
                  </a:cubicBezTo>
                  <a:lnTo>
                    <a:pt x="1918843" y="140589"/>
                  </a:lnTo>
                  <a:lnTo>
                    <a:pt x="1935734" y="140589"/>
                  </a:lnTo>
                  <a:lnTo>
                    <a:pt x="1935734" y="9403080"/>
                  </a:lnTo>
                  <a:lnTo>
                    <a:pt x="1918843" y="9403080"/>
                  </a:lnTo>
                  <a:lnTo>
                    <a:pt x="1935734" y="9403080"/>
                  </a:lnTo>
                  <a:cubicBezTo>
                    <a:pt x="1935734" y="9480550"/>
                    <a:pt x="1873758" y="9543669"/>
                    <a:pt x="1796923" y="9543669"/>
                  </a:cubicBezTo>
                  <a:lnTo>
                    <a:pt x="1796923" y="9526778"/>
                  </a:lnTo>
                  <a:lnTo>
                    <a:pt x="1796923" y="9543669"/>
                  </a:lnTo>
                  <a:lnTo>
                    <a:pt x="138811" y="9543669"/>
                  </a:lnTo>
                  <a:lnTo>
                    <a:pt x="138811" y="9526778"/>
                  </a:lnTo>
                  <a:lnTo>
                    <a:pt x="138811" y="9543669"/>
                  </a:lnTo>
                  <a:cubicBezTo>
                    <a:pt x="61976" y="9543669"/>
                    <a:pt x="0" y="9480423"/>
                    <a:pt x="0" y="9403080"/>
                  </a:cubicBezTo>
                  <a:lnTo>
                    <a:pt x="0" y="140589"/>
                  </a:lnTo>
                  <a:lnTo>
                    <a:pt x="16891" y="140589"/>
                  </a:lnTo>
                  <a:lnTo>
                    <a:pt x="0" y="140589"/>
                  </a:lnTo>
                  <a:moveTo>
                    <a:pt x="33909" y="140589"/>
                  </a:moveTo>
                  <a:lnTo>
                    <a:pt x="33909" y="9403080"/>
                  </a:lnTo>
                  <a:lnTo>
                    <a:pt x="16891" y="9403080"/>
                  </a:lnTo>
                  <a:lnTo>
                    <a:pt x="33909" y="9403080"/>
                  </a:lnTo>
                  <a:cubicBezTo>
                    <a:pt x="33909" y="9462262"/>
                    <a:pt x="81153" y="9509761"/>
                    <a:pt x="138938" y="9509761"/>
                  </a:cubicBezTo>
                  <a:lnTo>
                    <a:pt x="1796923" y="9509761"/>
                  </a:lnTo>
                  <a:cubicBezTo>
                    <a:pt x="1854708" y="9509761"/>
                    <a:pt x="1901952" y="9462262"/>
                    <a:pt x="1901952" y="9403080"/>
                  </a:cubicBezTo>
                  <a:lnTo>
                    <a:pt x="1901952" y="140589"/>
                  </a:lnTo>
                  <a:cubicBezTo>
                    <a:pt x="1901952" y="81407"/>
                    <a:pt x="1854708" y="33909"/>
                    <a:pt x="1796923" y="33909"/>
                  </a:cubicBezTo>
                  <a:lnTo>
                    <a:pt x="138811" y="33909"/>
                  </a:lnTo>
                  <a:lnTo>
                    <a:pt x="138811" y="16891"/>
                  </a:lnTo>
                  <a:lnTo>
                    <a:pt x="138811" y="33909"/>
                  </a:lnTo>
                  <a:cubicBezTo>
                    <a:pt x="81026" y="33909"/>
                    <a:pt x="33782" y="81407"/>
                    <a:pt x="33782" y="140589"/>
                  </a:cubicBezTo>
                  <a:close/>
                </a:path>
              </a:pathLst>
            </a:custGeom>
            <a:solidFill>
              <a:srgbClr val="00E676">
                <a:alpha val="49804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6422624" y="4389120"/>
            <a:ext cx="1426464" cy="1828800"/>
            <a:chOff x="0" y="0"/>
            <a:chExt cx="1901952" cy="24384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90195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491" t="0" r="-114491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901952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HARL</a:t>
              </a:r>
            </a:p>
            <a:p>
              <a:pPr algn="ctr">
                <a:lnSpc>
                  <a:spcPts val="2759"/>
                </a:lnSpc>
              </a:pPr>
              <a:r>
                <a:rPr lang="en-US" sz="22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  <a:p>
              <a:pPr algn="ctr">
                <a:lnSpc>
                  <a:spcPts val="2759"/>
                </a:lnSpc>
              </a:pPr>
              <a:r>
                <a:rPr lang="en-US" sz="22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422624" y="6400800"/>
            <a:ext cx="1426464" cy="1463040"/>
            <a:chOff x="0" y="0"/>
            <a:chExt cx="1901952" cy="19507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01952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593" t="0" r="-8159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901952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SEED-IV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Architecture: Papez-Circuit Inspired BiFRCNN + D3QN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0134" y="1663446"/>
            <a:ext cx="6475476" cy="8084820"/>
            <a:chOff x="0" y="0"/>
            <a:chExt cx="8633968" cy="10779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8583168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8583168">
                  <a:moveTo>
                    <a:pt x="0" y="0"/>
                  </a:moveTo>
                  <a:lnTo>
                    <a:pt x="8583168" y="0"/>
                  </a:lnTo>
                  <a:lnTo>
                    <a:pt x="8583168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3968" cy="10779760"/>
            </a:xfrm>
            <a:custGeom>
              <a:avLst/>
              <a:gdLst/>
              <a:ahLst/>
              <a:cxnLst/>
              <a:rect r="r" b="b" t="t" l="l"/>
              <a:pathLst>
                <a:path h="10779760" w="8633968">
                  <a:moveTo>
                    <a:pt x="25400" y="0"/>
                  </a:moveTo>
                  <a:lnTo>
                    <a:pt x="8608568" y="0"/>
                  </a:lnTo>
                  <a:cubicBezTo>
                    <a:pt x="8622538" y="0"/>
                    <a:pt x="8633968" y="11430"/>
                    <a:pt x="8633968" y="25400"/>
                  </a:cubicBezTo>
                  <a:lnTo>
                    <a:pt x="8633968" y="10754360"/>
                  </a:lnTo>
                  <a:cubicBezTo>
                    <a:pt x="8633968" y="10768330"/>
                    <a:pt x="8622538" y="10779760"/>
                    <a:pt x="8608568" y="10779760"/>
                  </a:cubicBezTo>
                  <a:lnTo>
                    <a:pt x="25400" y="10779760"/>
                  </a:lnTo>
                  <a:cubicBezTo>
                    <a:pt x="11430" y="10779760"/>
                    <a:pt x="0" y="10768330"/>
                    <a:pt x="0" y="10754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754360"/>
                  </a:lnTo>
                  <a:lnTo>
                    <a:pt x="25400" y="10754360"/>
                  </a:lnTo>
                  <a:lnTo>
                    <a:pt x="25400" y="10728960"/>
                  </a:lnTo>
                  <a:lnTo>
                    <a:pt x="8608568" y="10728960"/>
                  </a:lnTo>
                  <a:lnTo>
                    <a:pt x="8608568" y="10754360"/>
                  </a:lnTo>
                  <a:lnTo>
                    <a:pt x="8583168" y="10754360"/>
                  </a:lnTo>
                  <a:lnTo>
                    <a:pt x="8583168" y="25400"/>
                  </a:lnTo>
                  <a:lnTo>
                    <a:pt x="8608568" y="25400"/>
                  </a:lnTo>
                  <a:lnTo>
                    <a:pt x="860856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9184" y="1737360"/>
            <a:ext cx="6437376" cy="694944"/>
            <a:chOff x="0" y="0"/>
            <a:chExt cx="8583168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83168" cy="926592"/>
            </a:xfrm>
            <a:custGeom>
              <a:avLst/>
              <a:gdLst/>
              <a:ahLst/>
              <a:cxnLst/>
              <a:rect r="r" b="b" t="t" l="l"/>
              <a:pathLst>
                <a:path h="926592" w="8583168">
                  <a:moveTo>
                    <a:pt x="0" y="0"/>
                  </a:moveTo>
                  <a:lnTo>
                    <a:pt x="8583168" y="0"/>
                  </a:lnTo>
                  <a:lnTo>
                    <a:pt x="85831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492" r="0" b="-1304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58316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19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ELECTRODE PARTITIONING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2519" y="2657351"/>
            <a:ext cx="171707" cy="939803"/>
            <a:chOff x="0" y="0"/>
            <a:chExt cx="228943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236091"/>
                  </a:lnTo>
                  <a:cubicBezTo>
                    <a:pt x="228854" y="1245489"/>
                    <a:pt x="221234" y="1252982"/>
                    <a:pt x="21196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11963" y="1219200"/>
                  </a:lnTo>
                  <a:lnTo>
                    <a:pt x="211963" y="1236091"/>
                  </a:lnTo>
                  <a:lnTo>
                    <a:pt x="195072" y="12360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2670048"/>
            <a:ext cx="4023360" cy="512064"/>
            <a:chOff x="0" y="0"/>
            <a:chExt cx="53644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Left Hemisphere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" y="3182112"/>
            <a:ext cx="5449824" cy="456288"/>
            <a:chOff x="0" y="0"/>
            <a:chExt cx="7266432" cy="6083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66432" cy="608384"/>
            </a:xfrm>
            <a:custGeom>
              <a:avLst/>
              <a:gdLst/>
              <a:ahLst/>
              <a:cxnLst/>
              <a:rect r="r" b="b" t="t" l="l"/>
              <a:pathLst>
                <a:path h="608384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08384"/>
                  </a:lnTo>
                  <a:lnTo>
                    <a:pt x="0" y="608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638" r="0" b="-1768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266432" cy="656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ch (DEAP) / left topographic (SEED-IV)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2519" y="3864359"/>
            <a:ext cx="171707" cy="939803"/>
            <a:chOff x="0" y="0"/>
            <a:chExt cx="228943" cy="1253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854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236091"/>
                  </a:lnTo>
                  <a:cubicBezTo>
                    <a:pt x="228854" y="1245489"/>
                    <a:pt x="221234" y="1252982"/>
                    <a:pt x="21196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11963" y="1219200"/>
                  </a:lnTo>
                  <a:lnTo>
                    <a:pt x="211963" y="1236091"/>
                  </a:lnTo>
                  <a:lnTo>
                    <a:pt x="195072" y="12360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76" y="3877056"/>
            <a:ext cx="4023360" cy="512064"/>
            <a:chOff x="0" y="0"/>
            <a:chExt cx="53644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Hemisphere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0976" y="4389120"/>
            <a:ext cx="5449824" cy="441833"/>
            <a:chOff x="0" y="0"/>
            <a:chExt cx="7266432" cy="589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66432" cy="589111"/>
            </a:xfrm>
            <a:custGeom>
              <a:avLst/>
              <a:gdLst/>
              <a:ahLst/>
              <a:cxnLst/>
              <a:rect r="r" b="b" t="t" l="l"/>
              <a:pathLst>
                <a:path h="589111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809" r="0" b="-1858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266432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ch (DEAP) / right topographic (SEED-IV)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72519" y="5071367"/>
            <a:ext cx="171707" cy="939803"/>
            <a:chOff x="0" y="0"/>
            <a:chExt cx="228943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236091"/>
                  </a:lnTo>
                  <a:cubicBezTo>
                    <a:pt x="228854" y="1245489"/>
                    <a:pt x="221234" y="1252982"/>
                    <a:pt x="21196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11963" y="1219200"/>
                  </a:lnTo>
                  <a:lnTo>
                    <a:pt x="211963" y="1236091"/>
                  </a:lnTo>
                  <a:lnTo>
                    <a:pt x="195072" y="12360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0976" y="5084064"/>
            <a:ext cx="4023360" cy="512064"/>
            <a:chOff x="0" y="0"/>
            <a:chExt cx="536448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Left Frontal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0976" y="5596128"/>
            <a:ext cx="5449824" cy="441833"/>
            <a:chOff x="0" y="0"/>
            <a:chExt cx="7266432" cy="589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66432" cy="589111"/>
            </a:xfrm>
            <a:custGeom>
              <a:avLst/>
              <a:gdLst/>
              <a:ahLst/>
              <a:cxnLst/>
              <a:rect r="r" b="b" t="t" l="l"/>
              <a:pathLst>
                <a:path h="589111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809" r="0" b="-1858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266432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ch  (AF3, F3, F7…)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2519" y="6278375"/>
            <a:ext cx="171707" cy="939803"/>
            <a:chOff x="0" y="0"/>
            <a:chExt cx="228943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854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236091"/>
                  </a:lnTo>
                  <a:cubicBezTo>
                    <a:pt x="228854" y="1245489"/>
                    <a:pt x="221234" y="1252982"/>
                    <a:pt x="21196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11963" y="1219200"/>
                  </a:lnTo>
                  <a:lnTo>
                    <a:pt x="211963" y="1236091"/>
                  </a:lnTo>
                  <a:lnTo>
                    <a:pt x="195072" y="12360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0976" y="6291072"/>
            <a:ext cx="4023360" cy="512064"/>
            <a:chOff x="0" y="0"/>
            <a:chExt cx="53644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Frontal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0976" y="6803136"/>
            <a:ext cx="5449824" cy="441833"/>
            <a:chOff x="0" y="0"/>
            <a:chExt cx="7266432" cy="5891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66432" cy="589111"/>
            </a:xfrm>
            <a:custGeom>
              <a:avLst/>
              <a:gdLst/>
              <a:ahLst/>
              <a:cxnLst/>
              <a:rect r="r" b="b" t="t" l="l"/>
              <a:pathLst>
                <a:path h="589111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809" r="0" b="-1858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266432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ch  (AF4, F4, F8…)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66166" y="7479030"/>
            <a:ext cx="5890260" cy="1427988"/>
            <a:chOff x="0" y="0"/>
            <a:chExt cx="7853680" cy="190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7802880" cy="1853184"/>
            </a:xfrm>
            <a:custGeom>
              <a:avLst/>
              <a:gdLst/>
              <a:ahLst/>
              <a:cxnLst/>
              <a:rect r="r" b="b" t="t" l="l"/>
              <a:pathLst>
                <a:path h="185318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53680" cy="1903984"/>
            </a:xfrm>
            <a:custGeom>
              <a:avLst/>
              <a:gdLst/>
              <a:ahLst/>
              <a:cxnLst/>
              <a:rect r="r" b="b" t="t" l="l"/>
              <a:pathLst>
                <a:path h="1903984" w="7853680">
                  <a:moveTo>
                    <a:pt x="25400" y="0"/>
                  </a:moveTo>
                  <a:lnTo>
                    <a:pt x="7828280" y="0"/>
                  </a:lnTo>
                  <a:cubicBezTo>
                    <a:pt x="7842250" y="0"/>
                    <a:pt x="7853680" y="11430"/>
                    <a:pt x="7853680" y="25400"/>
                  </a:cubicBezTo>
                  <a:lnTo>
                    <a:pt x="7853680" y="1878584"/>
                  </a:lnTo>
                  <a:cubicBezTo>
                    <a:pt x="7853680" y="1892554"/>
                    <a:pt x="7842250" y="1903984"/>
                    <a:pt x="7828280" y="1903984"/>
                  </a:cubicBezTo>
                  <a:lnTo>
                    <a:pt x="25400" y="1903984"/>
                  </a:lnTo>
                  <a:cubicBezTo>
                    <a:pt x="11430" y="1903984"/>
                    <a:pt x="0" y="1892554"/>
                    <a:pt x="0" y="187858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878584"/>
                  </a:lnTo>
                  <a:lnTo>
                    <a:pt x="25400" y="1878584"/>
                  </a:lnTo>
                  <a:lnTo>
                    <a:pt x="25400" y="1853184"/>
                  </a:lnTo>
                  <a:lnTo>
                    <a:pt x="7828280" y="1853184"/>
                  </a:lnTo>
                  <a:lnTo>
                    <a:pt x="7828280" y="1878584"/>
                  </a:lnTo>
                  <a:lnTo>
                    <a:pt x="7802880" y="1878584"/>
                  </a:lnTo>
                  <a:lnTo>
                    <a:pt x="7802880" y="25400"/>
                  </a:lnTo>
                  <a:lnTo>
                    <a:pt x="7828280" y="25400"/>
                  </a:lnTo>
                  <a:lnTo>
                    <a:pt x="7828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94944" y="7498080"/>
            <a:ext cx="5632704" cy="1389888"/>
            <a:chOff x="0" y="0"/>
            <a:chExt cx="7510272" cy="1853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10272" cy="1853184"/>
            </a:xfrm>
            <a:custGeom>
              <a:avLst/>
              <a:gdLst/>
              <a:ahLst/>
              <a:cxnLst/>
              <a:rect r="r" b="b" t="t" l="l"/>
              <a:pathLst>
                <a:path h="185318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510272" cy="1900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i="true">
                  <a:solidFill>
                    <a:srgbClr val="00C9B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+ SE Attention: Squeeze → Excite → Recalibrate  (r = 4)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046471" y="5400551"/>
            <a:ext cx="866651" cy="116843"/>
            <a:chOff x="0" y="0"/>
            <a:chExt cx="1155535" cy="155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21664" cy="121920"/>
            </a:xfrm>
            <a:custGeom>
              <a:avLst/>
              <a:gdLst/>
              <a:ahLst/>
              <a:cxnLst/>
              <a:rect r="r" b="b" t="t" l="l"/>
              <a:pathLst>
                <a:path h="121920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55446" cy="155704"/>
            </a:xfrm>
            <a:custGeom>
              <a:avLst/>
              <a:gdLst/>
              <a:ahLst/>
              <a:cxnLst/>
              <a:rect r="r" b="b" t="t" l="l"/>
              <a:pathLst>
                <a:path h="155704" w="1155446">
                  <a:moveTo>
                    <a:pt x="16891" y="0"/>
                  </a:moveTo>
                  <a:lnTo>
                    <a:pt x="1138555" y="0"/>
                  </a:lnTo>
                  <a:cubicBezTo>
                    <a:pt x="1147953" y="0"/>
                    <a:pt x="1155446" y="7620"/>
                    <a:pt x="1155446" y="16891"/>
                  </a:cubicBezTo>
                  <a:lnTo>
                    <a:pt x="1155446" y="138811"/>
                  </a:lnTo>
                  <a:cubicBezTo>
                    <a:pt x="1155446" y="148209"/>
                    <a:pt x="1147826" y="155702"/>
                    <a:pt x="1138555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138555" y="121920"/>
                  </a:lnTo>
                  <a:lnTo>
                    <a:pt x="1138555" y="138811"/>
                  </a:lnTo>
                  <a:lnTo>
                    <a:pt x="1121664" y="138811"/>
                  </a:lnTo>
                  <a:lnTo>
                    <a:pt x="1121664" y="16891"/>
                  </a:lnTo>
                  <a:lnTo>
                    <a:pt x="1138555" y="16891"/>
                  </a:lnTo>
                  <a:lnTo>
                    <a:pt x="11385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515606" y="1663446"/>
            <a:ext cx="4829556" cy="8084820"/>
            <a:chOff x="0" y="0"/>
            <a:chExt cx="6439408" cy="107797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6388608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39408" cy="10779760"/>
            </a:xfrm>
            <a:custGeom>
              <a:avLst/>
              <a:gdLst/>
              <a:ahLst/>
              <a:cxnLst/>
              <a:rect r="r" b="b" t="t" l="l"/>
              <a:pathLst>
                <a:path h="10779760" w="6439408">
                  <a:moveTo>
                    <a:pt x="25400" y="0"/>
                  </a:moveTo>
                  <a:lnTo>
                    <a:pt x="6414008" y="0"/>
                  </a:lnTo>
                  <a:cubicBezTo>
                    <a:pt x="6427978" y="0"/>
                    <a:pt x="6439408" y="11430"/>
                    <a:pt x="6439408" y="25400"/>
                  </a:cubicBezTo>
                  <a:lnTo>
                    <a:pt x="6439408" y="10754360"/>
                  </a:lnTo>
                  <a:cubicBezTo>
                    <a:pt x="6439408" y="10768330"/>
                    <a:pt x="6427978" y="10779760"/>
                    <a:pt x="6414008" y="10779760"/>
                  </a:cubicBezTo>
                  <a:lnTo>
                    <a:pt x="25400" y="10779760"/>
                  </a:lnTo>
                  <a:cubicBezTo>
                    <a:pt x="11430" y="10779760"/>
                    <a:pt x="0" y="10768330"/>
                    <a:pt x="0" y="10754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754360"/>
                  </a:lnTo>
                  <a:lnTo>
                    <a:pt x="25400" y="10754360"/>
                  </a:lnTo>
                  <a:lnTo>
                    <a:pt x="25400" y="10728960"/>
                  </a:lnTo>
                  <a:lnTo>
                    <a:pt x="6414008" y="10728960"/>
                  </a:lnTo>
                  <a:lnTo>
                    <a:pt x="6414008" y="10754360"/>
                  </a:lnTo>
                  <a:lnTo>
                    <a:pt x="6388608" y="10754360"/>
                  </a:lnTo>
                  <a:lnTo>
                    <a:pt x="6388608" y="25400"/>
                  </a:lnTo>
                  <a:lnTo>
                    <a:pt x="6414008" y="25400"/>
                  </a:lnTo>
                  <a:lnTo>
                    <a:pt x="64140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534656" y="1737360"/>
            <a:ext cx="4791456" cy="694944"/>
            <a:chOff x="0" y="0"/>
            <a:chExt cx="6388608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88608" cy="926592"/>
            </a:xfrm>
            <a:custGeom>
              <a:avLst/>
              <a:gdLst/>
              <a:ahLst/>
              <a:cxnLst/>
              <a:rect r="r" b="b" t="t" l="l"/>
              <a:pathLst>
                <a:path h="926592" w="6388608">
                  <a:moveTo>
                    <a:pt x="0" y="0"/>
                  </a:moveTo>
                  <a:lnTo>
                    <a:pt x="6388608" y="0"/>
                  </a:lnTo>
                  <a:lnTo>
                    <a:pt x="638860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44" r="0" b="-843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388608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19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BiFRCNN BACKBONE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741415" y="2657351"/>
            <a:ext cx="4377947" cy="1031243"/>
            <a:chOff x="0" y="0"/>
            <a:chExt cx="5837263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8033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37174" cy="1374902"/>
            </a:xfrm>
            <a:custGeom>
              <a:avLst/>
              <a:gdLst/>
              <a:ahLst/>
              <a:cxnLst/>
              <a:rect r="r" b="b" t="t" l="l"/>
              <a:pathLst>
                <a:path h="137490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358011"/>
                  </a:lnTo>
                  <a:cubicBezTo>
                    <a:pt x="5837174" y="1367409"/>
                    <a:pt x="5829554" y="1374902"/>
                    <a:pt x="582028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820283" y="1341120"/>
                  </a:lnTo>
                  <a:lnTo>
                    <a:pt x="5820283" y="1358011"/>
                  </a:lnTo>
                  <a:lnTo>
                    <a:pt x="5803392" y="135801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20000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754112" y="2706624"/>
            <a:ext cx="4352544" cy="548640"/>
            <a:chOff x="0" y="0"/>
            <a:chExt cx="5803392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803392" cy="731520"/>
            </a:xfrm>
            <a:custGeom>
              <a:avLst/>
              <a:gdLst/>
              <a:ahLst/>
              <a:cxnLst/>
              <a:rect r="r" b="b" t="t" l="l"/>
              <a:pathLst>
                <a:path h="7315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81" r="0" b="-10458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58033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Flf = [Fl ; Ffl]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754112" y="3236976"/>
            <a:ext cx="4352544" cy="402336"/>
            <a:chOff x="0" y="0"/>
            <a:chExt cx="5803392" cy="5364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803392" cy="536448"/>
            </a:xfrm>
            <a:custGeom>
              <a:avLst/>
              <a:gdLst/>
              <a:ahLst/>
              <a:cxnLst/>
              <a:rect r="r" b="b" t="t" l="l"/>
              <a:pathLst>
                <a:path h="53644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2" r="0" b="-1607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80339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Left fusion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741415" y="3864359"/>
            <a:ext cx="4377947" cy="1031243"/>
            <a:chOff x="0" y="0"/>
            <a:chExt cx="5837263" cy="13749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8033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37174" cy="1374902"/>
            </a:xfrm>
            <a:custGeom>
              <a:avLst/>
              <a:gdLst/>
              <a:ahLst/>
              <a:cxnLst/>
              <a:rect r="r" b="b" t="t" l="l"/>
              <a:pathLst>
                <a:path h="137490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358011"/>
                  </a:lnTo>
                  <a:cubicBezTo>
                    <a:pt x="5837174" y="1367409"/>
                    <a:pt x="5829554" y="1374902"/>
                    <a:pt x="582028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820283" y="1341120"/>
                  </a:lnTo>
                  <a:lnTo>
                    <a:pt x="5820283" y="1358011"/>
                  </a:lnTo>
                  <a:lnTo>
                    <a:pt x="5803392" y="135801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20000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754112" y="3913632"/>
            <a:ext cx="4352544" cy="548640"/>
            <a:chOff x="0" y="0"/>
            <a:chExt cx="5803392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03392" cy="731520"/>
            </a:xfrm>
            <a:custGeom>
              <a:avLst/>
              <a:gdLst/>
              <a:ahLst/>
              <a:cxnLst/>
              <a:rect r="r" b="b" t="t" l="l"/>
              <a:pathLst>
                <a:path h="7315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81" r="0" b="-10458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8033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Frf = [Fr ; Ffr]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754112" y="4443984"/>
            <a:ext cx="4352544" cy="402336"/>
            <a:chOff x="0" y="0"/>
            <a:chExt cx="5803392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03392" cy="536448"/>
            </a:xfrm>
            <a:custGeom>
              <a:avLst/>
              <a:gdLst/>
              <a:ahLst/>
              <a:cxnLst/>
              <a:rect r="r" b="b" t="t" l="l"/>
              <a:pathLst>
                <a:path h="53644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2" r="0" b="-16079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80339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Right fusion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741415" y="5071367"/>
            <a:ext cx="4377947" cy="1031243"/>
            <a:chOff x="0" y="0"/>
            <a:chExt cx="5837263" cy="13749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8033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37174" cy="1374902"/>
            </a:xfrm>
            <a:custGeom>
              <a:avLst/>
              <a:gdLst/>
              <a:ahLst/>
              <a:cxnLst/>
              <a:rect r="r" b="b" t="t" l="l"/>
              <a:pathLst>
                <a:path h="137490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358011"/>
                  </a:lnTo>
                  <a:cubicBezTo>
                    <a:pt x="5837174" y="1367409"/>
                    <a:pt x="5829554" y="1374902"/>
                    <a:pt x="582028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820283" y="1341120"/>
                  </a:lnTo>
                  <a:lnTo>
                    <a:pt x="5820283" y="1358011"/>
                  </a:lnTo>
                  <a:lnTo>
                    <a:pt x="5803392" y="135801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20000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754112" y="5120640"/>
            <a:ext cx="4352544" cy="548640"/>
            <a:chOff x="0" y="0"/>
            <a:chExt cx="5803392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803392" cy="731520"/>
            </a:xfrm>
            <a:custGeom>
              <a:avLst/>
              <a:gdLst/>
              <a:ahLst/>
              <a:cxnLst/>
              <a:rect r="r" b="b" t="t" l="l"/>
              <a:pathLst>
                <a:path h="7315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81" r="0" b="-10458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8033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Flr = [Flf ; Frf]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754112" y="5650992"/>
            <a:ext cx="4352544" cy="402336"/>
            <a:chOff x="0" y="0"/>
            <a:chExt cx="5803392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803392" cy="536448"/>
            </a:xfrm>
            <a:custGeom>
              <a:avLst/>
              <a:gdLst/>
              <a:ahLst/>
              <a:cxnLst/>
              <a:rect r="r" b="b" t="t" l="l"/>
              <a:pathLst>
                <a:path h="53644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2" r="0" b="-16079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580339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merge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741415" y="6278375"/>
            <a:ext cx="4377947" cy="1031243"/>
            <a:chOff x="0" y="0"/>
            <a:chExt cx="5837263" cy="137499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58033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7152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37174" cy="1374902"/>
            </a:xfrm>
            <a:custGeom>
              <a:avLst/>
              <a:gdLst/>
              <a:ahLst/>
              <a:cxnLst/>
              <a:rect r="r" b="b" t="t" l="l"/>
              <a:pathLst>
                <a:path h="137490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358011"/>
                  </a:lnTo>
                  <a:cubicBezTo>
                    <a:pt x="5837174" y="1367409"/>
                    <a:pt x="5829554" y="1374902"/>
                    <a:pt x="582028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5820283" y="1341120"/>
                  </a:lnTo>
                  <a:lnTo>
                    <a:pt x="5820283" y="1358011"/>
                  </a:lnTo>
                  <a:lnTo>
                    <a:pt x="5803392" y="135801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20000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754112" y="6327648"/>
            <a:ext cx="4352544" cy="548640"/>
            <a:chOff x="0" y="0"/>
            <a:chExt cx="5803392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803392" cy="731520"/>
            </a:xfrm>
            <a:custGeom>
              <a:avLst/>
              <a:gdLst/>
              <a:ahLst/>
              <a:cxnLst/>
              <a:rect r="r" b="b" t="t" l="l"/>
              <a:pathLst>
                <a:path h="73152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81" r="0" b="-10458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58033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FC (256) + Dropout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754112" y="6858000"/>
            <a:ext cx="4352544" cy="402336"/>
            <a:chOff x="0" y="0"/>
            <a:chExt cx="5803392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03392" cy="536448"/>
            </a:xfrm>
            <a:custGeom>
              <a:avLst/>
              <a:gdLst/>
              <a:ahLst/>
              <a:cxnLst/>
              <a:rect r="r" b="b" t="t" l="l"/>
              <a:pathLst>
                <a:path h="53644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2" r="0" b="-16079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80339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Shared head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644384" y="7644384"/>
            <a:ext cx="4572000" cy="1316736"/>
            <a:chOff x="0" y="0"/>
            <a:chExt cx="6096000" cy="17556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96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6" r="0" b="-1765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60960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D6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Features: 5 bands × 32/62 ch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313415" y="5400551"/>
            <a:ext cx="756923" cy="116843"/>
            <a:chOff x="0" y="0"/>
            <a:chExt cx="1009231" cy="1557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975360" cy="121920"/>
            </a:xfrm>
            <a:custGeom>
              <a:avLst/>
              <a:gdLst/>
              <a:ahLst/>
              <a:cxnLst/>
              <a:rect r="r" b="b" t="t" l="l"/>
              <a:pathLst>
                <a:path h="1219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09142" cy="155704"/>
            </a:xfrm>
            <a:custGeom>
              <a:avLst/>
              <a:gdLst/>
              <a:ahLst/>
              <a:cxnLst/>
              <a:rect r="r" b="b" t="t" l="l"/>
              <a:pathLst>
                <a:path h="155704" w="1009142">
                  <a:moveTo>
                    <a:pt x="16891" y="0"/>
                  </a:moveTo>
                  <a:lnTo>
                    <a:pt x="992251" y="0"/>
                  </a:lnTo>
                  <a:cubicBezTo>
                    <a:pt x="1001649" y="0"/>
                    <a:pt x="1009142" y="7620"/>
                    <a:pt x="1009142" y="16891"/>
                  </a:cubicBezTo>
                  <a:lnTo>
                    <a:pt x="1009142" y="138811"/>
                  </a:lnTo>
                  <a:cubicBezTo>
                    <a:pt x="1009142" y="148209"/>
                    <a:pt x="1001522" y="155702"/>
                    <a:pt x="99225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992251" y="121920"/>
                  </a:lnTo>
                  <a:lnTo>
                    <a:pt x="992251" y="138811"/>
                  </a:lnTo>
                  <a:lnTo>
                    <a:pt x="975360" y="138811"/>
                  </a:lnTo>
                  <a:lnTo>
                    <a:pt x="975360" y="16891"/>
                  </a:lnTo>
                  <a:lnTo>
                    <a:pt x="992251" y="16891"/>
                  </a:lnTo>
                  <a:lnTo>
                    <a:pt x="992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038582" y="1663446"/>
            <a:ext cx="4939284" cy="8084820"/>
            <a:chOff x="0" y="0"/>
            <a:chExt cx="6585712" cy="107797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25400" y="25400"/>
              <a:ext cx="6534912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585712" cy="10779760"/>
            </a:xfrm>
            <a:custGeom>
              <a:avLst/>
              <a:gdLst/>
              <a:ahLst/>
              <a:cxnLst/>
              <a:rect r="r" b="b" t="t" l="l"/>
              <a:pathLst>
                <a:path h="10779760" w="6585712">
                  <a:moveTo>
                    <a:pt x="25400" y="0"/>
                  </a:moveTo>
                  <a:lnTo>
                    <a:pt x="6560312" y="0"/>
                  </a:lnTo>
                  <a:cubicBezTo>
                    <a:pt x="6574282" y="0"/>
                    <a:pt x="6585712" y="11430"/>
                    <a:pt x="6585712" y="25400"/>
                  </a:cubicBezTo>
                  <a:lnTo>
                    <a:pt x="6585712" y="10754360"/>
                  </a:lnTo>
                  <a:cubicBezTo>
                    <a:pt x="6585712" y="10768330"/>
                    <a:pt x="6574282" y="10779760"/>
                    <a:pt x="6560312" y="10779760"/>
                  </a:cubicBezTo>
                  <a:lnTo>
                    <a:pt x="25400" y="10779760"/>
                  </a:lnTo>
                  <a:cubicBezTo>
                    <a:pt x="11430" y="10779760"/>
                    <a:pt x="0" y="10768330"/>
                    <a:pt x="0" y="10754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754360"/>
                  </a:lnTo>
                  <a:lnTo>
                    <a:pt x="25400" y="10754360"/>
                  </a:lnTo>
                  <a:lnTo>
                    <a:pt x="25400" y="10728960"/>
                  </a:lnTo>
                  <a:lnTo>
                    <a:pt x="6560312" y="10728960"/>
                  </a:lnTo>
                  <a:lnTo>
                    <a:pt x="6560312" y="10754360"/>
                  </a:lnTo>
                  <a:lnTo>
                    <a:pt x="6534912" y="10754360"/>
                  </a:lnTo>
                  <a:lnTo>
                    <a:pt x="6534912" y="25400"/>
                  </a:lnTo>
                  <a:lnTo>
                    <a:pt x="6560312" y="25400"/>
                  </a:lnTo>
                  <a:lnTo>
                    <a:pt x="656031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057632" y="1737360"/>
            <a:ext cx="4901184" cy="694944"/>
            <a:chOff x="0" y="0"/>
            <a:chExt cx="6534912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534912" cy="926592"/>
            </a:xfrm>
            <a:custGeom>
              <a:avLst/>
              <a:gdLst/>
              <a:ahLst/>
              <a:cxnLst/>
              <a:rect r="r" b="b" t="t" l="l"/>
              <a:pathLst>
                <a:path h="92659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420" r="0" b="-8742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653491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 spc="219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HEADS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258038" y="2608078"/>
            <a:ext cx="4500372" cy="2196084"/>
            <a:chOff x="0" y="0"/>
            <a:chExt cx="6000496" cy="29281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25400" y="25400"/>
              <a:ext cx="5949696" cy="2877312"/>
            </a:xfrm>
            <a:custGeom>
              <a:avLst/>
              <a:gdLst/>
              <a:ahLst/>
              <a:cxnLst/>
              <a:rect r="r" b="b" t="t" l="l"/>
              <a:pathLst>
                <a:path h="2877312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000496" cy="2928112"/>
            </a:xfrm>
            <a:custGeom>
              <a:avLst/>
              <a:gdLst/>
              <a:ahLst/>
              <a:cxnLst/>
              <a:rect r="r" b="b" t="t" l="l"/>
              <a:pathLst>
                <a:path h="2928112" w="6000496">
                  <a:moveTo>
                    <a:pt x="25400" y="0"/>
                  </a:moveTo>
                  <a:lnTo>
                    <a:pt x="5975096" y="0"/>
                  </a:lnTo>
                  <a:cubicBezTo>
                    <a:pt x="5989066" y="0"/>
                    <a:pt x="6000496" y="11430"/>
                    <a:pt x="6000496" y="25400"/>
                  </a:cubicBezTo>
                  <a:lnTo>
                    <a:pt x="6000496" y="2902712"/>
                  </a:lnTo>
                  <a:cubicBezTo>
                    <a:pt x="6000496" y="2916682"/>
                    <a:pt x="5989066" y="2928112"/>
                    <a:pt x="5975096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5975096" y="2877312"/>
                  </a:lnTo>
                  <a:lnTo>
                    <a:pt x="5975096" y="2902712"/>
                  </a:lnTo>
                  <a:lnTo>
                    <a:pt x="5949696" y="2902712"/>
                  </a:lnTo>
                  <a:lnTo>
                    <a:pt x="5949696" y="25400"/>
                  </a:lnTo>
                  <a:lnTo>
                    <a:pt x="5975096" y="25400"/>
                  </a:lnTo>
                  <a:lnTo>
                    <a:pt x="597509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277088" y="2706624"/>
            <a:ext cx="4462272" cy="548640"/>
            <a:chOff x="0" y="0"/>
            <a:chExt cx="5949696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949696" cy="731520"/>
            </a:xfrm>
            <a:custGeom>
              <a:avLst/>
              <a:gdLst/>
              <a:ahLst/>
              <a:cxnLst/>
              <a:rect r="r" b="b" t="t" l="l"/>
              <a:pathLst>
                <a:path h="731520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78" r="0" b="-10847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94969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DEAP: Dual D3QN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277088" y="3255264"/>
            <a:ext cx="4462272" cy="1170432"/>
            <a:chOff x="0" y="0"/>
            <a:chExt cx="5949696" cy="156057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949696" cy="1560576"/>
            </a:xfrm>
            <a:custGeom>
              <a:avLst/>
              <a:gdLst/>
              <a:ahLst/>
              <a:cxnLst/>
              <a:rect r="r" b="b" t="t" l="l"/>
              <a:pathLst>
                <a:path h="1560576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86" r="0" b="-2428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5949696" cy="1617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Valence head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Arousal head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258038" y="5065014"/>
            <a:ext cx="4500372" cy="2927604"/>
            <a:chOff x="0" y="0"/>
            <a:chExt cx="6000496" cy="390347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5400" y="25400"/>
              <a:ext cx="5949696" cy="3852672"/>
            </a:xfrm>
            <a:custGeom>
              <a:avLst/>
              <a:gdLst/>
              <a:ahLst/>
              <a:cxnLst/>
              <a:rect r="r" b="b" t="t" l="l"/>
              <a:pathLst>
                <a:path h="3852672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000496" cy="3903472"/>
            </a:xfrm>
            <a:custGeom>
              <a:avLst/>
              <a:gdLst/>
              <a:ahLst/>
              <a:cxnLst/>
              <a:rect r="r" b="b" t="t" l="l"/>
              <a:pathLst>
                <a:path h="3903472" w="6000496">
                  <a:moveTo>
                    <a:pt x="25400" y="0"/>
                  </a:moveTo>
                  <a:lnTo>
                    <a:pt x="5975096" y="0"/>
                  </a:lnTo>
                  <a:cubicBezTo>
                    <a:pt x="5989066" y="0"/>
                    <a:pt x="6000496" y="11430"/>
                    <a:pt x="6000496" y="25400"/>
                  </a:cubicBezTo>
                  <a:lnTo>
                    <a:pt x="6000496" y="3878072"/>
                  </a:lnTo>
                  <a:cubicBezTo>
                    <a:pt x="6000496" y="3892042"/>
                    <a:pt x="5989066" y="3903472"/>
                    <a:pt x="5975096" y="3903472"/>
                  </a:cubicBezTo>
                  <a:lnTo>
                    <a:pt x="25400" y="3903472"/>
                  </a:lnTo>
                  <a:cubicBezTo>
                    <a:pt x="11430" y="3903472"/>
                    <a:pt x="0" y="3892042"/>
                    <a:pt x="0" y="387807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878072"/>
                  </a:lnTo>
                  <a:lnTo>
                    <a:pt x="25400" y="3878072"/>
                  </a:lnTo>
                  <a:lnTo>
                    <a:pt x="25400" y="3852672"/>
                  </a:lnTo>
                  <a:lnTo>
                    <a:pt x="5975096" y="3852672"/>
                  </a:lnTo>
                  <a:lnTo>
                    <a:pt x="5975096" y="3878072"/>
                  </a:lnTo>
                  <a:lnTo>
                    <a:pt x="5949696" y="3878072"/>
                  </a:lnTo>
                  <a:lnTo>
                    <a:pt x="5949696" y="25400"/>
                  </a:lnTo>
                  <a:lnTo>
                    <a:pt x="5975096" y="25400"/>
                  </a:lnTo>
                  <a:lnTo>
                    <a:pt x="597509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277088" y="5157216"/>
            <a:ext cx="4462272" cy="548640"/>
            <a:chOff x="0" y="0"/>
            <a:chExt cx="5949696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949696" cy="731520"/>
            </a:xfrm>
            <a:custGeom>
              <a:avLst/>
              <a:gdLst/>
              <a:ahLst/>
              <a:cxnLst/>
              <a:rect r="r" b="b" t="t" l="l"/>
              <a:pathLst>
                <a:path h="731520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78" r="0" b="-10847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594969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SEED-IV: HARL-EEG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277088" y="5742432"/>
            <a:ext cx="4462272" cy="1828800"/>
            <a:chOff x="0" y="0"/>
            <a:chExt cx="5949696" cy="24384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949696" cy="2438400"/>
            </a:xfrm>
            <a:custGeom>
              <a:avLst/>
              <a:gdLst/>
              <a:ahLst/>
              <a:cxnLst/>
              <a:rect r="r" b="b" t="t" l="l"/>
              <a:pathLst>
                <a:path h="2438400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3" t="0" r="-2583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5949696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PPO actor π_ψ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Per-sample weights w</a:t>
              </a:r>
            </a:p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4-class D3QN head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258038" y="8100822"/>
            <a:ext cx="4500372" cy="1354836"/>
            <a:chOff x="0" y="0"/>
            <a:chExt cx="6000496" cy="180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25400" y="25400"/>
              <a:ext cx="5949696" cy="1755648"/>
            </a:xfrm>
            <a:custGeom>
              <a:avLst/>
              <a:gdLst/>
              <a:ahLst/>
              <a:cxnLst/>
              <a:rect r="r" b="b" t="t" l="l"/>
              <a:pathLst>
                <a:path h="1755648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2002A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000496" cy="1806448"/>
            </a:xfrm>
            <a:custGeom>
              <a:avLst/>
              <a:gdLst/>
              <a:ahLst/>
              <a:cxnLst/>
              <a:rect r="r" b="b" t="t" l="l"/>
              <a:pathLst>
                <a:path h="1806448" w="6000496">
                  <a:moveTo>
                    <a:pt x="25400" y="0"/>
                  </a:moveTo>
                  <a:lnTo>
                    <a:pt x="5975096" y="0"/>
                  </a:lnTo>
                  <a:cubicBezTo>
                    <a:pt x="5989066" y="0"/>
                    <a:pt x="6000496" y="11430"/>
                    <a:pt x="6000496" y="25400"/>
                  </a:cubicBezTo>
                  <a:lnTo>
                    <a:pt x="6000496" y="1781048"/>
                  </a:lnTo>
                  <a:cubicBezTo>
                    <a:pt x="6000496" y="1795018"/>
                    <a:pt x="5989066" y="1806448"/>
                    <a:pt x="5975096" y="1806448"/>
                  </a:cubicBezTo>
                  <a:lnTo>
                    <a:pt x="25400" y="1806448"/>
                  </a:lnTo>
                  <a:cubicBezTo>
                    <a:pt x="11430" y="1806448"/>
                    <a:pt x="0" y="1795018"/>
                    <a:pt x="0" y="1781048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81048"/>
                  </a:lnTo>
                  <a:lnTo>
                    <a:pt x="25400" y="1781048"/>
                  </a:lnTo>
                  <a:lnTo>
                    <a:pt x="25400" y="1755648"/>
                  </a:lnTo>
                  <a:lnTo>
                    <a:pt x="5975096" y="1755648"/>
                  </a:lnTo>
                  <a:lnTo>
                    <a:pt x="5975096" y="1781048"/>
                  </a:lnTo>
                  <a:lnTo>
                    <a:pt x="5949696" y="1781048"/>
                  </a:lnTo>
                  <a:lnTo>
                    <a:pt x="5949696" y="25400"/>
                  </a:lnTo>
                  <a:lnTo>
                    <a:pt x="5975096" y="25400"/>
                  </a:lnTo>
                  <a:lnTo>
                    <a:pt x="597509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258038" y="8100822"/>
            <a:ext cx="4462272" cy="1316736"/>
            <a:chOff x="0" y="0"/>
            <a:chExt cx="5949696" cy="17556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949696" cy="1755648"/>
            </a:xfrm>
            <a:custGeom>
              <a:avLst/>
              <a:gdLst/>
              <a:ahLst/>
              <a:cxnLst/>
              <a:rect r="r" b="b" t="t" l="l"/>
              <a:pathLst>
                <a:path h="1755648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32" r="0" b="-1603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5949696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4DFF"/>
                  </a:solidFill>
                  <a:latin typeface="Consolas"/>
                  <a:ea typeface="Consolas"/>
                  <a:cs typeface="Consolas"/>
                  <a:sym typeface="Consolas"/>
                </a:rPr>
                <a:t>Reward: +1 / −1 − λt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4DFF"/>
                  </a:solidFill>
                  <a:latin typeface="Consolas"/>
                  <a:ea typeface="Consolas"/>
                  <a:cs typeface="Consolas"/>
                  <a:sym typeface="Consolas"/>
                </a:rPr>
                <a:t>(Dopamine analog)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NEW: HARL-EEG — Hierarchical Adaptive Reinforcement Learning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663446"/>
            <a:ext cx="6438900" cy="8194548"/>
            <a:chOff x="0" y="0"/>
            <a:chExt cx="8585200" cy="10926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8534400" cy="10875264"/>
            </a:xfrm>
            <a:custGeom>
              <a:avLst/>
              <a:gdLst/>
              <a:ahLst/>
              <a:cxnLst/>
              <a:rect r="r" b="b" t="t" l="l"/>
              <a:pathLst>
                <a:path h="1087526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875264"/>
                  </a:lnTo>
                  <a:lnTo>
                    <a:pt x="0" y="1087526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85200" cy="10926064"/>
            </a:xfrm>
            <a:custGeom>
              <a:avLst/>
              <a:gdLst/>
              <a:ahLst/>
              <a:cxnLst/>
              <a:rect r="r" b="b" t="t" l="l"/>
              <a:pathLst>
                <a:path h="10926064" w="8585200">
                  <a:moveTo>
                    <a:pt x="25400" y="0"/>
                  </a:moveTo>
                  <a:lnTo>
                    <a:pt x="8559800" y="0"/>
                  </a:lnTo>
                  <a:cubicBezTo>
                    <a:pt x="8573770" y="0"/>
                    <a:pt x="8585200" y="11430"/>
                    <a:pt x="8585200" y="25400"/>
                  </a:cubicBezTo>
                  <a:lnTo>
                    <a:pt x="8585200" y="10900664"/>
                  </a:lnTo>
                  <a:cubicBezTo>
                    <a:pt x="8585200" y="10914634"/>
                    <a:pt x="8573770" y="10926064"/>
                    <a:pt x="8559800" y="10926064"/>
                  </a:cubicBezTo>
                  <a:lnTo>
                    <a:pt x="25400" y="10926064"/>
                  </a:lnTo>
                  <a:cubicBezTo>
                    <a:pt x="11430" y="10926064"/>
                    <a:pt x="0" y="10914634"/>
                    <a:pt x="0" y="1090066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900664"/>
                  </a:lnTo>
                  <a:lnTo>
                    <a:pt x="25400" y="10900664"/>
                  </a:lnTo>
                  <a:lnTo>
                    <a:pt x="25400" y="10875264"/>
                  </a:lnTo>
                  <a:lnTo>
                    <a:pt x="8559800" y="10875264"/>
                  </a:lnTo>
                  <a:lnTo>
                    <a:pt x="8559800" y="10900664"/>
                  </a:lnTo>
                  <a:lnTo>
                    <a:pt x="8534400" y="10900664"/>
                  </a:lnTo>
                  <a:lnTo>
                    <a:pt x="8534400" y="25400"/>
                  </a:lnTo>
                  <a:lnTo>
                    <a:pt x="8559800" y="25400"/>
                  </a:lnTo>
                  <a:lnTo>
                    <a:pt x="85598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6426203" cy="793499"/>
            <a:chOff x="0" y="0"/>
            <a:chExt cx="856827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E67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681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041019"/>
                  </a:lnTo>
                  <a:cubicBezTo>
                    <a:pt x="8568182" y="1050417"/>
                    <a:pt x="8560562" y="1057910"/>
                    <a:pt x="85512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8551291" y="1024128"/>
                  </a:lnTo>
                  <a:lnTo>
                    <a:pt x="8551291" y="1041019"/>
                  </a:lnTo>
                  <a:lnTo>
                    <a:pt x="8534400" y="104101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682496"/>
            <a:ext cx="6400800" cy="768096"/>
            <a:chOff x="0" y="0"/>
            <a:chExt cx="85344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34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5344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HARL?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8096" y="2706624"/>
            <a:ext cx="5888736" cy="658368"/>
            <a:chOff x="0" y="0"/>
            <a:chExt cx="7851648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51648" cy="877824"/>
            </a:xfrm>
            <a:custGeom>
              <a:avLst/>
              <a:gdLst/>
              <a:ahLst/>
              <a:cxnLst/>
              <a:rect r="r" b="b" t="t" l="l"/>
              <a:pathLst>
                <a:path h="877824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82" r="0" b="-1242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851648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SEED-IV has 3 sessions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8096" y="3401568"/>
            <a:ext cx="5888736" cy="950976"/>
            <a:chOff x="0" y="0"/>
            <a:chExt cx="7851648" cy="1267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516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57" r="0" b="-706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85164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additional within-subject non-stationarity beyond DEAP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" y="4901184"/>
            <a:ext cx="5888736" cy="658368"/>
            <a:chOff x="0" y="0"/>
            <a:chExt cx="7851648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51648" cy="877824"/>
            </a:xfrm>
            <a:custGeom>
              <a:avLst/>
              <a:gdLst/>
              <a:ahLst/>
              <a:cxnLst/>
              <a:rect r="r" b="b" t="t" l="l"/>
              <a:pathLst>
                <a:path h="877824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82" r="0" b="-1242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851648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Static λ is insufficient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8096" y="5596128"/>
            <a:ext cx="5888736" cy="950976"/>
            <a:chOff x="0" y="0"/>
            <a:chExt cx="7851648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516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57" r="0" b="-7065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85164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fixed DANN/CORAL weights underalign hard batches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8096" y="7095744"/>
            <a:ext cx="5888736" cy="658368"/>
            <a:chOff x="0" y="0"/>
            <a:chExt cx="7851648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51648" cy="877824"/>
            </a:xfrm>
            <a:custGeom>
              <a:avLst/>
              <a:gdLst/>
              <a:ahLst/>
              <a:cxnLst/>
              <a:rect r="r" b="b" t="t" l="l"/>
              <a:pathLst>
                <a:path h="877824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82" r="0" b="-12428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851648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gap varies per batch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8096" y="7790688"/>
            <a:ext cx="5888736" cy="950976"/>
            <a:chOff x="0" y="0"/>
            <a:chExt cx="7851648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516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57" r="0" b="-7065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851648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need dynamic modulation of alignment strength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8368" y="8778240"/>
            <a:ext cx="6254496" cy="841248"/>
            <a:chOff x="0" y="0"/>
            <a:chExt cx="8339328" cy="11216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339328" cy="1121664"/>
            </a:xfrm>
            <a:custGeom>
              <a:avLst/>
              <a:gdLst/>
              <a:ahLst/>
              <a:cxnLst/>
              <a:rect r="r" b="b" t="t" l="l"/>
              <a:pathLst>
                <a:path h="112166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67" r="0" b="-9486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33932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Result: comparable std across subjects</a:t>
              </a:r>
            </a:p>
            <a:p>
              <a:pPr algn="l">
                <a:lnSpc>
                  <a:spcPts val="2759"/>
                </a:lnSpc>
              </a:pPr>
              <a:r>
                <a:rPr lang="en-US" sz="22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(5.18% SEED-IV ≈ 5.11% DEAP valence)  [Sec. 5.6.3]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259574" y="1663446"/>
            <a:ext cx="5853684" cy="8194548"/>
            <a:chOff x="0" y="0"/>
            <a:chExt cx="7804912" cy="10926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7754112" cy="10875264"/>
            </a:xfrm>
            <a:custGeom>
              <a:avLst/>
              <a:gdLst/>
              <a:ahLst/>
              <a:cxnLst/>
              <a:rect r="r" b="b" t="t" l="l"/>
              <a:pathLst>
                <a:path h="10875264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0875264"/>
                  </a:lnTo>
                  <a:lnTo>
                    <a:pt x="0" y="1087526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04912" cy="10926064"/>
            </a:xfrm>
            <a:custGeom>
              <a:avLst/>
              <a:gdLst/>
              <a:ahLst/>
              <a:cxnLst/>
              <a:rect r="r" b="b" t="t" l="l"/>
              <a:pathLst>
                <a:path h="10926064" w="7804912">
                  <a:moveTo>
                    <a:pt x="25400" y="0"/>
                  </a:moveTo>
                  <a:lnTo>
                    <a:pt x="7779512" y="0"/>
                  </a:lnTo>
                  <a:cubicBezTo>
                    <a:pt x="7793482" y="0"/>
                    <a:pt x="7804912" y="11430"/>
                    <a:pt x="7804912" y="25400"/>
                  </a:cubicBezTo>
                  <a:lnTo>
                    <a:pt x="7804912" y="10900664"/>
                  </a:lnTo>
                  <a:cubicBezTo>
                    <a:pt x="7804912" y="10914634"/>
                    <a:pt x="7793482" y="10926064"/>
                    <a:pt x="7779512" y="10926064"/>
                  </a:cubicBezTo>
                  <a:lnTo>
                    <a:pt x="25400" y="10926064"/>
                  </a:lnTo>
                  <a:cubicBezTo>
                    <a:pt x="11430" y="10926064"/>
                    <a:pt x="0" y="10914634"/>
                    <a:pt x="0" y="1090066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900664"/>
                  </a:lnTo>
                  <a:lnTo>
                    <a:pt x="25400" y="10900664"/>
                  </a:lnTo>
                  <a:lnTo>
                    <a:pt x="25400" y="10875264"/>
                  </a:lnTo>
                  <a:lnTo>
                    <a:pt x="7779512" y="10875264"/>
                  </a:lnTo>
                  <a:lnTo>
                    <a:pt x="7779512" y="10900664"/>
                  </a:lnTo>
                  <a:lnTo>
                    <a:pt x="7754112" y="10900664"/>
                  </a:lnTo>
                  <a:lnTo>
                    <a:pt x="7754112" y="25400"/>
                  </a:lnTo>
                  <a:lnTo>
                    <a:pt x="7779512" y="25400"/>
                  </a:lnTo>
                  <a:lnTo>
                    <a:pt x="777951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265927" y="1669799"/>
            <a:ext cx="5840987" cy="793499"/>
            <a:chOff x="0" y="0"/>
            <a:chExt cx="7787983" cy="1057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7541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787894" cy="1057912"/>
            </a:xfrm>
            <a:custGeom>
              <a:avLst/>
              <a:gdLst/>
              <a:ahLst/>
              <a:cxnLst/>
              <a:rect r="r" b="b" t="t" l="l"/>
              <a:pathLst>
                <a:path h="1057912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1041019"/>
                  </a:lnTo>
                  <a:cubicBezTo>
                    <a:pt x="7787894" y="1050417"/>
                    <a:pt x="7780274" y="1057910"/>
                    <a:pt x="7771003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771003" y="1024128"/>
                  </a:lnTo>
                  <a:lnTo>
                    <a:pt x="7771003" y="1041019"/>
                  </a:lnTo>
                  <a:lnTo>
                    <a:pt x="7754112" y="1041019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278624" y="1682496"/>
            <a:ext cx="5815584" cy="768096"/>
            <a:chOff x="0" y="0"/>
            <a:chExt cx="7754112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54112" cy="1024128"/>
            </a:xfrm>
            <a:custGeom>
              <a:avLst/>
              <a:gdLst/>
              <a:ahLst/>
              <a:cxnLst/>
              <a:rect r="r" b="b" t="t" l="l"/>
              <a:pathLst>
                <a:path h="1024128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75411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 POLICY FLOW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448807" y="2620775"/>
            <a:ext cx="720347" cy="720347"/>
            <a:chOff x="0" y="0"/>
            <a:chExt cx="960463" cy="9604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461504" y="2633472"/>
            <a:ext cx="694944" cy="694944"/>
            <a:chOff x="0" y="0"/>
            <a:chExt cx="926592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39328" y="3346704"/>
            <a:ext cx="4608576" cy="914400"/>
            <a:chOff x="0" y="0"/>
            <a:chExt cx="6144768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4" r="0" b="-482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144768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Cosine dist between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batch &amp; target centroid 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448807" y="4394711"/>
            <a:ext cx="720347" cy="720347"/>
            <a:chOff x="0" y="0"/>
            <a:chExt cx="960463" cy="9604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461504" y="4407408"/>
            <a:ext cx="694944" cy="694944"/>
            <a:chOff x="0" y="0"/>
            <a:chExt cx="926592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339328" y="5120640"/>
            <a:ext cx="4608576" cy="914400"/>
            <a:chOff x="0" y="0"/>
            <a:chExt cx="6144768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4" r="0" b="-482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144768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Outputs per-sample weights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 ∈ [0,1]^B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48807" y="6168647"/>
            <a:ext cx="720347" cy="720347"/>
            <a:chOff x="0" y="0"/>
            <a:chExt cx="960463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461504" y="6181344"/>
            <a:ext cx="694944" cy="694944"/>
            <a:chOff x="0" y="0"/>
            <a:chExt cx="9265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339328" y="6894576"/>
            <a:ext cx="4608576" cy="914400"/>
            <a:chOff x="0" y="0"/>
            <a:chExt cx="6144768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4" r="0" b="-4820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144768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λ*_dann = λ_dann(1 + w̄)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λ*_coral = λ_coral(1 + w̄)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448807" y="7942583"/>
            <a:ext cx="720347" cy="720347"/>
            <a:chOff x="0" y="0"/>
            <a:chExt cx="960463" cy="96046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461504" y="7955280"/>
            <a:ext cx="694944" cy="694944"/>
            <a:chOff x="0" y="0"/>
            <a:chExt cx="926592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339328" y="2633472"/>
            <a:ext cx="4461628" cy="6016752"/>
            <a:chOff x="0" y="0"/>
            <a:chExt cx="5948837" cy="8022336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0"/>
              <a:ext cx="5948837" cy="926592"/>
              <a:chOff x="0" y="0"/>
              <a:chExt cx="5948837" cy="92659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5948837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5948837">
                    <a:moveTo>
                      <a:pt x="0" y="0"/>
                    </a:moveTo>
                    <a:lnTo>
                      <a:pt x="5948837" y="0"/>
                    </a:lnTo>
                    <a:lnTo>
                      <a:pt x="5948837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06" r="51632" b="-10506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57150"/>
                <a:ext cx="5948837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 b="true">
                    <a:solidFill>
                      <a:srgbClr val="FFD6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Domain Gap Estimator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0" y="2365248"/>
              <a:ext cx="5948837" cy="926592"/>
              <a:chOff x="0" y="0"/>
              <a:chExt cx="5948837" cy="926592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5948837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5948837">
                    <a:moveTo>
                      <a:pt x="0" y="0"/>
                    </a:moveTo>
                    <a:lnTo>
                      <a:pt x="5948837" y="0"/>
                    </a:lnTo>
                    <a:lnTo>
                      <a:pt x="5948837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06" r="51632" b="-10506"/>
                </a:stretch>
              </a:blip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57150"/>
                <a:ext cx="5948837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 b="true">
                    <a:solidFill>
                      <a:srgbClr val="FFD6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PPO Actor π_ψ(w | g)</a:t>
                </a: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0" y="4730496"/>
              <a:ext cx="5948837" cy="926592"/>
              <a:chOff x="0" y="0"/>
              <a:chExt cx="5948837" cy="926592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5948837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5948837">
                    <a:moveTo>
                      <a:pt x="0" y="0"/>
                    </a:moveTo>
                    <a:lnTo>
                      <a:pt x="5948837" y="0"/>
                    </a:lnTo>
                    <a:lnTo>
                      <a:pt x="5948837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06" r="51632" b="-10506"/>
                </a:stretch>
              </a:blip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57150"/>
                <a:ext cx="5948837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 b="true">
                    <a:solidFill>
                      <a:srgbClr val="FFD6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Dynamic λ Scaling</a:t>
                </a: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0" y="7095744"/>
              <a:ext cx="5948837" cy="926592"/>
              <a:chOff x="0" y="0"/>
              <a:chExt cx="5948837" cy="926592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5948837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5948837">
                    <a:moveTo>
                      <a:pt x="0" y="0"/>
                    </a:moveTo>
                    <a:lnTo>
                      <a:pt x="5948837" y="0"/>
                    </a:lnTo>
                    <a:lnTo>
                      <a:pt x="5948837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06" r="51632" b="-10506"/>
                </a:stretch>
              </a:blip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57150"/>
                <a:ext cx="5948837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 b="true">
                    <a:solidFill>
                      <a:srgbClr val="FFD6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Reward Signal</a:t>
                </a:r>
              </a:p>
            </p:txBody>
          </p:sp>
        </p:grpSp>
      </p:grpSp>
      <p:grpSp>
        <p:nvGrpSpPr>
          <p:cNvPr name="Group 93" id="93"/>
          <p:cNvGrpSpPr/>
          <p:nvPr/>
        </p:nvGrpSpPr>
        <p:grpSpPr>
          <a:xfrm rot="0">
            <a:off x="8339328" y="8668512"/>
            <a:ext cx="4608576" cy="914400"/>
            <a:chOff x="0" y="0"/>
            <a:chExt cx="6144768" cy="1219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144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4" r="0" b="-4820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6144768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 = −CE_loss + 0.2(1−g)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entropy bonus prevents collapse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440918" y="1663446"/>
            <a:ext cx="4390644" cy="8194548"/>
            <a:chOff x="0" y="0"/>
            <a:chExt cx="5854192" cy="109260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25400" y="25400"/>
              <a:ext cx="5803392" cy="10875264"/>
            </a:xfrm>
            <a:custGeom>
              <a:avLst/>
              <a:gdLst/>
              <a:ahLst/>
              <a:cxnLst/>
              <a:rect r="r" b="b" t="t" l="l"/>
              <a:pathLst>
                <a:path h="10875264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0875264"/>
                  </a:lnTo>
                  <a:lnTo>
                    <a:pt x="0" y="1087526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854192" cy="10926064"/>
            </a:xfrm>
            <a:custGeom>
              <a:avLst/>
              <a:gdLst/>
              <a:ahLst/>
              <a:cxnLst/>
              <a:rect r="r" b="b" t="t" l="l"/>
              <a:pathLst>
                <a:path h="10926064" w="5854192">
                  <a:moveTo>
                    <a:pt x="25400" y="0"/>
                  </a:moveTo>
                  <a:lnTo>
                    <a:pt x="5828792" y="0"/>
                  </a:lnTo>
                  <a:cubicBezTo>
                    <a:pt x="5842762" y="0"/>
                    <a:pt x="5854192" y="11430"/>
                    <a:pt x="5854192" y="25400"/>
                  </a:cubicBezTo>
                  <a:lnTo>
                    <a:pt x="5854192" y="10900664"/>
                  </a:lnTo>
                  <a:cubicBezTo>
                    <a:pt x="5854192" y="10914634"/>
                    <a:pt x="5842762" y="10926064"/>
                    <a:pt x="5828792" y="10926064"/>
                  </a:cubicBezTo>
                  <a:lnTo>
                    <a:pt x="25400" y="10926064"/>
                  </a:lnTo>
                  <a:cubicBezTo>
                    <a:pt x="11430" y="10926064"/>
                    <a:pt x="0" y="10914634"/>
                    <a:pt x="0" y="1090066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900664"/>
                  </a:lnTo>
                  <a:lnTo>
                    <a:pt x="25400" y="10900664"/>
                  </a:lnTo>
                  <a:lnTo>
                    <a:pt x="25400" y="10875264"/>
                  </a:lnTo>
                  <a:lnTo>
                    <a:pt x="5828792" y="10875264"/>
                  </a:lnTo>
                  <a:lnTo>
                    <a:pt x="5828792" y="10900664"/>
                  </a:lnTo>
                  <a:lnTo>
                    <a:pt x="5803392" y="10900664"/>
                  </a:lnTo>
                  <a:lnTo>
                    <a:pt x="5803392" y="25400"/>
                  </a:lnTo>
                  <a:lnTo>
                    <a:pt x="5828792" y="25400"/>
                  </a:lnTo>
                  <a:lnTo>
                    <a:pt x="582879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447271" y="1669799"/>
            <a:ext cx="4377947" cy="793499"/>
            <a:chOff x="0" y="0"/>
            <a:chExt cx="5837263" cy="105799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58033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837174" cy="1057912"/>
            </a:xfrm>
            <a:custGeom>
              <a:avLst/>
              <a:gdLst/>
              <a:ahLst/>
              <a:cxnLst/>
              <a:rect r="r" b="b" t="t" l="l"/>
              <a:pathLst>
                <a:path h="105791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041019"/>
                  </a:lnTo>
                  <a:cubicBezTo>
                    <a:pt x="5837174" y="1050417"/>
                    <a:pt x="5829554" y="1057910"/>
                    <a:pt x="5820283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820283" y="1024128"/>
                  </a:lnTo>
                  <a:lnTo>
                    <a:pt x="5820283" y="1041019"/>
                  </a:lnTo>
                  <a:lnTo>
                    <a:pt x="5803392" y="1041019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459968" y="1682496"/>
            <a:ext cx="4352544" cy="768096"/>
            <a:chOff x="0" y="0"/>
            <a:chExt cx="5803392" cy="10241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803392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5803392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PARAMS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679424" y="2670048"/>
            <a:ext cx="2231136" cy="512064"/>
            <a:chOff x="0" y="0"/>
            <a:chExt cx="2974848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974848" cy="682752"/>
            </a:xfrm>
            <a:custGeom>
              <a:avLst/>
              <a:gdLst/>
              <a:ahLst/>
              <a:cxnLst/>
              <a:rect r="r" b="b" t="t" l="l"/>
              <a:pathLst>
                <a:path h="68275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9748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Calib. fraction: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679424" y="3182112"/>
            <a:ext cx="3840480" cy="725927"/>
            <a:chOff x="0" y="0"/>
            <a:chExt cx="5120640" cy="96790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120640" cy="967903"/>
            </a:xfrm>
            <a:custGeom>
              <a:avLst/>
              <a:gdLst/>
              <a:ahLst/>
              <a:cxnLst/>
              <a:rect r="r" b="b" t="t" l="l"/>
              <a:pathLst>
                <a:path h="967903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7903"/>
                  </a:lnTo>
                  <a:lnTo>
                    <a:pt x="0" y="9679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776" r="0" b="-4339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5120640" cy="101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10% unlabelled</a:t>
              </a:r>
            </a:p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target data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679424" y="3767328"/>
            <a:ext cx="2231136" cy="512064"/>
            <a:chOff x="0" y="0"/>
            <a:chExt cx="2974848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74848" cy="682752"/>
            </a:xfrm>
            <a:custGeom>
              <a:avLst/>
              <a:gdLst/>
              <a:ahLst/>
              <a:cxnLst/>
              <a:rect r="r" b="b" t="t" l="l"/>
              <a:pathLst>
                <a:path h="68275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29748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PPO clip: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3679424" y="4279392"/>
            <a:ext cx="3840480" cy="585216"/>
            <a:chOff x="0" y="0"/>
            <a:chExt cx="5120640" cy="78028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ε = 0.2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679424" y="4864608"/>
            <a:ext cx="2231136" cy="512064"/>
            <a:chOff x="0" y="0"/>
            <a:chExt cx="2974848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74848" cy="682752"/>
            </a:xfrm>
            <a:custGeom>
              <a:avLst/>
              <a:gdLst/>
              <a:ahLst/>
              <a:cxnLst/>
              <a:rect r="r" b="b" t="t" l="l"/>
              <a:pathLst>
                <a:path h="68275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29748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λ_RL: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3679424" y="5376672"/>
            <a:ext cx="3840480" cy="585216"/>
            <a:chOff x="0" y="0"/>
            <a:chExt cx="5120640" cy="78028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0.05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679424" y="5961888"/>
            <a:ext cx="2231136" cy="512064"/>
            <a:chOff x="0" y="0"/>
            <a:chExt cx="2974848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74848" cy="682752"/>
            </a:xfrm>
            <a:custGeom>
              <a:avLst/>
              <a:gdLst/>
              <a:ahLst/>
              <a:cxnLst/>
              <a:rect r="r" b="b" t="t" l="l"/>
              <a:pathLst>
                <a:path h="68275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29748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λ_CORAL: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3679424" y="6473952"/>
            <a:ext cx="3840480" cy="585216"/>
            <a:chOff x="0" y="0"/>
            <a:chExt cx="5120640" cy="78028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0.05 (dynamic)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679424" y="7059168"/>
            <a:ext cx="2231136" cy="512064"/>
            <a:chOff x="0" y="0"/>
            <a:chExt cx="2974848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74848" cy="682752"/>
            </a:xfrm>
            <a:custGeom>
              <a:avLst/>
              <a:gdLst/>
              <a:ahLst/>
              <a:cxnLst/>
              <a:rect r="r" b="b" t="t" l="l"/>
              <a:pathLst>
                <a:path h="68275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29748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λ_DANN: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3679424" y="7571232"/>
            <a:ext cx="3840480" cy="585216"/>
            <a:chOff x="0" y="0"/>
            <a:chExt cx="5120640" cy="78028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0.1 (dynamic)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3679424" y="8156448"/>
            <a:ext cx="2231136" cy="512064"/>
            <a:chOff x="0" y="0"/>
            <a:chExt cx="2974848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974848" cy="682752"/>
            </a:xfrm>
            <a:custGeom>
              <a:avLst/>
              <a:gdLst/>
              <a:ahLst/>
              <a:cxnLst/>
              <a:rect r="r" b="b" t="t" l="l"/>
              <a:pathLst>
                <a:path h="682752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99" r="0" b="-34899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47625"/>
              <a:ext cx="29748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Training: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679424" y="8668512"/>
            <a:ext cx="3840480" cy="725927"/>
            <a:chOff x="0" y="0"/>
            <a:chExt cx="5120640" cy="96790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120640" cy="967903"/>
            </a:xfrm>
            <a:custGeom>
              <a:avLst/>
              <a:gdLst/>
              <a:ahLst/>
              <a:cxnLst/>
              <a:rect r="r" b="b" t="t" l="l"/>
              <a:pathLst>
                <a:path h="967903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7903"/>
                  </a:lnTo>
                  <a:lnTo>
                    <a:pt x="0" y="9679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776" r="0" b="-43392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5120640" cy="101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60 epochs</a:t>
              </a:r>
            </a:p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E8F4F8"/>
                  </a:solidFill>
                  <a:latin typeface="Consolas"/>
                  <a:ea typeface="Consolas"/>
                  <a:cs typeface="Consolas"/>
                  <a:sym typeface="Consolas"/>
                </a:rPr>
                <a:t>(RL from epoch 5)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Experimental Setup: DEAP + SEED-IV Dual-Dataset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663446"/>
            <a:ext cx="8304276" cy="8157972"/>
            <a:chOff x="0" y="0"/>
            <a:chExt cx="11072368" cy="1087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021568" cy="10826496"/>
            </a:xfrm>
            <a:custGeom>
              <a:avLst/>
              <a:gdLst/>
              <a:ahLst/>
              <a:cxnLst/>
              <a:rect r="r" b="b" t="t" l="l"/>
              <a:pathLst>
                <a:path h="10826496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10826496"/>
                  </a:lnTo>
                  <a:lnTo>
                    <a:pt x="0" y="10826496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2368" cy="10877296"/>
            </a:xfrm>
            <a:custGeom>
              <a:avLst/>
              <a:gdLst/>
              <a:ahLst/>
              <a:cxnLst/>
              <a:rect r="r" b="b" t="t" l="l"/>
              <a:pathLst>
                <a:path h="10877296" w="11072368">
                  <a:moveTo>
                    <a:pt x="25400" y="0"/>
                  </a:moveTo>
                  <a:lnTo>
                    <a:pt x="11046968" y="0"/>
                  </a:lnTo>
                  <a:cubicBezTo>
                    <a:pt x="11060938" y="0"/>
                    <a:pt x="11072368" y="11430"/>
                    <a:pt x="11072368" y="25400"/>
                  </a:cubicBezTo>
                  <a:lnTo>
                    <a:pt x="11072368" y="10851896"/>
                  </a:lnTo>
                  <a:cubicBezTo>
                    <a:pt x="11072368" y="10865865"/>
                    <a:pt x="11060938" y="10877296"/>
                    <a:pt x="11046968" y="10877296"/>
                  </a:cubicBezTo>
                  <a:lnTo>
                    <a:pt x="25400" y="10877296"/>
                  </a:lnTo>
                  <a:cubicBezTo>
                    <a:pt x="11430" y="10877296"/>
                    <a:pt x="0" y="10865865"/>
                    <a:pt x="0" y="10851896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51896"/>
                  </a:lnTo>
                  <a:lnTo>
                    <a:pt x="25400" y="10851896"/>
                  </a:lnTo>
                  <a:lnTo>
                    <a:pt x="25400" y="10826496"/>
                  </a:lnTo>
                  <a:lnTo>
                    <a:pt x="11046968" y="10826496"/>
                  </a:lnTo>
                  <a:lnTo>
                    <a:pt x="11046968" y="10851896"/>
                  </a:lnTo>
                  <a:lnTo>
                    <a:pt x="11021568" y="10851896"/>
                  </a:lnTo>
                  <a:lnTo>
                    <a:pt x="11021568" y="25400"/>
                  </a:lnTo>
                  <a:lnTo>
                    <a:pt x="11046968" y="25400"/>
                  </a:lnTo>
                  <a:lnTo>
                    <a:pt x="1104696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8291579" cy="793499"/>
            <a:chOff x="0" y="0"/>
            <a:chExt cx="11055439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215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55350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055350">
                  <a:moveTo>
                    <a:pt x="16891" y="0"/>
                  </a:moveTo>
                  <a:lnTo>
                    <a:pt x="11038459" y="0"/>
                  </a:lnTo>
                  <a:cubicBezTo>
                    <a:pt x="11047857" y="0"/>
                    <a:pt x="11055350" y="7620"/>
                    <a:pt x="11055350" y="16891"/>
                  </a:cubicBezTo>
                  <a:lnTo>
                    <a:pt x="11055350" y="1041019"/>
                  </a:lnTo>
                  <a:cubicBezTo>
                    <a:pt x="11055350" y="1050417"/>
                    <a:pt x="11047730" y="1057910"/>
                    <a:pt x="1103845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038459" y="1024128"/>
                  </a:lnTo>
                  <a:lnTo>
                    <a:pt x="11038459" y="1041019"/>
                  </a:lnTo>
                  <a:lnTo>
                    <a:pt x="11021568" y="1041019"/>
                  </a:lnTo>
                  <a:lnTo>
                    <a:pt x="11021568" y="16891"/>
                  </a:lnTo>
                  <a:lnTo>
                    <a:pt x="11038459" y="16891"/>
                  </a:lnTo>
                  <a:lnTo>
                    <a:pt x="11038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682496"/>
            <a:ext cx="8266176" cy="768096"/>
            <a:chOff x="0" y="0"/>
            <a:chExt cx="11021568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15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96" r="0" b="-1596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02156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DEAP DATASET  [2]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5399" y="2657351"/>
            <a:ext cx="7742939" cy="1086107"/>
            <a:chOff x="0" y="0"/>
            <a:chExt cx="10323919" cy="14481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290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2383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431163"/>
                  </a:lnTo>
                  <a:cubicBezTo>
                    <a:pt x="10323830" y="1440561"/>
                    <a:pt x="10316210" y="1448054"/>
                    <a:pt x="1030693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306939" y="1414272"/>
                  </a:lnTo>
                  <a:lnTo>
                    <a:pt x="10306939" y="1431163"/>
                  </a:lnTo>
                  <a:lnTo>
                    <a:pt x="10290048" y="1431163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1215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" y="2743200"/>
            <a:ext cx="2340864" cy="877824"/>
            <a:chOff x="0" y="0"/>
            <a:chExt cx="3121152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91840" y="2743200"/>
            <a:ext cx="4974336" cy="877824"/>
            <a:chOff x="0" y="0"/>
            <a:chExt cx="6632448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324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63244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subjects (16M/16F)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5399" y="3937511"/>
            <a:ext cx="7742939" cy="1086107"/>
            <a:chOff x="0" y="0"/>
            <a:chExt cx="10323919" cy="14481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290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2383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431163"/>
                  </a:lnTo>
                  <a:cubicBezTo>
                    <a:pt x="10323830" y="1440561"/>
                    <a:pt x="10316210" y="1448054"/>
                    <a:pt x="1030693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306939" y="1414272"/>
                  </a:lnTo>
                  <a:lnTo>
                    <a:pt x="10306939" y="1431163"/>
                  </a:lnTo>
                  <a:lnTo>
                    <a:pt x="10290048" y="1431163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1215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41248" y="4023360"/>
            <a:ext cx="2340864" cy="877824"/>
            <a:chOff x="0" y="0"/>
            <a:chExt cx="3121152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128 Hz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91840" y="4023360"/>
            <a:ext cx="4974336" cy="877824"/>
            <a:chOff x="0" y="0"/>
            <a:chExt cx="6632448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324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63244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EEG  ·  32 channels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5399" y="5217671"/>
            <a:ext cx="7742939" cy="1086107"/>
            <a:chOff x="0" y="0"/>
            <a:chExt cx="10323919" cy="14481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290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2383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431163"/>
                  </a:lnTo>
                  <a:cubicBezTo>
                    <a:pt x="10323830" y="1440561"/>
                    <a:pt x="10316210" y="1448054"/>
                    <a:pt x="1030693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306939" y="1414272"/>
                  </a:lnTo>
                  <a:lnTo>
                    <a:pt x="10306939" y="1431163"/>
                  </a:lnTo>
                  <a:lnTo>
                    <a:pt x="10290048" y="1431163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12157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" y="5303520"/>
            <a:ext cx="2340864" cy="877824"/>
            <a:chOff x="0" y="0"/>
            <a:chExt cx="3121152" cy="1170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2,400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291840" y="5303520"/>
            <a:ext cx="4974336" cy="877824"/>
            <a:chOff x="0" y="0"/>
            <a:chExt cx="6632448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6324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63244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samples/subject (1 s windows)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5399" y="6497831"/>
            <a:ext cx="7742939" cy="1086107"/>
            <a:chOff x="0" y="0"/>
            <a:chExt cx="10323919" cy="14481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290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32383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431163"/>
                  </a:lnTo>
                  <a:cubicBezTo>
                    <a:pt x="10323830" y="1440561"/>
                    <a:pt x="10316210" y="1448054"/>
                    <a:pt x="1030693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306939" y="1414272"/>
                  </a:lnTo>
                  <a:lnTo>
                    <a:pt x="10306939" y="1431163"/>
                  </a:lnTo>
                  <a:lnTo>
                    <a:pt x="10290048" y="1431163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1215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1248" y="6583680"/>
            <a:ext cx="2340864" cy="877824"/>
            <a:chOff x="0" y="0"/>
            <a:chExt cx="312115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291840" y="6583680"/>
            <a:ext cx="4974336" cy="877824"/>
            <a:chOff x="0" y="0"/>
            <a:chExt cx="6632448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324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63244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Valence / Arousal  (threshold = 5)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5399" y="7777991"/>
            <a:ext cx="7742939" cy="1086107"/>
            <a:chOff x="0" y="0"/>
            <a:chExt cx="10323919" cy="144814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290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32383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431163"/>
                  </a:lnTo>
                  <a:cubicBezTo>
                    <a:pt x="10323830" y="1440561"/>
                    <a:pt x="10316210" y="1448054"/>
                    <a:pt x="1030693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306939" y="1414272"/>
                  </a:lnTo>
                  <a:lnTo>
                    <a:pt x="10306939" y="1431163"/>
                  </a:lnTo>
                  <a:lnTo>
                    <a:pt x="10290048" y="1431163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>
                <a:alpha val="12157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41248" y="7863840"/>
            <a:ext cx="2340864" cy="877824"/>
            <a:chOff x="0" y="0"/>
            <a:chExt cx="3121152" cy="1170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LOSO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291840" y="7863840"/>
            <a:ext cx="4974336" cy="877824"/>
            <a:chOff x="0" y="0"/>
            <a:chExt cx="6632448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32448" cy="1170432"/>
            </a:xfrm>
            <a:custGeom>
              <a:avLst/>
              <a:gdLst/>
              <a:ahLst/>
              <a:cxnLst/>
              <a:rect r="r" b="b" t="t" l="l"/>
              <a:pathLst>
                <a:path h="117043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63244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 subjects  (S03, S21 excluded)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71254" y="1663446"/>
            <a:ext cx="8670036" cy="8157972"/>
            <a:chOff x="0" y="0"/>
            <a:chExt cx="11560048" cy="108772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11509248" cy="10826496"/>
            </a:xfrm>
            <a:custGeom>
              <a:avLst/>
              <a:gdLst/>
              <a:ahLst/>
              <a:cxnLst/>
              <a:rect r="r" b="b" t="t" l="l"/>
              <a:pathLst>
                <a:path h="10826496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0826496"/>
                  </a:lnTo>
                  <a:lnTo>
                    <a:pt x="0" y="10826496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560048" cy="10877296"/>
            </a:xfrm>
            <a:custGeom>
              <a:avLst/>
              <a:gdLst/>
              <a:ahLst/>
              <a:cxnLst/>
              <a:rect r="r" b="b" t="t" l="l"/>
              <a:pathLst>
                <a:path h="10877296" w="11560048">
                  <a:moveTo>
                    <a:pt x="25400" y="0"/>
                  </a:moveTo>
                  <a:lnTo>
                    <a:pt x="11534648" y="0"/>
                  </a:lnTo>
                  <a:cubicBezTo>
                    <a:pt x="11548618" y="0"/>
                    <a:pt x="11560048" y="11430"/>
                    <a:pt x="11560048" y="25400"/>
                  </a:cubicBezTo>
                  <a:lnTo>
                    <a:pt x="11560048" y="10851896"/>
                  </a:lnTo>
                  <a:cubicBezTo>
                    <a:pt x="11560048" y="10865865"/>
                    <a:pt x="11548618" y="10877296"/>
                    <a:pt x="11534648" y="10877296"/>
                  </a:cubicBezTo>
                  <a:lnTo>
                    <a:pt x="25400" y="10877296"/>
                  </a:lnTo>
                  <a:cubicBezTo>
                    <a:pt x="11430" y="10877296"/>
                    <a:pt x="0" y="10865865"/>
                    <a:pt x="0" y="10851896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851896"/>
                  </a:lnTo>
                  <a:lnTo>
                    <a:pt x="25400" y="10851896"/>
                  </a:lnTo>
                  <a:lnTo>
                    <a:pt x="25400" y="10826496"/>
                  </a:lnTo>
                  <a:lnTo>
                    <a:pt x="11534648" y="10826496"/>
                  </a:lnTo>
                  <a:lnTo>
                    <a:pt x="11534648" y="10851896"/>
                  </a:lnTo>
                  <a:lnTo>
                    <a:pt x="11509248" y="10851896"/>
                  </a:lnTo>
                  <a:lnTo>
                    <a:pt x="11509248" y="25400"/>
                  </a:lnTo>
                  <a:lnTo>
                    <a:pt x="11534648" y="25400"/>
                  </a:lnTo>
                  <a:lnTo>
                    <a:pt x="115346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277607" y="1669799"/>
            <a:ext cx="8657339" cy="793499"/>
            <a:chOff x="0" y="0"/>
            <a:chExt cx="11543119" cy="10579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5092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E676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43030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041019"/>
                  </a:lnTo>
                  <a:cubicBezTo>
                    <a:pt x="11543030" y="1050417"/>
                    <a:pt x="11535410" y="1057910"/>
                    <a:pt x="1152613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526139" y="1024128"/>
                  </a:lnTo>
                  <a:lnTo>
                    <a:pt x="11526139" y="1041019"/>
                  </a:lnTo>
                  <a:lnTo>
                    <a:pt x="11509248" y="1041019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90304" y="1682496"/>
            <a:ext cx="8631936" cy="768096"/>
            <a:chOff x="0" y="0"/>
            <a:chExt cx="11509248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5092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974" r="0" b="-1689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1509248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SEED-IV DATASET  [13]  — NEW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33639" y="2657351"/>
            <a:ext cx="8108699" cy="1086107"/>
            <a:chOff x="0" y="0"/>
            <a:chExt cx="10811599" cy="144814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7777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81151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811510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1431163"/>
                  </a:lnTo>
                  <a:cubicBezTo>
                    <a:pt x="10811510" y="1440561"/>
                    <a:pt x="10803889" y="1448054"/>
                    <a:pt x="1079461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94619" y="1414272"/>
                  </a:lnTo>
                  <a:lnTo>
                    <a:pt x="10794619" y="1431163"/>
                  </a:lnTo>
                  <a:lnTo>
                    <a:pt x="10777727" y="1431163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>
                <a:alpha val="12157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19488" y="2743200"/>
            <a:ext cx="2340864" cy="877824"/>
            <a:chOff x="0" y="0"/>
            <a:chExt cx="3121152" cy="11704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070080" y="2743200"/>
            <a:ext cx="5522976" cy="877824"/>
            <a:chOff x="0" y="0"/>
            <a:chExt cx="7363968" cy="11704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639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93" r="0" b="-7259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736396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subjects  ×  3 sessions each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33639" y="3937511"/>
            <a:ext cx="8108699" cy="1086107"/>
            <a:chOff x="0" y="0"/>
            <a:chExt cx="10811599" cy="14481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7777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81151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811510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1431163"/>
                  </a:lnTo>
                  <a:cubicBezTo>
                    <a:pt x="10811510" y="1440561"/>
                    <a:pt x="10803889" y="1448054"/>
                    <a:pt x="1079461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94619" y="1414272"/>
                  </a:lnTo>
                  <a:lnTo>
                    <a:pt x="10794619" y="1431163"/>
                  </a:lnTo>
                  <a:lnTo>
                    <a:pt x="10777727" y="1431163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>
                <a:alpha val="12157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19488" y="4023360"/>
            <a:ext cx="2340864" cy="877824"/>
            <a:chOff x="0" y="0"/>
            <a:chExt cx="3121152" cy="117043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200 Hz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070080" y="4023360"/>
            <a:ext cx="5522976" cy="877824"/>
            <a:chOff x="0" y="0"/>
            <a:chExt cx="7363968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639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93" r="0" b="-7259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736396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EEG  ·  62 channels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33639" y="5217671"/>
            <a:ext cx="8108699" cy="1086107"/>
            <a:chOff x="0" y="0"/>
            <a:chExt cx="10811599" cy="144814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07777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81151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811510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1431163"/>
                  </a:lnTo>
                  <a:cubicBezTo>
                    <a:pt x="10811510" y="1440561"/>
                    <a:pt x="10803889" y="1448054"/>
                    <a:pt x="1079461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94619" y="1414272"/>
                  </a:lnTo>
                  <a:lnTo>
                    <a:pt x="10794619" y="1431163"/>
                  </a:lnTo>
                  <a:lnTo>
                    <a:pt x="10777727" y="1431163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>
                <a:alpha val="12157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19488" y="5303520"/>
            <a:ext cx="2340864" cy="877824"/>
            <a:chOff x="0" y="0"/>
            <a:chExt cx="3121152" cy="11704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2,505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070080" y="5303520"/>
            <a:ext cx="5522976" cy="877824"/>
            <a:chOff x="0" y="0"/>
            <a:chExt cx="7363968" cy="1170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3639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93" r="0" b="-7259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736396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windows/subject (pre-computed DE)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33639" y="6497831"/>
            <a:ext cx="8108699" cy="1086107"/>
            <a:chOff x="0" y="0"/>
            <a:chExt cx="10811599" cy="144814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07777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81151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811510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1431163"/>
                  </a:lnTo>
                  <a:cubicBezTo>
                    <a:pt x="10811510" y="1440561"/>
                    <a:pt x="10803889" y="1448054"/>
                    <a:pt x="1079461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94619" y="1414272"/>
                  </a:lnTo>
                  <a:lnTo>
                    <a:pt x="10794619" y="1431163"/>
                  </a:lnTo>
                  <a:lnTo>
                    <a:pt x="10777727" y="1431163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>
                <a:alpha val="12157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19488" y="6583680"/>
            <a:ext cx="2340864" cy="877824"/>
            <a:chOff x="0" y="0"/>
            <a:chExt cx="3121152" cy="117043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4-Class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070080" y="6583680"/>
            <a:ext cx="5522976" cy="877824"/>
            <a:chOff x="0" y="0"/>
            <a:chExt cx="7363968" cy="117043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639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93" r="0" b="-7259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736396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Neutral / Sad / Fear / Happy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533639" y="7777991"/>
            <a:ext cx="8108699" cy="1086107"/>
            <a:chOff x="0" y="0"/>
            <a:chExt cx="10811599" cy="144814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77772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811510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811510">
                  <a:moveTo>
                    <a:pt x="16891" y="0"/>
                  </a:moveTo>
                  <a:lnTo>
                    <a:pt x="10794619" y="0"/>
                  </a:lnTo>
                  <a:cubicBezTo>
                    <a:pt x="10804017" y="0"/>
                    <a:pt x="10811510" y="7620"/>
                    <a:pt x="10811510" y="16891"/>
                  </a:cubicBezTo>
                  <a:lnTo>
                    <a:pt x="10811510" y="1431163"/>
                  </a:lnTo>
                  <a:cubicBezTo>
                    <a:pt x="10811510" y="1440561"/>
                    <a:pt x="10803889" y="1448054"/>
                    <a:pt x="10794619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94619" y="1414272"/>
                  </a:lnTo>
                  <a:lnTo>
                    <a:pt x="10794619" y="1431163"/>
                  </a:lnTo>
                  <a:lnTo>
                    <a:pt x="10777727" y="1431163"/>
                  </a:lnTo>
                  <a:lnTo>
                    <a:pt x="10777727" y="16891"/>
                  </a:lnTo>
                  <a:lnTo>
                    <a:pt x="10794619" y="16891"/>
                  </a:lnTo>
                  <a:lnTo>
                    <a:pt x="10794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>
                <a:alpha val="12157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619488" y="7863840"/>
            <a:ext cx="2340864" cy="877824"/>
            <a:chOff x="0" y="0"/>
            <a:chExt cx="3121152" cy="117043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1211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66675"/>
              <a:ext cx="3121152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070080" y="7863840"/>
            <a:ext cx="5522976" cy="877824"/>
            <a:chOff x="0" y="0"/>
            <a:chExt cx="7363968" cy="117043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363968" cy="1170432"/>
            </a:xfrm>
            <a:custGeom>
              <a:avLst/>
              <a:gdLst/>
              <a:ahLst/>
              <a:cxnLst/>
              <a:rect r="r" b="b" t="t" l="l"/>
              <a:pathLst>
                <a:path h="1170432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593" r="0" b="-7259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7363968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Chance level  (4-class uniform)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533639" y="8911847"/>
            <a:ext cx="1817627" cy="647195"/>
            <a:chOff x="0" y="0"/>
            <a:chExt cx="2423503" cy="86292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97536"/>
                  </a:moveTo>
                  <a:cubicBezTo>
                    <a:pt x="0" y="43688"/>
                    <a:pt x="44831" y="0"/>
                    <a:pt x="100076" y="0"/>
                  </a:cubicBezTo>
                  <a:lnTo>
                    <a:pt x="2289556" y="0"/>
                  </a:lnTo>
                  <a:cubicBezTo>
                    <a:pt x="2344801" y="0"/>
                    <a:pt x="2389632" y="43688"/>
                    <a:pt x="2389632" y="97536"/>
                  </a:cubicBezTo>
                  <a:lnTo>
                    <a:pt x="2389632" y="731520"/>
                  </a:lnTo>
                  <a:cubicBezTo>
                    <a:pt x="2389632" y="785368"/>
                    <a:pt x="2344801" y="829056"/>
                    <a:pt x="2289556" y="829056"/>
                  </a:cubicBezTo>
                  <a:lnTo>
                    <a:pt x="100203" y="829056"/>
                  </a:lnTo>
                  <a:cubicBezTo>
                    <a:pt x="44958" y="829056"/>
                    <a:pt x="127" y="785368"/>
                    <a:pt x="127" y="731520"/>
                  </a:cubicBez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23668" cy="862838"/>
            </a:xfrm>
            <a:custGeom>
              <a:avLst/>
              <a:gdLst/>
              <a:ahLst/>
              <a:cxnLst/>
              <a:rect r="r" b="b" t="t" l="l"/>
              <a:pathLst>
                <a:path h="862838" w="2423668">
                  <a:moveTo>
                    <a:pt x="0" y="114427"/>
                  </a:moveTo>
                  <a:cubicBezTo>
                    <a:pt x="0" y="50800"/>
                    <a:pt x="52832" y="0"/>
                    <a:pt x="117094" y="0"/>
                  </a:cubicBezTo>
                  <a:lnTo>
                    <a:pt x="2306574" y="0"/>
                  </a:lnTo>
                  <a:lnTo>
                    <a:pt x="2306574" y="16891"/>
                  </a:lnTo>
                  <a:lnTo>
                    <a:pt x="2306574" y="0"/>
                  </a:lnTo>
                  <a:cubicBezTo>
                    <a:pt x="2370836" y="0"/>
                    <a:pt x="2423668" y="50800"/>
                    <a:pt x="2423668" y="114427"/>
                  </a:cubicBezTo>
                  <a:lnTo>
                    <a:pt x="2406777" y="114427"/>
                  </a:lnTo>
                  <a:lnTo>
                    <a:pt x="2423668" y="114427"/>
                  </a:lnTo>
                  <a:lnTo>
                    <a:pt x="2423668" y="748411"/>
                  </a:lnTo>
                  <a:lnTo>
                    <a:pt x="2406777" y="748411"/>
                  </a:lnTo>
                  <a:lnTo>
                    <a:pt x="2423668" y="748411"/>
                  </a:lnTo>
                  <a:cubicBezTo>
                    <a:pt x="2423668" y="812038"/>
                    <a:pt x="2370836" y="862838"/>
                    <a:pt x="2306574" y="862838"/>
                  </a:cubicBezTo>
                  <a:lnTo>
                    <a:pt x="2306574" y="845947"/>
                  </a:lnTo>
                  <a:lnTo>
                    <a:pt x="2306574" y="862838"/>
                  </a:lnTo>
                  <a:lnTo>
                    <a:pt x="117094" y="862838"/>
                  </a:lnTo>
                  <a:lnTo>
                    <a:pt x="117094" y="845947"/>
                  </a:lnTo>
                  <a:lnTo>
                    <a:pt x="117094" y="862838"/>
                  </a:lnTo>
                  <a:cubicBezTo>
                    <a:pt x="52832" y="862838"/>
                    <a:pt x="0" y="812038"/>
                    <a:pt x="0" y="74841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792480"/>
                    <a:pt x="70739" y="829056"/>
                    <a:pt x="117094" y="829056"/>
                  </a:cubicBezTo>
                  <a:lnTo>
                    <a:pt x="2306574" y="829056"/>
                  </a:lnTo>
                  <a:cubicBezTo>
                    <a:pt x="2352929" y="829056"/>
                    <a:pt x="2389759" y="792607"/>
                    <a:pt x="2389759" y="748411"/>
                  </a:cubicBezTo>
                  <a:lnTo>
                    <a:pt x="2389759" y="114427"/>
                  </a:lnTo>
                  <a:cubicBezTo>
                    <a:pt x="2389759" y="70358"/>
                    <a:pt x="2352929" y="33782"/>
                    <a:pt x="2306574" y="33782"/>
                  </a:cubicBezTo>
                  <a:lnTo>
                    <a:pt x="117094" y="33782"/>
                  </a:lnTo>
                  <a:lnTo>
                    <a:pt x="117094" y="16891"/>
                  </a:lnTo>
                  <a:lnTo>
                    <a:pt x="117094" y="33909"/>
                  </a:lnTo>
                  <a:cubicBezTo>
                    <a:pt x="70739" y="33909"/>
                    <a:pt x="33909" y="70358"/>
                    <a:pt x="33909" y="114554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546336" y="8924544"/>
            <a:ext cx="1792224" cy="621792"/>
            <a:chOff x="0" y="0"/>
            <a:chExt cx="2389632" cy="82905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38963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😐 Neutral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545319" y="8911847"/>
            <a:ext cx="1817627" cy="647195"/>
            <a:chOff x="0" y="0"/>
            <a:chExt cx="2423503" cy="862927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97536"/>
                  </a:moveTo>
                  <a:cubicBezTo>
                    <a:pt x="0" y="43688"/>
                    <a:pt x="44831" y="0"/>
                    <a:pt x="100076" y="0"/>
                  </a:cubicBezTo>
                  <a:lnTo>
                    <a:pt x="2289556" y="0"/>
                  </a:lnTo>
                  <a:cubicBezTo>
                    <a:pt x="2344801" y="0"/>
                    <a:pt x="2389632" y="43688"/>
                    <a:pt x="2389632" y="97536"/>
                  </a:cubicBezTo>
                  <a:lnTo>
                    <a:pt x="2389632" y="731520"/>
                  </a:lnTo>
                  <a:cubicBezTo>
                    <a:pt x="2389632" y="785368"/>
                    <a:pt x="2344801" y="829056"/>
                    <a:pt x="2289556" y="829056"/>
                  </a:cubicBezTo>
                  <a:lnTo>
                    <a:pt x="100203" y="829056"/>
                  </a:lnTo>
                  <a:cubicBezTo>
                    <a:pt x="44958" y="829056"/>
                    <a:pt x="127" y="785368"/>
                    <a:pt x="127" y="731520"/>
                  </a:cubicBez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23668" cy="862838"/>
            </a:xfrm>
            <a:custGeom>
              <a:avLst/>
              <a:gdLst/>
              <a:ahLst/>
              <a:cxnLst/>
              <a:rect r="r" b="b" t="t" l="l"/>
              <a:pathLst>
                <a:path h="862838" w="2423668">
                  <a:moveTo>
                    <a:pt x="0" y="114427"/>
                  </a:moveTo>
                  <a:cubicBezTo>
                    <a:pt x="0" y="50800"/>
                    <a:pt x="52832" y="0"/>
                    <a:pt x="117094" y="0"/>
                  </a:cubicBezTo>
                  <a:lnTo>
                    <a:pt x="2306574" y="0"/>
                  </a:lnTo>
                  <a:lnTo>
                    <a:pt x="2306574" y="16891"/>
                  </a:lnTo>
                  <a:lnTo>
                    <a:pt x="2306574" y="0"/>
                  </a:lnTo>
                  <a:cubicBezTo>
                    <a:pt x="2370836" y="0"/>
                    <a:pt x="2423668" y="50800"/>
                    <a:pt x="2423668" y="114427"/>
                  </a:cubicBezTo>
                  <a:lnTo>
                    <a:pt x="2406777" y="114427"/>
                  </a:lnTo>
                  <a:lnTo>
                    <a:pt x="2423668" y="114427"/>
                  </a:lnTo>
                  <a:lnTo>
                    <a:pt x="2423668" y="748411"/>
                  </a:lnTo>
                  <a:lnTo>
                    <a:pt x="2406777" y="748411"/>
                  </a:lnTo>
                  <a:lnTo>
                    <a:pt x="2423668" y="748411"/>
                  </a:lnTo>
                  <a:cubicBezTo>
                    <a:pt x="2423668" y="812038"/>
                    <a:pt x="2370836" y="862838"/>
                    <a:pt x="2306574" y="862838"/>
                  </a:cubicBezTo>
                  <a:lnTo>
                    <a:pt x="2306574" y="845947"/>
                  </a:lnTo>
                  <a:lnTo>
                    <a:pt x="2306574" y="862838"/>
                  </a:lnTo>
                  <a:lnTo>
                    <a:pt x="117094" y="862838"/>
                  </a:lnTo>
                  <a:lnTo>
                    <a:pt x="117094" y="845947"/>
                  </a:lnTo>
                  <a:lnTo>
                    <a:pt x="117094" y="862838"/>
                  </a:lnTo>
                  <a:cubicBezTo>
                    <a:pt x="52832" y="862838"/>
                    <a:pt x="0" y="812038"/>
                    <a:pt x="0" y="74841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792480"/>
                    <a:pt x="70739" y="829056"/>
                    <a:pt x="117094" y="829056"/>
                  </a:cubicBezTo>
                  <a:lnTo>
                    <a:pt x="2306574" y="829056"/>
                  </a:lnTo>
                  <a:cubicBezTo>
                    <a:pt x="2352929" y="829056"/>
                    <a:pt x="2389759" y="792607"/>
                    <a:pt x="2389759" y="748411"/>
                  </a:cubicBezTo>
                  <a:lnTo>
                    <a:pt x="2389759" y="114427"/>
                  </a:lnTo>
                  <a:cubicBezTo>
                    <a:pt x="2389759" y="70358"/>
                    <a:pt x="2352929" y="33782"/>
                    <a:pt x="2306574" y="33782"/>
                  </a:cubicBezTo>
                  <a:lnTo>
                    <a:pt x="117094" y="33782"/>
                  </a:lnTo>
                  <a:lnTo>
                    <a:pt x="117094" y="16891"/>
                  </a:lnTo>
                  <a:lnTo>
                    <a:pt x="117094" y="33909"/>
                  </a:lnTo>
                  <a:cubicBezTo>
                    <a:pt x="70739" y="33909"/>
                    <a:pt x="33909" y="70358"/>
                    <a:pt x="33909" y="114554"/>
                  </a:cubicBez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1558016" y="8924544"/>
            <a:ext cx="1792224" cy="621792"/>
            <a:chOff x="0" y="0"/>
            <a:chExt cx="2389632" cy="8290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38963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7C4D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😢 Sad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556999" y="8911847"/>
            <a:ext cx="1817627" cy="647195"/>
            <a:chOff x="0" y="0"/>
            <a:chExt cx="2423503" cy="862927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97536"/>
                  </a:moveTo>
                  <a:cubicBezTo>
                    <a:pt x="0" y="43688"/>
                    <a:pt x="44831" y="0"/>
                    <a:pt x="100076" y="0"/>
                  </a:cubicBezTo>
                  <a:lnTo>
                    <a:pt x="2289556" y="0"/>
                  </a:lnTo>
                  <a:cubicBezTo>
                    <a:pt x="2344801" y="0"/>
                    <a:pt x="2389632" y="43688"/>
                    <a:pt x="2389632" y="97536"/>
                  </a:cubicBezTo>
                  <a:lnTo>
                    <a:pt x="2389632" y="731520"/>
                  </a:lnTo>
                  <a:cubicBezTo>
                    <a:pt x="2389632" y="785368"/>
                    <a:pt x="2344801" y="829056"/>
                    <a:pt x="2289556" y="829056"/>
                  </a:cubicBezTo>
                  <a:lnTo>
                    <a:pt x="100203" y="829056"/>
                  </a:lnTo>
                  <a:cubicBezTo>
                    <a:pt x="44958" y="829056"/>
                    <a:pt x="127" y="785368"/>
                    <a:pt x="127" y="731520"/>
                  </a:cubicBez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423668" cy="862838"/>
            </a:xfrm>
            <a:custGeom>
              <a:avLst/>
              <a:gdLst/>
              <a:ahLst/>
              <a:cxnLst/>
              <a:rect r="r" b="b" t="t" l="l"/>
              <a:pathLst>
                <a:path h="862838" w="2423668">
                  <a:moveTo>
                    <a:pt x="0" y="114427"/>
                  </a:moveTo>
                  <a:cubicBezTo>
                    <a:pt x="0" y="50800"/>
                    <a:pt x="52832" y="0"/>
                    <a:pt x="117094" y="0"/>
                  </a:cubicBezTo>
                  <a:lnTo>
                    <a:pt x="2306574" y="0"/>
                  </a:lnTo>
                  <a:lnTo>
                    <a:pt x="2306574" y="16891"/>
                  </a:lnTo>
                  <a:lnTo>
                    <a:pt x="2306574" y="0"/>
                  </a:lnTo>
                  <a:cubicBezTo>
                    <a:pt x="2370836" y="0"/>
                    <a:pt x="2423668" y="50800"/>
                    <a:pt x="2423668" y="114427"/>
                  </a:cubicBezTo>
                  <a:lnTo>
                    <a:pt x="2406777" y="114427"/>
                  </a:lnTo>
                  <a:lnTo>
                    <a:pt x="2423668" y="114427"/>
                  </a:lnTo>
                  <a:lnTo>
                    <a:pt x="2423668" y="748411"/>
                  </a:lnTo>
                  <a:lnTo>
                    <a:pt x="2406777" y="748411"/>
                  </a:lnTo>
                  <a:lnTo>
                    <a:pt x="2423668" y="748411"/>
                  </a:lnTo>
                  <a:cubicBezTo>
                    <a:pt x="2423668" y="812038"/>
                    <a:pt x="2370836" y="862838"/>
                    <a:pt x="2306574" y="862838"/>
                  </a:cubicBezTo>
                  <a:lnTo>
                    <a:pt x="2306574" y="845947"/>
                  </a:lnTo>
                  <a:lnTo>
                    <a:pt x="2306574" y="862838"/>
                  </a:lnTo>
                  <a:lnTo>
                    <a:pt x="117094" y="862838"/>
                  </a:lnTo>
                  <a:lnTo>
                    <a:pt x="117094" y="845947"/>
                  </a:lnTo>
                  <a:lnTo>
                    <a:pt x="117094" y="862838"/>
                  </a:lnTo>
                  <a:cubicBezTo>
                    <a:pt x="52832" y="862838"/>
                    <a:pt x="0" y="812038"/>
                    <a:pt x="0" y="74841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792480"/>
                    <a:pt x="70739" y="829056"/>
                    <a:pt x="117094" y="829056"/>
                  </a:cubicBezTo>
                  <a:lnTo>
                    <a:pt x="2306574" y="829056"/>
                  </a:lnTo>
                  <a:cubicBezTo>
                    <a:pt x="2352929" y="829056"/>
                    <a:pt x="2389759" y="792607"/>
                    <a:pt x="2389759" y="748411"/>
                  </a:cubicBezTo>
                  <a:lnTo>
                    <a:pt x="2389759" y="114427"/>
                  </a:lnTo>
                  <a:cubicBezTo>
                    <a:pt x="2389759" y="70358"/>
                    <a:pt x="2352929" y="33782"/>
                    <a:pt x="2306574" y="33782"/>
                  </a:cubicBezTo>
                  <a:lnTo>
                    <a:pt x="117094" y="33782"/>
                  </a:lnTo>
                  <a:lnTo>
                    <a:pt x="117094" y="16891"/>
                  </a:lnTo>
                  <a:lnTo>
                    <a:pt x="117094" y="33909"/>
                  </a:lnTo>
                  <a:cubicBezTo>
                    <a:pt x="70739" y="33909"/>
                    <a:pt x="33909" y="70358"/>
                    <a:pt x="33909" y="114554"/>
                  </a:cubicBez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569696" y="8924544"/>
            <a:ext cx="1792224" cy="621792"/>
            <a:chOff x="0" y="0"/>
            <a:chExt cx="2389632" cy="82905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238963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FF704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😨 Fear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568679" y="8911847"/>
            <a:ext cx="1817627" cy="647195"/>
            <a:chOff x="0" y="0"/>
            <a:chExt cx="2423503" cy="86292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97536"/>
                  </a:moveTo>
                  <a:cubicBezTo>
                    <a:pt x="0" y="43688"/>
                    <a:pt x="44831" y="0"/>
                    <a:pt x="100076" y="0"/>
                  </a:cubicBezTo>
                  <a:lnTo>
                    <a:pt x="2289556" y="0"/>
                  </a:lnTo>
                  <a:cubicBezTo>
                    <a:pt x="2344801" y="0"/>
                    <a:pt x="2389632" y="43688"/>
                    <a:pt x="2389632" y="97536"/>
                  </a:cubicBezTo>
                  <a:lnTo>
                    <a:pt x="2389632" y="731520"/>
                  </a:lnTo>
                  <a:cubicBezTo>
                    <a:pt x="2389632" y="785368"/>
                    <a:pt x="2344801" y="829056"/>
                    <a:pt x="2289556" y="829056"/>
                  </a:cubicBezTo>
                  <a:lnTo>
                    <a:pt x="100203" y="829056"/>
                  </a:lnTo>
                  <a:cubicBezTo>
                    <a:pt x="44958" y="829056"/>
                    <a:pt x="127" y="785368"/>
                    <a:pt x="127" y="731520"/>
                  </a:cubicBez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423668" cy="862838"/>
            </a:xfrm>
            <a:custGeom>
              <a:avLst/>
              <a:gdLst/>
              <a:ahLst/>
              <a:cxnLst/>
              <a:rect r="r" b="b" t="t" l="l"/>
              <a:pathLst>
                <a:path h="862838" w="2423668">
                  <a:moveTo>
                    <a:pt x="0" y="114427"/>
                  </a:moveTo>
                  <a:cubicBezTo>
                    <a:pt x="0" y="50800"/>
                    <a:pt x="52832" y="0"/>
                    <a:pt x="117094" y="0"/>
                  </a:cubicBezTo>
                  <a:lnTo>
                    <a:pt x="2306574" y="0"/>
                  </a:lnTo>
                  <a:lnTo>
                    <a:pt x="2306574" y="16891"/>
                  </a:lnTo>
                  <a:lnTo>
                    <a:pt x="2306574" y="0"/>
                  </a:lnTo>
                  <a:cubicBezTo>
                    <a:pt x="2370836" y="0"/>
                    <a:pt x="2423668" y="50800"/>
                    <a:pt x="2423668" y="114427"/>
                  </a:cubicBezTo>
                  <a:lnTo>
                    <a:pt x="2406777" y="114427"/>
                  </a:lnTo>
                  <a:lnTo>
                    <a:pt x="2423668" y="114427"/>
                  </a:lnTo>
                  <a:lnTo>
                    <a:pt x="2423668" y="748411"/>
                  </a:lnTo>
                  <a:lnTo>
                    <a:pt x="2406777" y="748411"/>
                  </a:lnTo>
                  <a:lnTo>
                    <a:pt x="2423668" y="748411"/>
                  </a:lnTo>
                  <a:cubicBezTo>
                    <a:pt x="2423668" y="812038"/>
                    <a:pt x="2370836" y="862838"/>
                    <a:pt x="2306574" y="862838"/>
                  </a:cubicBezTo>
                  <a:lnTo>
                    <a:pt x="2306574" y="845947"/>
                  </a:lnTo>
                  <a:lnTo>
                    <a:pt x="2306574" y="862838"/>
                  </a:lnTo>
                  <a:lnTo>
                    <a:pt x="117094" y="862838"/>
                  </a:lnTo>
                  <a:lnTo>
                    <a:pt x="117094" y="845947"/>
                  </a:lnTo>
                  <a:lnTo>
                    <a:pt x="117094" y="862838"/>
                  </a:lnTo>
                  <a:cubicBezTo>
                    <a:pt x="52832" y="862838"/>
                    <a:pt x="0" y="812038"/>
                    <a:pt x="0" y="74841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792480"/>
                    <a:pt x="70739" y="829056"/>
                    <a:pt x="117094" y="829056"/>
                  </a:cubicBezTo>
                  <a:lnTo>
                    <a:pt x="2306574" y="829056"/>
                  </a:lnTo>
                  <a:cubicBezTo>
                    <a:pt x="2352929" y="829056"/>
                    <a:pt x="2389759" y="792607"/>
                    <a:pt x="2389759" y="748411"/>
                  </a:cubicBezTo>
                  <a:lnTo>
                    <a:pt x="2389759" y="114427"/>
                  </a:lnTo>
                  <a:cubicBezTo>
                    <a:pt x="2389759" y="70358"/>
                    <a:pt x="2352929" y="33782"/>
                    <a:pt x="2306574" y="33782"/>
                  </a:cubicBezTo>
                  <a:lnTo>
                    <a:pt x="117094" y="33782"/>
                  </a:lnTo>
                  <a:lnTo>
                    <a:pt x="117094" y="16891"/>
                  </a:lnTo>
                  <a:lnTo>
                    <a:pt x="117094" y="33909"/>
                  </a:lnTo>
                  <a:cubicBezTo>
                    <a:pt x="70739" y="33909"/>
                    <a:pt x="33909" y="70358"/>
                    <a:pt x="33909" y="114554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5581376" y="8924544"/>
            <a:ext cx="1792224" cy="621792"/>
            <a:chOff x="0" y="0"/>
            <a:chExt cx="2389632" cy="8290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389632" cy="829056"/>
            </a:xfrm>
            <a:custGeom>
              <a:avLst/>
              <a:gdLst/>
              <a:ahLst/>
              <a:cxnLst/>
              <a:rect r="r" b="b" t="t" l="l"/>
              <a:pathLst>
                <a:path h="829056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2" r="0" b="-616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238963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FFD6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😊 Happy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DEAP Results: Phase 1 (Subject-Dependent) &amp; Phase 2 Baseline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663446"/>
            <a:ext cx="8450580" cy="5970516"/>
            <a:chOff x="0" y="0"/>
            <a:chExt cx="11267440" cy="7960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30703"/>
              <a:ext cx="11216640" cy="7899281"/>
            </a:xfrm>
            <a:custGeom>
              <a:avLst/>
              <a:gdLst/>
              <a:ahLst/>
              <a:cxnLst/>
              <a:rect r="r" b="b" t="t" l="l"/>
              <a:pathLst>
                <a:path h="7899281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99281"/>
                  </a:lnTo>
                  <a:lnTo>
                    <a:pt x="0" y="7899281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67440" cy="7960688"/>
            </a:xfrm>
            <a:custGeom>
              <a:avLst/>
              <a:gdLst/>
              <a:ahLst/>
              <a:cxnLst/>
              <a:rect r="r" b="b" t="t" l="l"/>
              <a:pathLst>
                <a:path h="7960688" w="11267440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3816"/>
                    <a:pt x="11267440" y="30703"/>
                  </a:cubicBezTo>
                  <a:lnTo>
                    <a:pt x="11267440" y="7929984"/>
                  </a:lnTo>
                  <a:cubicBezTo>
                    <a:pt x="11267440" y="7946871"/>
                    <a:pt x="11256010" y="7960688"/>
                    <a:pt x="11242040" y="7960688"/>
                  </a:cubicBezTo>
                  <a:lnTo>
                    <a:pt x="25400" y="7960688"/>
                  </a:lnTo>
                  <a:cubicBezTo>
                    <a:pt x="11430" y="7960688"/>
                    <a:pt x="0" y="7946871"/>
                    <a:pt x="0" y="7929984"/>
                  </a:cubicBezTo>
                  <a:lnTo>
                    <a:pt x="0" y="30703"/>
                  </a:lnTo>
                  <a:cubicBezTo>
                    <a:pt x="0" y="13816"/>
                    <a:pt x="11430" y="0"/>
                    <a:pt x="25400" y="0"/>
                  </a:cubicBezTo>
                  <a:moveTo>
                    <a:pt x="25400" y="61406"/>
                  </a:moveTo>
                  <a:lnTo>
                    <a:pt x="25400" y="30703"/>
                  </a:lnTo>
                  <a:lnTo>
                    <a:pt x="50800" y="30703"/>
                  </a:lnTo>
                  <a:lnTo>
                    <a:pt x="50800" y="7929984"/>
                  </a:lnTo>
                  <a:lnTo>
                    <a:pt x="25400" y="7929984"/>
                  </a:lnTo>
                  <a:lnTo>
                    <a:pt x="25400" y="7899281"/>
                  </a:lnTo>
                  <a:lnTo>
                    <a:pt x="11242040" y="7899281"/>
                  </a:lnTo>
                  <a:lnTo>
                    <a:pt x="11242040" y="7929984"/>
                  </a:lnTo>
                  <a:lnTo>
                    <a:pt x="11216640" y="7929984"/>
                  </a:lnTo>
                  <a:lnTo>
                    <a:pt x="11216640" y="30703"/>
                  </a:lnTo>
                  <a:lnTo>
                    <a:pt x="11242040" y="30703"/>
                  </a:lnTo>
                  <a:lnTo>
                    <a:pt x="11242040" y="61406"/>
                  </a:lnTo>
                  <a:lnTo>
                    <a:pt x="25400" y="61406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8437883" cy="720347"/>
            <a:chOff x="0" y="0"/>
            <a:chExt cx="11250511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960376"/>
            </a:xfrm>
            <a:custGeom>
              <a:avLst/>
              <a:gdLst/>
              <a:ahLst/>
              <a:cxnLst/>
              <a:rect r="r" b="b" t="t" l="l"/>
              <a:pathLst>
                <a:path h="96037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43483"/>
                  </a:lnTo>
                  <a:cubicBezTo>
                    <a:pt x="11250422" y="952881"/>
                    <a:pt x="11242802" y="960374"/>
                    <a:pt x="112335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233531" y="926592"/>
                  </a:lnTo>
                  <a:lnTo>
                    <a:pt x="11233531" y="943483"/>
                  </a:lnTo>
                  <a:lnTo>
                    <a:pt x="11216640" y="9434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682496"/>
            <a:ext cx="8412480" cy="694944"/>
            <a:chOff x="0" y="0"/>
            <a:chExt cx="1121664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216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 — Subject-Dependent (10-Fold CV)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9318" y="2504694"/>
            <a:ext cx="8157972" cy="4929643"/>
            <a:chOff x="0" y="0"/>
            <a:chExt cx="10877296" cy="65728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32283"/>
              <a:ext cx="10826496" cy="6508291"/>
            </a:xfrm>
            <a:custGeom>
              <a:avLst/>
              <a:gdLst/>
              <a:ahLst/>
              <a:cxnLst/>
              <a:rect r="r" b="b" t="t" l="l"/>
              <a:pathLst>
                <a:path h="6508291" w="10826496">
                  <a:moveTo>
                    <a:pt x="0" y="0"/>
                  </a:moveTo>
                  <a:lnTo>
                    <a:pt x="10826496" y="0"/>
                  </a:lnTo>
                  <a:lnTo>
                    <a:pt x="10826496" y="6508291"/>
                  </a:lnTo>
                  <a:lnTo>
                    <a:pt x="0" y="6508291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77296" cy="6572858"/>
            </a:xfrm>
            <a:custGeom>
              <a:avLst/>
              <a:gdLst/>
              <a:ahLst/>
              <a:cxnLst/>
              <a:rect r="r" b="b" t="t" l="l"/>
              <a:pathLst>
                <a:path h="6572858" w="10877296">
                  <a:moveTo>
                    <a:pt x="25400" y="0"/>
                  </a:moveTo>
                  <a:lnTo>
                    <a:pt x="10851896" y="0"/>
                  </a:lnTo>
                  <a:cubicBezTo>
                    <a:pt x="10865865" y="0"/>
                    <a:pt x="10877296" y="14527"/>
                    <a:pt x="10877296" y="32283"/>
                  </a:cubicBezTo>
                  <a:lnTo>
                    <a:pt x="10877296" y="6540574"/>
                  </a:lnTo>
                  <a:cubicBezTo>
                    <a:pt x="10877296" y="6558330"/>
                    <a:pt x="10865865" y="6572858"/>
                    <a:pt x="10851896" y="6572858"/>
                  </a:cubicBezTo>
                  <a:lnTo>
                    <a:pt x="25400" y="6572858"/>
                  </a:lnTo>
                  <a:cubicBezTo>
                    <a:pt x="11430" y="6572858"/>
                    <a:pt x="0" y="6558330"/>
                    <a:pt x="0" y="6540574"/>
                  </a:cubicBezTo>
                  <a:lnTo>
                    <a:pt x="0" y="32283"/>
                  </a:lnTo>
                  <a:cubicBezTo>
                    <a:pt x="0" y="14527"/>
                    <a:pt x="11430" y="0"/>
                    <a:pt x="25400" y="0"/>
                  </a:cubicBezTo>
                  <a:moveTo>
                    <a:pt x="25400" y="64566"/>
                  </a:moveTo>
                  <a:lnTo>
                    <a:pt x="25400" y="32283"/>
                  </a:lnTo>
                  <a:lnTo>
                    <a:pt x="50800" y="32283"/>
                  </a:lnTo>
                  <a:lnTo>
                    <a:pt x="50800" y="6540574"/>
                  </a:lnTo>
                  <a:lnTo>
                    <a:pt x="25400" y="6540574"/>
                  </a:lnTo>
                  <a:lnTo>
                    <a:pt x="25400" y="6508291"/>
                  </a:lnTo>
                  <a:lnTo>
                    <a:pt x="10851896" y="6508291"/>
                  </a:lnTo>
                  <a:lnTo>
                    <a:pt x="10851896" y="6540574"/>
                  </a:lnTo>
                  <a:lnTo>
                    <a:pt x="10826496" y="6540574"/>
                  </a:lnTo>
                  <a:lnTo>
                    <a:pt x="10826496" y="32283"/>
                  </a:lnTo>
                  <a:lnTo>
                    <a:pt x="10851896" y="32283"/>
                  </a:lnTo>
                  <a:lnTo>
                    <a:pt x="10851896" y="64566"/>
                  </a:lnTo>
                  <a:lnTo>
                    <a:pt x="25400" y="64566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0036" y="2561596"/>
            <a:ext cx="7876537" cy="4836724"/>
            <a:chOff x="0" y="0"/>
            <a:chExt cx="10502049" cy="64489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11441"/>
              <a:ext cx="10485119" cy="6426202"/>
            </a:xfrm>
            <a:custGeom>
              <a:avLst/>
              <a:gdLst/>
              <a:ahLst/>
              <a:cxnLst/>
              <a:rect r="r" b="b" t="t" l="l"/>
              <a:pathLst>
                <a:path h="6426202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6426202"/>
                  </a:lnTo>
                  <a:lnTo>
                    <a:pt x="0" y="6426202"/>
                  </a:lnTo>
                  <a:close/>
                </a:path>
              </a:pathLst>
            </a:custGeom>
            <a:blipFill>
              <a:blip r:embed="rId4"/>
              <a:stretch>
                <a:fillRect l="-81" t="-1116" r="-100243" b="-1025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02138" cy="6449054"/>
            </a:xfrm>
            <a:custGeom>
              <a:avLst/>
              <a:gdLst/>
              <a:ahLst/>
              <a:cxnLst/>
              <a:rect r="r" b="b" t="t" l="l"/>
              <a:pathLst>
                <a:path h="6449054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5123"/>
                    <a:pt x="10502138" y="11441"/>
                  </a:cubicBezTo>
                  <a:lnTo>
                    <a:pt x="10502138" y="6437643"/>
                  </a:lnTo>
                  <a:cubicBezTo>
                    <a:pt x="10502138" y="6443961"/>
                    <a:pt x="10498327" y="6449054"/>
                    <a:pt x="10493628" y="6449054"/>
                  </a:cubicBezTo>
                  <a:lnTo>
                    <a:pt x="8509" y="6449054"/>
                  </a:lnTo>
                  <a:cubicBezTo>
                    <a:pt x="3810" y="6449054"/>
                    <a:pt x="0" y="6443961"/>
                    <a:pt x="0" y="6437643"/>
                  </a:cubicBezTo>
                  <a:lnTo>
                    <a:pt x="0" y="11441"/>
                  </a:lnTo>
                  <a:cubicBezTo>
                    <a:pt x="0" y="5123"/>
                    <a:pt x="3810" y="0"/>
                    <a:pt x="8509" y="0"/>
                  </a:cubicBezTo>
                  <a:moveTo>
                    <a:pt x="8509" y="22712"/>
                  </a:moveTo>
                  <a:lnTo>
                    <a:pt x="8509" y="11441"/>
                  </a:lnTo>
                  <a:lnTo>
                    <a:pt x="17018" y="11441"/>
                  </a:lnTo>
                  <a:lnTo>
                    <a:pt x="17018" y="6437643"/>
                  </a:lnTo>
                  <a:lnTo>
                    <a:pt x="8509" y="6437643"/>
                  </a:lnTo>
                  <a:lnTo>
                    <a:pt x="8509" y="6426202"/>
                  </a:lnTo>
                  <a:lnTo>
                    <a:pt x="10493628" y="6426202"/>
                  </a:lnTo>
                  <a:lnTo>
                    <a:pt x="10493628" y="6437643"/>
                  </a:lnTo>
                  <a:lnTo>
                    <a:pt x="10485120" y="6437643"/>
                  </a:lnTo>
                  <a:lnTo>
                    <a:pt x="10485120" y="11441"/>
                  </a:lnTo>
                  <a:lnTo>
                    <a:pt x="10493628" y="11441"/>
                  </a:lnTo>
                  <a:lnTo>
                    <a:pt x="10493628" y="22882"/>
                  </a:lnTo>
                  <a:lnTo>
                    <a:pt x="8509" y="22882"/>
                  </a:lnTo>
                  <a:close/>
                </a:path>
              </a:pathLst>
            </a:custGeom>
            <a:solidFill>
              <a:srgbClr val="00C9B1">
                <a:alpha val="2000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44406" y="1663446"/>
            <a:ext cx="8450580" cy="5970516"/>
            <a:chOff x="0" y="0"/>
            <a:chExt cx="11267440" cy="79606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30703"/>
              <a:ext cx="11216640" cy="7899281"/>
            </a:xfrm>
            <a:custGeom>
              <a:avLst/>
              <a:gdLst/>
              <a:ahLst/>
              <a:cxnLst/>
              <a:rect r="r" b="b" t="t" l="l"/>
              <a:pathLst>
                <a:path h="7899281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99281"/>
                  </a:lnTo>
                  <a:lnTo>
                    <a:pt x="0" y="7899281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67440" cy="7960688"/>
            </a:xfrm>
            <a:custGeom>
              <a:avLst/>
              <a:gdLst/>
              <a:ahLst/>
              <a:cxnLst/>
              <a:rect r="r" b="b" t="t" l="l"/>
              <a:pathLst>
                <a:path h="7960688" w="11267440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3816"/>
                    <a:pt x="11267440" y="30703"/>
                  </a:cubicBezTo>
                  <a:lnTo>
                    <a:pt x="11267440" y="7929984"/>
                  </a:lnTo>
                  <a:cubicBezTo>
                    <a:pt x="11267440" y="7946871"/>
                    <a:pt x="11256010" y="7960688"/>
                    <a:pt x="11242040" y="7960688"/>
                  </a:cubicBezTo>
                  <a:lnTo>
                    <a:pt x="25400" y="7960688"/>
                  </a:lnTo>
                  <a:cubicBezTo>
                    <a:pt x="11430" y="7960688"/>
                    <a:pt x="0" y="7946871"/>
                    <a:pt x="0" y="7929984"/>
                  </a:cubicBezTo>
                  <a:lnTo>
                    <a:pt x="0" y="30703"/>
                  </a:lnTo>
                  <a:cubicBezTo>
                    <a:pt x="0" y="13816"/>
                    <a:pt x="11430" y="0"/>
                    <a:pt x="25400" y="0"/>
                  </a:cubicBezTo>
                  <a:moveTo>
                    <a:pt x="25400" y="61406"/>
                  </a:moveTo>
                  <a:lnTo>
                    <a:pt x="25400" y="30703"/>
                  </a:lnTo>
                  <a:lnTo>
                    <a:pt x="50800" y="30703"/>
                  </a:lnTo>
                  <a:lnTo>
                    <a:pt x="50800" y="7929984"/>
                  </a:lnTo>
                  <a:lnTo>
                    <a:pt x="25400" y="7929984"/>
                  </a:lnTo>
                  <a:lnTo>
                    <a:pt x="25400" y="7899281"/>
                  </a:lnTo>
                  <a:lnTo>
                    <a:pt x="11242040" y="7899281"/>
                  </a:lnTo>
                  <a:lnTo>
                    <a:pt x="11242040" y="7929984"/>
                  </a:lnTo>
                  <a:lnTo>
                    <a:pt x="11216640" y="7929984"/>
                  </a:lnTo>
                  <a:lnTo>
                    <a:pt x="11216640" y="30703"/>
                  </a:lnTo>
                  <a:lnTo>
                    <a:pt x="11242040" y="30703"/>
                  </a:lnTo>
                  <a:lnTo>
                    <a:pt x="11242040" y="61406"/>
                  </a:lnTo>
                  <a:lnTo>
                    <a:pt x="25400" y="61406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50759" y="1669799"/>
            <a:ext cx="8437883" cy="720347"/>
            <a:chOff x="0" y="0"/>
            <a:chExt cx="1125051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50422" cy="960376"/>
            </a:xfrm>
            <a:custGeom>
              <a:avLst/>
              <a:gdLst/>
              <a:ahLst/>
              <a:cxnLst/>
              <a:rect r="r" b="b" t="t" l="l"/>
              <a:pathLst>
                <a:path h="96037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43483"/>
                  </a:lnTo>
                  <a:cubicBezTo>
                    <a:pt x="11250422" y="952881"/>
                    <a:pt x="11242802" y="960374"/>
                    <a:pt x="112335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233531" y="926592"/>
                  </a:lnTo>
                  <a:lnTo>
                    <a:pt x="11233531" y="943483"/>
                  </a:lnTo>
                  <a:lnTo>
                    <a:pt x="11216640" y="9434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63456" y="1682496"/>
            <a:ext cx="8412480" cy="694944"/>
            <a:chOff x="0" y="0"/>
            <a:chExt cx="1121664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216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— Basic LOSO (32 subjects, no alignment)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90710" y="2504694"/>
            <a:ext cx="8157972" cy="4893626"/>
            <a:chOff x="0" y="0"/>
            <a:chExt cx="10877296" cy="65248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32047"/>
              <a:ext cx="10826496" cy="6460740"/>
            </a:xfrm>
            <a:custGeom>
              <a:avLst/>
              <a:gdLst/>
              <a:ahLst/>
              <a:cxnLst/>
              <a:rect r="r" b="b" t="t" l="l"/>
              <a:pathLst>
                <a:path h="6460740" w="10826496">
                  <a:moveTo>
                    <a:pt x="0" y="0"/>
                  </a:moveTo>
                  <a:lnTo>
                    <a:pt x="10826496" y="0"/>
                  </a:lnTo>
                  <a:lnTo>
                    <a:pt x="10826496" y="6460740"/>
                  </a:lnTo>
                  <a:lnTo>
                    <a:pt x="0" y="6460740"/>
                  </a:lnTo>
                  <a:close/>
                </a:path>
              </a:pathLst>
            </a:custGeom>
            <a:solidFill>
              <a:srgbClr val="08183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77296" cy="6524835"/>
            </a:xfrm>
            <a:custGeom>
              <a:avLst/>
              <a:gdLst/>
              <a:ahLst/>
              <a:cxnLst/>
              <a:rect r="r" b="b" t="t" l="l"/>
              <a:pathLst>
                <a:path h="6524835" w="10877296">
                  <a:moveTo>
                    <a:pt x="25400" y="0"/>
                  </a:moveTo>
                  <a:lnTo>
                    <a:pt x="10851896" y="0"/>
                  </a:lnTo>
                  <a:cubicBezTo>
                    <a:pt x="10865865" y="0"/>
                    <a:pt x="10877296" y="14421"/>
                    <a:pt x="10877296" y="32047"/>
                  </a:cubicBezTo>
                  <a:lnTo>
                    <a:pt x="10877296" y="6492787"/>
                  </a:lnTo>
                  <a:cubicBezTo>
                    <a:pt x="10877296" y="6510413"/>
                    <a:pt x="10865865" y="6524835"/>
                    <a:pt x="10851896" y="6524835"/>
                  </a:cubicBezTo>
                  <a:lnTo>
                    <a:pt x="25400" y="6524835"/>
                  </a:lnTo>
                  <a:cubicBezTo>
                    <a:pt x="11430" y="6524835"/>
                    <a:pt x="0" y="6510413"/>
                    <a:pt x="0" y="6492787"/>
                  </a:cubicBezTo>
                  <a:lnTo>
                    <a:pt x="0" y="32047"/>
                  </a:lnTo>
                  <a:cubicBezTo>
                    <a:pt x="0" y="14421"/>
                    <a:pt x="11430" y="0"/>
                    <a:pt x="25400" y="0"/>
                  </a:cubicBezTo>
                  <a:moveTo>
                    <a:pt x="25400" y="64095"/>
                  </a:moveTo>
                  <a:lnTo>
                    <a:pt x="25400" y="32047"/>
                  </a:lnTo>
                  <a:lnTo>
                    <a:pt x="50800" y="32047"/>
                  </a:lnTo>
                  <a:lnTo>
                    <a:pt x="50800" y="6492787"/>
                  </a:lnTo>
                  <a:lnTo>
                    <a:pt x="25400" y="6492787"/>
                  </a:lnTo>
                  <a:lnTo>
                    <a:pt x="25400" y="6460740"/>
                  </a:lnTo>
                  <a:lnTo>
                    <a:pt x="10851896" y="6460740"/>
                  </a:lnTo>
                  <a:lnTo>
                    <a:pt x="10851896" y="6492787"/>
                  </a:lnTo>
                  <a:lnTo>
                    <a:pt x="10826496" y="6492787"/>
                  </a:lnTo>
                  <a:lnTo>
                    <a:pt x="10826496" y="32047"/>
                  </a:lnTo>
                  <a:lnTo>
                    <a:pt x="10851896" y="32047"/>
                  </a:lnTo>
                  <a:lnTo>
                    <a:pt x="10851896" y="64095"/>
                  </a:lnTo>
                  <a:lnTo>
                    <a:pt x="25400" y="64095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31423" y="2645407"/>
            <a:ext cx="7876537" cy="4529220"/>
            <a:chOff x="0" y="0"/>
            <a:chExt cx="10502049" cy="60389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10714"/>
              <a:ext cx="10485119" cy="6017643"/>
            </a:xfrm>
            <a:custGeom>
              <a:avLst/>
              <a:gdLst/>
              <a:ahLst/>
              <a:cxnLst/>
              <a:rect r="r" b="b" t="t" l="l"/>
              <a:pathLst>
                <a:path h="6017643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6017643"/>
                  </a:lnTo>
                  <a:lnTo>
                    <a:pt x="0" y="6017643"/>
                  </a:lnTo>
                  <a:close/>
                </a:path>
              </a:pathLst>
            </a:custGeom>
            <a:blipFill>
              <a:blip r:embed="rId5"/>
              <a:stretch>
                <a:fillRect l="-1704" t="0" r="-105114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02138" cy="6039048"/>
            </a:xfrm>
            <a:custGeom>
              <a:avLst/>
              <a:gdLst/>
              <a:ahLst/>
              <a:cxnLst/>
              <a:rect r="r" b="b" t="t" l="l"/>
              <a:pathLst>
                <a:path h="6039048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4797"/>
                    <a:pt x="10502138" y="10714"/>
                  </a:cubicBezTo>
                  <a:lnTo>
                    <a:pt x="10502138" y="6028357"/>
                  </a:lnTo>
                  <a:cubicBezTo>
                    <a:pt x="10502138" y="6034274"/>
                    <a:pt x="10498327" y="6039048"/>
                    <a:pt x="10493628" y="6039048"/>
                  </a:cubicBezTo>
                  <a:lnTo>
                    <a:pt x="8509" y="6039048"/>
                  </a:lnTo>
                  <a:cubicBezTo>
                    <a:pt x="3810" y="6039048"/>
                    <a:pt x="0" y="6034274"/>
                    <a:pt x="0" y="6028357"/>
                  </a:cubicBezTo>
                  <a:lnTo>
                    <a:pt x="0" y="10714"/>
                  </a:lnTo>
                  <a:cubicBezTo>
                    <a:pt x="0" y="4797"/>
                    <a:pt x="3810" y="0"/>
                    <a:pt x="8509" y="0"/>
                  </a:cubicBezTo>
                  <a:moveTo>
                    <a:pt x="8509" y="21268"/>
                  </a:moveTo>
                  <a:lnTo>
                    <a:pt x="8509" y="10714"/>
                  </a:lnTo>
                  <a:lnTo>
                    <a:pt x="17018" y="10714"/>
                  </a:lnTo>
                  <a:lnTo>
                    <a:pt x="17018" y="6028357"/>
                  </a:lnTo>
                  <a:lnTo>
                    <a:pt x="8509" y="6028357"/>
                  </a:lnTo>
                  <a:lnTo>
                    <a:pt x="8509" y="6017644"/>
                  </a:lnTo>
                  <a:lnTo>
                    <a:pt x="10493628" y="6017644"/>
                  </a:lnTo>
                  <a:lnTo>
                    <a:pt x="10493628" y="6028357"/>
                  </a:lnTo>
                  <a:lnTo>
                    <a:pt x="10485120" y="6028357"/>
                  </a:lnTo>
                  <a:lnTo>
                    <a:pt x="10485120" y="10714"/>
                  </a:lnTo>
                  <a:lnTo>
                    <a:pt x="10493628" y="10714"/>
                  </a:lnTo>
                  <a:lnTo>
                    <a:pt x="10493628" y="21428"/>
                  </a:lnTo>
                  <a:lnTo>
                    <a:pt x="8509" y="21428"/>
                  </a:lnTo>
                  <a:close/>
                </a:path>
              </a:pathLst>
            </a:custGeom>
            <a:solidFill>
              <a:srgbClr val="00C9B1">
                <a:alpha val="2000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3014" y="8166109"/>
            <a:ext cx="4207764" cy="1582157"/>
            <a:chOff x="0" y="0"/>
            <a:chExt cx="5610352" cy="210954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13901"/>
              <a:ext cx="5559552" cy="2081742"/>
            </a:xfrm>
            <a:custGeom>
              <a:avLst/>
              <a:gdLst/>
              <a:ahLst/>
              <a:cxnLst/>
              <a:rect r="r" b="b" t="t" l="l"/>
              <a:pathLst>
                <a:path h="208174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081741"/>
                  </a:lnTo>
                  <a:lnTo>
                    <a:pt x="0" y="2081741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10352" cy="2109543"/>
            </a:xfrm>
            <a:custGeom>
              <a:avLst/>
              <a:gdLst/>
              <a:ahLst/>
              <a:cxnLst/>
              <a:rect r="r" b="b" t="t" l="l"/>
              <a:pathLst>
                <a:path h="2109543" w="5610352">
                  <a:moveTo>
                    <a:pt x="25400" y="0"/>
                  </a:moveTo>
                  <a:lnTo>
                    <a:pt x="5584952" y="0"/>
                  </a:lnTo>
                  <a:cubicBezTo>
                    <a:pt x="5598922" y="0"/>
                    <a:pt x="5610352" y="6255"/>
                    <a:pt x="5610352" y="13901"/>
                  </a:cubicBezTo>
                  <a:lnTo>
                    <a:pt x="5610352" y="2095642"/>
                  </a:lnTo>
                  <a:cubicBezTo>
                    <a:pt x="5610352" y="2103288"/>
                    <a:pt x="5598922" y="2109543"/>
                    <a:pt x="5584952" y="2109543"/>
                  </a:cubicBezTo>
                  <a:lnTo>
                    <a:pt x="25400" y="2109543"/>
                  </a:lnTo>
                  <a:cubicBezTo>
                    <a:pt x="11430" y="2109543"/>
                    <a:pt x="0" y="2103288"/>
                    <a:pt x="0" y="2095642"/>
                  </a:cubicBezTo>
                  <a:lnTo>
                    <a:pt x="0" y="13901"/>
                  </a:lnTo>
                  <a:cubicBezTo>
                    <a:pt x="0" y="6255"/>
                    <a:pt x="11430" y="0"/>
                    <a:pt x="25400" y="0"/>
                  </a:cubicBezTo>
                  <a:moveTo>
                    <a:pt x="25400" y="27801"/>
                  </a:moveTo>
                  <a:lnTo>
                    <a:pt x="25400" y="13901"/>
                  </a:lnTo>
                  <a:lnTo>
                    <a:pt x="50800" y="13901"/>
                  </a:lnTo>
                  <a:lnTo>
                    <a:pt x="50800" y="2095642"/>
                  </a:lnTo>
                  <a:lnTo>
                    <a:pt x="25400" y="2095642"/>
                  </a:lnTo>
                  <a:lnTo>
                    <a:pt x="25400" y="2081742"/>
                  </a:lnTo>
                  <a:lnTo>
                    <a:pt x="5584952" y="2081742"/>
                  </a:lnTo>
                  <a:lnTo>
                    <a:pt x="5584952" y="2095642"/>
                  </a:lnTo>
                  <a:lnTo>
                    <a:pt x="5559552" y="2095642"/>
                  </a:lnTo>
                  <a:lnTo>
                    <a:pt x="5559552" y="13901"/>
                  </a:lnTo>
                  <a:lnTo>
                    <a:pt x="5584952" y="13901"/>
                  </a:lnTo>
                  <a:lnTo>
                    <a:pt x="5584952" y="27801"/>
                  </a:lnTo>
                  <a:lnTo>
                    <a:pt x="25400" y="27801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12064" y="8256601"/>
            <a:ext cx="4169664" cy="960537"/>
            <a:chOff x="0" y="0"/>
            <a:chExt cx="5559552" cy="1280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59552" cy="1280716"/>
            </a:xfrm>
            <a:custGeom>
              <a:avLst/>
              <a:gdLst/>
              <a:ahLst/>
              <a:cxnLst/>
              <a:rect r="r" b="b" t="t" l="l"/>
              <a:pathLst>
                <a:path h="128071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8" r="0" b="-4550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5559552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~88%/88%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8368" y="8937171"/>
            <a:ext cx="3877056" cy="689149"/>
            <a:chOff x="0" y="0"/>
            <a:chExt cx="5169408" cy="91886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69408" cy="918865"/>
            </a:xfrm>
            <a:custGeom>
              <a:avLst/>
              <a:gdLst/>
              <a:ahLst/>
              <a:cxnLst/>
              <a:rect r="r" b="b" t="t" l="l"/>
              <a:pathLst>
                <a:path h="918865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8" r="0" b="-892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69408" cy="95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1 mean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(Val / Aro)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18710" y="8166109"/>
            <a:ext cx="4207764" cy="1582157"/>
            <a:chOff x="0" y="0"/>
            <a:chExt cx="5610352" cy="21095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13901"/>
              <a:ext cx="5559552" cy="2081742"/>
            </a:xfrm>
            <a:custGeom>
              <a:avLst/>
              <a:gdLst/>
              <a:ahLst/>
              <a:cxnLst/>
              <a:rect r="r" b="b" t="t" l="l"/>
              <a:pathLst>
                <a:path h="208174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081741"/>
                  </a:lnTo>
                  <a:lnTo>
                    <a:pt x="0" y="2081741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10352" cy="2109543"/>
            </a:xfrm>
            <a:custGeom>
              <a:avLst/>
              <a:gdLst/>
              <a:ahLst/>
              <a:cxnLst/>
              <a:rect r="r" b="b" t="t" l="l"/>
              <a:pathLst>
                <a:path h="2109543" w="5610352">
                  <a:moveTo>
                    <a:pt x="25400" y="0"/>
                  </a:moveTo>
                  <a:lnTo>
                    <a:pt x="5584952" y="0"/>
                  </a:lnTo>
                  <a:cubicBezTo>
                    <a:pt x="5598922" y="0"/>
                    <a:pt x="5610352" y="6255"/>
                    <a:pt x="5610352" y="13901"/>
                  </a:cubicBezTo>
                  <a:lnTo>
                    <a:pt x="5610352" y="2095642"/>
                  </a:lnTo>
                  <a:cubicBezTo>
                    <a:pt x="5610352" y="2103288"/>
                    <a:pt x="5598922" y="2109543"/>
                    <a:pt x="5584952" y="2109543"/>
                  </a:cubicBezTo>
                  <a:lnTo>
                    <a:pt x="25400" y="2109543"/>
                  </a:lnTo>
                  <a:cubicBezTo>
                    <a:pt x="11430" y="2109543"/>
                    <a:pt x="0" y="2103288"/>
                    <a:pt x="0" y="2095642"/>
                  </a:cubicBezTo>
                  <a:lnTo>
                    <a:pt x="0" y="13901"/>
                  </a:lnTo>
                  <a:cubicBezTo>
                    <a:pt x="0" y="6255"/>
                    <a:pt x="11430" y="0"/>
                    <a:pt x="25400" y="0"/>
                  </a:cubicBezTo>
                  <a:moveTo>
                    <a:pt x="25400" y="27801"/>
                  </a:moveTo>
                  <a:lnTo>
                    <a:pt x="25400" y="13901"/>
                  </a:lnTo>
                  <a:lnTo>
                    <a:pt x="50800" y="13901"/>
                  </a:lnTo>
                  <a:lnTo>
                    <a:pt x="50800" y="2095642"/>
                  </a:lnTo>
                  <a:lnTo>
                    <a:pt x="25400" y="2095642"/>
                  </a:lnTo>
                  <a:lnTo>
                    <a:pt x="25400" y="2081742"/>
                  </a:lnTo>
                  <a:lnTo>
                    <a:pt x="5584952" y="2081742"/>
                  </a:lnTo>
                  <a:lnTo>
                    <a:pt x="5584952" y="2095642"/>
                  </a:lnTo>
                  <a:lnTo>
                    <a:pt x="5559552" y="2095642"/>
                  </a:lnTo>
                  <a:lnTo>
                    <a:pt x="5559552" y="13901"/>
                  </a:lnTo>
                  <a:lnTo>
                    <a:pt x="5584952" y="13901"/>
                  </a:lnTo>
                  <a:lnTo>
                    <a:pt x="5584952" y="27801"/>
                  </a:lnTo>
                  <a:lnTo>
                    <a:pt x="25400" y="27801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937760" y="8256601"/>
            <a:ext cx="4169664" cy="960537"/>
            <a:chOff x="0" y="0"/>
            <a:chExt cx="5559552" cy="12807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559552" cy="1280716"/>
            </a:xfrm>
            <a:custGeom>
              <a:avLst/>
              <a:gdLst/>
              <a:ahLst/>
              <a:cxnLst/>
              <a:rect r="r" b="b" t="t" l="l"/>
              <a:pathLst>
                <a:path h="128071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8" r="0" b="-455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5559552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~98%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84064" y="8937171"/>
            <a:ext cx="3877056" cy="689149"/>
            <a:chOff x="0" y="0"/>
            <a:chExt cx="5169408" cy="9188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69408" cy="918865"/>
            </a:xfrm>
            <a:custGeom>
              <a:avLst/>
              <a:gdLst/>
              <a:ahLst/>
              <a:cxnLst/>
              <a:rect r="r" b="b" t="t" l="l"/>
              <a:pathLst>
                <a:path h="918865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8" r="0" b="-8923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169408" cy="95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Paper benchmark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44406" y="8166109"/>
            <a:ext cx="4207764" cy="1582157"/>
            <a:chOff x="0" y="0"/>
            <a:chExt cx="5610352" cy="210954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13901"/>
              <a:ext cx="5559552" cy="2081742"/>
            </a:xfrm>
            <a:custGeom>
              <a:avLst/>
              <a:gdLst/>
              <a:ahLst/>
              <a:cxnLst/>
              <a:rect r="r" b="b" t="t" l="l"/>
              <a:pathLst>
                <a:path h="208174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081741"/>
                  </a:lnTo>
                  <a:lnTo>
                    <a:pt x="0" y="2081741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10352" cy="2109543"/>
            </a:xfrm>
            <a:custGeom>
              <a:avLst/>
              <a:gdLst/>
              <a:ahLst/>
              <a:cxnLst/>
              <a:rect r="r" b="b" t="t" l="l"/>
              <a:pathLst>
                <a:path h="2109543" w="5610352">
                  <a:moveTo>
                    <a:pt x="25400" y="0"/>
                  </a:moveTo>
                  <a:lnTo>
                    <a:pt x="5584952" y="0"/>
                  </a:lnTo>
                  <a:cubicBezTo>
                    <a:pt x="5598922" y="0"/>
                    <a:pt x="5610352" y="6255"/>
                    <a:pt x="5610352" y="13901"/>
                  </a:cubicBezTo>
                  <a:lnTo>
                    <a:pt x="5610352" y="2095642"/>
                  </a:lnTo>
                  <a:cubicBezTo>
                    <a:pt x="5610352" y="2103288"/>
                    <a:pt x="5598922" y="2109543"/>
                    <a:pt x="5584952" y="2109543"/>
                  </a:cubicBezTo>
                  <a:lnTo>
                    <a:pt x="25400" y="2109543"/>
                  </a:lnTo>
                  <a:cubicBezTo>
                    <a:pt x="11430" y="2109543"/>
                    <a:pt x="0" y="2103288"/>
                    <a:pt x="0" y="2095642"/>
                  </a:cubicBezTo>
                  <a:lnTo>
                    <a:pt x="0" y="13901"/>
                  </a:lnTo>
                  <a:cubicBezTo>
                    <a:pt x="0" y="6255"/>
                    <a:pt x="11430" y="0"/>
                    <a:pt x="25400" y="0"/>
                  </a:cubicBezTo>
                  <a:moveTo>
                    <a:pt x="25400" y="27801"/>
                  </a:moveTo>
                  <a:lnTo>
                    <a:pt x="25400" y="13901"/>
                  </a:lnTo>
                  <a:lnTo>
                    <a:pt x="50800" y="13901"/>
                  </a:lnTo>
                  <a:lnTo>
                    <a:pt x="50800" y="2095642"/>
                  </a:lnTo>
                  <a:lnTo>
                    <a:pt x="25400" y="2095642"/>
                  </a:lnTo>
                  <a:lnTo>
                    <a:pt x="25400" y="2081742"/>
                  </a:lnTo>
                  <a:lnTo>
                    <a:pt x="5584952" y="2081742"/>
                  </a:lnTo>
                  <a:lnTo>
                    <a:pt x="5584952" y="2095642"/>
                  </a:lnTo>
                  <a:lnTo>
                    <a:pt x="5559552" y="2095642"/>
                  </a:lnTo>
                  <a:lnTo>
                    <a:pt x="5559552" y="13901"/>
                  </a:lnTo>
                  <a:lnTo>
                    <a:pt x="5584952" y="13901"/>
                  </a:lnTo>
                  <a:lnTo>
                    <a:pt x="5584952" y="27801"/>
                  </a:lnTo>
                  <a:lnTo>
                    <a:pt x="25400" y="27801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63456" y="8256601"/>
            <a:ext cx="4169664" cy="960537"/>
            <a:chOff x="0" y="0"/>
            <a:chExt cx="5559552" cy="12807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59552" cy="1280716"/>
            </a:xfrm>
            <a:custGeom>
              <a:avLst/>
              <a:gdLst/>
              <a:ahLst/>
              <a:cxnLst/>
              <a:rect r="r" b="b" t="t" l="l"/>
              <a:pathLst>
                <a:path h="128071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8" r="0" b="-4550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5559552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54.5%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09760" y="8937171"/>
            <a:ext cx="3877056" cy="689149"/>
            <a:chOff x="0" y="0"/>
            <a:chExt cx="5169408" cy="91886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69408" cy="918865"/>
            </a:xfrm>
            <a:custGeom>
              <a:avLst/>
              <a:gdLst/>
              <a:ahLst/>
              <a:cxnLst/>
              <a:rect r="r" b="b" t="t" l="l"/>
              <a:pathLst>
                <a:path h="918865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8" r="0" b="-8923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169408" cy="95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Naive LOSO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valence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70102" y="8166109"/>
            <a:ext cx="4207764" cy="1582157"/>
            <a:chOff x="0" y="0"/>
            <a:chExt cx="5610352" cy="210954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13901"/>
              <a:ext cx="5559552" cy="2081742"/>
            </a:xfrm>
            <a:custGeom>
              <a:avLst/>
              <a:gdLst/>
              <a:ahLst/>
              <a:cxnLst/>
              <a:rect r="r" b="b" t="t" l="l"/>
              <a:pathLst>
                <a:path h="208174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2081741"/>
                  </a:lnTo>
                  <a:lnTo>
                    <a:pt x="0" y="2081741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10352" cy="2109543"/>
            </a:xfrm>
            <a:custGeom>
              <a:avLst/>
              <a:gdLst/>
              <a:ahLst/>
              <a:cxnLst/>
              <a:rect r="r" b="b" t="t" l="l"/>
              <a:pathLst>
                <a:path h="2109543" w="5610352">
                  <a:moveTo>
                    <a:pt x="25400" y="0"/>
                  </a:moveTo>
                  <a:lnTo>
                    <a:pt x="5584952" y="0"/>
                  </a:lnTo>
                  <a:cubicBezTo>
                    <a:pt x="5598922" y="0"/>
                    <a:pt x="5610352" y="6255"/>
                    <a:pt x="5610352" y="13901"/>
                  </a:cubicBezTo>
                  <a:lnTo>
                    <a:pt x="5610352" y="2095642"/>
                  </a:lnTo>
                  <a:cubicBezTo>
                    <a:pt x="5610352" y="2103288"/>
                    <a:pt x="5598922" y="2109543"/>
                    <a:pt x="5584952" y="2109543"/>
                  </a:cubicBezTo>
                  <a:lnTo>
                    <a:pt x="25400" y="2109543"/>
                  </a:lnTo>
                  <a:cubicBezTo>
                    <a:pt x="11430" y="2109543"/>
                    <a:pt x="0" y="2103288"/>
                    <a:pt x="0" y="2095642"/>
                  </a:cubicBezTo>
                  <a:lnTo>
                    <a:pt x="0" y="13901"/>
                  </a:lnTo>
                  <a:cubicBezTo>
                    <a:pt x="0" y="6255"/>
                    <a:pt x="11430" y="0"/>
                    <a:pt x="25400" y="0"/>
                  </a:cubicBezTo>
                  <a:moveTo>
                    <a:pt x="25400" y="27801"/>
                  </a:moveTo>
                  <a:lnTo>
                    <a:pt x="25400" y="13901"/>
                  </a:lnTo>
                  <a:lnTo>
                    <a:pt x="50800" y="13901"/>
                  </a:lnTo>
                  <a:lnTo>
                    <a:pt x="50800" y="2095642"/>
                  </a:lnTo>
                  <a:lnTo>
                    <a:pt x="25400" y="2095642"/>
                  </a:lnTo>
                  <a:lnTo>
                    <a:pt x="25400" y="2081742"/>
                  </a:lnTo>
                  <a:lnTo>
                    <a:pt x="5584952" y="2081742"/>
                  </a:lnTo>
                  <a:lnTo>
                    <a:pt x="5584952" y="2095642"/>
                  </a:lnTo>
                  <a:lnTo>
                    <a:pt x="5559552" y="2095642"/>
                  </a:lnTo>
                  <a:lnTo>
                    <a:pt x="5559552" y="13901"/>
                  </a:lnTo>
                  <a:lnTo>
                    <a:pt x="5584952" y="13901"/>
                  </a:lnTo>
                  <a:lnTo>
                    <a:pt x="5584952" y="27801"/>
                  </a:lnTo>
                  <a:lnTo>
                    <a:pt x="25400" y="27801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89152" y="8256601"/>
            <a:ext cx="4169664" cy="960537"/>
            <a:chOff x="0" y="0"/>
            <a:chExt cx="5559552" cy="12807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559552" cy="1280716"/>
            </a:xfrm>
            <a:custGeom>
              <a:avLst/>
              <a:gdLst/>
              <a:ahLst/>
              <a:cxnLst/>
              <a:rect r="r" b="b" t="t" l="l"/>
              <a:pathLst>
                <a:path h="128071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8" r="0" b="-455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85725"/>
              <a:ext cx="5559552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56.0%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935456" y="8937171"/>
            <a:ext cx="3877056" cy="689149"/>
            <a:chOff x="0" y="0"/>
            <a:chExt cx="5169408" cy="9188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69408" cy="918865"/>
            </a:xfrm>
            <a:custGeom>
              <a:avLst/>
              <a:gdLst/>
              <a:ahLst/>
              <a:cxnLst/>
              <a:rect r="r" b="b" t="t" l="l"/>
              <a:pathLst>
                <a:path h="918865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08" r="0" b="-8923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169408" cy="95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Naive LOSO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arousal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DEAP Enhanced Results: Full Domain Adaptation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663446"/>
            <a:ext cx="13492071" cy="6987540"/>
            <a:chOff x="0" y="0"/>
            <a:chExt cx="17989428" cy="9316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338" y="25400"/>
              <a:ext cx="1792275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7922750">
                  <a:moveTo>
                    <a:pt x="0" y="0"/>
                  </a:moveTo>
                  <a:lnTo>
                    <a:pt x="17922750" y="0"/>
                  </a:lnTo>
                  <a:lnTo>
                    <a:pt x="17922750" y="9265920"/>
                  </a:lnTo>
                  <a:lnTo>
                    <a:pt x="0" y="9265920"/>
                  </a:lnTo>
                  <a:close/>
                </a:path>
              </a:pathLst>
            </a:custGeom>
            <a:blipFill>
              <a:blip r:embed="rId4"/>
              <a:stretch>
                <a:fillRect l="0" t="-3675" r="-99999" b="-367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989428" cy="9316720"/>
            </a:xfrm>
            <a:custGeom>
              <a:avLst/>
              <a:gdLst/>
              <a:ahLst/>
              <a:cxnLst/>
              <a:rect r="r" b="b" t="t" l="l"/>
              <a:pathLst>
                <a:path h="9316720" w="17989428">
                  <a:moveTo>
                    <a:pt x="33338" y="0"/>
                  </a:moveTo>
                  <a:lnTo>
                    <a:pt x="17956088" y="0"/>
                  </a:lnTo>
                  <a:cubicBezTo>
                    <a:pt x="17974424" y="0"/>
                    <a:pt x="17989428" y="11430"/>
                    <a:pt x="17989428" y="25400"/>
                  </a:cubicBezTo>
                  <a:lnTo>
                    <a:pt x="17989428" y="9291320"/>
                  </a:lnTo>
                  <a:cubicBezTo>
                    <a:pt x="17989428" y="9305289"/>
                    <a:pt x="17974424" y="9316720"/>
                    <a:pt x="17956088" y="9316720"/>
                  </a:cubicBezTo>
                  <a:lnTo>
                    <a:pt x="33338" y="9316720"/>
                  </a:lnTo>
                  <a:cubicBezTo>
                    <a:pt x="15002" y="9316720"/>
                    <a:pt x="0" y="9305289"/>
                    <a:pt x="0" y="9291320"/>
                  </a:cubicBezTo>
                  <a:lnTo>
                    <a:pt x="0" y="25400"/>
                  </a:lnTo>
                  <a:cubicBezTo>
                    <a:pt x="0" y="11430"/>
                    <a:pt x="15002" y="0"/>
                    <a:pt x="33338" y="0"/>
                  </a:cubicBezTo>
                  <a:moveTo>
                    <a:pt x="33338" y="50800"/>
                  </a:moveTo>
                  <a:lnTo>
                    <a:pt x="33338" y="25400"/>
                  </a:lnTo>
                  <a:lnTo>
                    <a:pt x="66677" y="25400"/>
                  </a:lnTo>
                  <a:lnTo>
                    <a:pt x="66677" y="9291320"/>
                  </a:lnTo>
                  <a:lnTo>
                    <a:pt x="33338" y="9291320"/>
                  </a:lnTo>
                  <a:lnTo>
                    <a:pt x="33338" y="9265920"/>
                  </a:lnTo>
                  <a:lnTo>
                    <a:pt x="17956088" y="9265920"/>
                  </a:lnTo>
                  <a:lnTo>
                    <a:pt x="17956088" y="9291320"/>
                  </a:lnTo>
                  <a:lnTo>
                    <a:pt x="17922751" y="9291320"/>
                  </a:lnTo>
                  <a:lnTo>
                    <a:pt x="17922751" y="25400"/>
                  </a:lnTo>
                  <a:lnTo>
                    <a:pt x="17956088" y="25400"/>
                  </a:lnTo>
                  <a:lnTo>
                    <a:pt x="17956088" y="50800"/>
                  </a:lnTo>
                  <a:lnTo>
                    <a:pt x="33338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11197620" cy="720347"/>
            <a:chOff x="0" y="0"/>
            <a:chExt cx="14930160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423" y="16891"/>
              <a:ext cx="14893216" cy="926592"/>
            </a:xfrm>
            <a:custGeom>
              <a:avLst/>
              <a:gdLst/>
              <a:ahLst/>
              <a:cxnLst/>
              <a:rect r="r" b="b" t="t" l="l"/>
              <a:pathLst>
                <a:path h="926592" w="14893216">
                  <a:moveTo>
                    <a:pt x="0" y="0"/>
                  </a:moveTo>
                  <a:lnTo>
                    <a:pt x="14893216" y="0"/>
                  </a:lnTo>
                  <a:lnTo>
                    <a:pt x="14893216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30062" cy="960376"/>
            </a:xfrm>
            <a:custGeom>
              <a:avLst/>
              <a:gdLst/>
              <a:ahLst/>
              <a:cxnLst/>
              <a:rect r="r" b="b" t="t" l="l"/>
              <a:pathLst>
                <a:path h="960376" w="14930062">
                  <a:moveTo>
                    <a:pt x="18423" y="0"/>
                  </a:moveTo>
                  <a:lnTo>
                    <a:pt x="14911639" y="0"/>
                  </a:lnTo>
                  <a:cubicBezTo>
                    <a:pt x="14921891" y="0"/>
                    <a:pt x="14930062" y="7620"/>
                    <a:pt x="14930062" y="16891"/>
                  </a:cubicBezTo>
                  <a:lnTo>
                    <a:pt x="14930062" y="943483"/>
                  </a:lnTo>
                  <a:cubicBezTo>
                    <a:pt x="14930062" y="952881"/>
                    <a:pt x="14921753" y="960374"/>
                    <a:pt x="14911639" y="960374"/>
                  </a:cubicBezTo>
                  <a:lnTo>
                    <a:pt x="18423" y="960374"/>
                  </a:lnTo>
                  <a:cubicBezTo>
                    <a:pt x="8311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8311" y="0"/>
                    <a:pt x="18423" y="0"/>
                  </a:cubicBezTo>
                  <a:moveTo>
                    <a:pt x="18423" y="33909"/>
                  </a:moveTo>
                  <a:lnTo>
                    <a:pt x="18423" y="16891"/>
                  </a:lnTo>
                  <a:lnTo>
                    <a:pt x="36984" y="16891"/>
                  </a:lnTo>
                  <a:lnTo>
                    <a:pt x="36984" y="943483"/>
                  </a:lnTo>
                  <a:lnTo>
                    <a:pt x="18423" y="943483"/>
                  </a:lnTo>
                  <a:lnTo>
                    <a:pt x="18423" y="926592"/>
                  </a:lnTo>
                  <a:lnTo>
                    <a:pt x="14911639" y="926592"/>
                  </a:lnTo>
                  <a:lnTo>
                    <a:pt x="14911639" y="943483"/>
                  </a:lnTo>
                  <a:lnTo>
                    <a:pt x="14893217" y="943483"/>
                  </a:lnTo>
                  <a:lnTo>
                    <a:pt x="14893217" y="16891"/>
                  </a:lnTo>
                  <a:lnTo>
                    <a:pt x="14911639" y="16891"/>
                  </a:lnTo>
                  <a:lnTo>
                    <a:pt x="14911639" y="33909"/>
                  </a:lnTo>
                  <a:lnTo>
                    <a:pt x="18423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682496"/>
            <a:ext cx="11184923" cy="694944"/>
            <a:chOff x="0" y="0"/>
            <a:chExt cx="14913231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13229" cy="926592"/>
            </a:xfrm>
            <a:custGeom>
              <a:avLst/>
              <a:gdLst/>
              <a:ahLst/>
              <a:cxnLst/>
              <a:rect r="r" b="b" t="t" l="l"/>
              <a:pathLst>
                <a:path h="926592" w="14913229">
                  <a:moveTo>
                    <a:pt x="0" y="0"/>
                  </a:moveTo>
                  <a:lnTo>
                    <a:pt x="14913229" y="0"/>
                  </a:lnTo>
                  <a:lnTo>
                    <a:pt x="1491322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147" r="8436" b="-23714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913231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IMPROVED — Enhanced LOSO (30 subjects)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10209" y="1663446"/>
            <a:ext cx="3831081" cy="8267700"/>
            <a:chOff x="0" y="0"/>
            <a:chExt cx="5108108" cy="110236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108108" cy="3415792"/>
              <a:chOff x="0" y="0"/>
              <a:chExt cx="5108108" cy="341579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4224" y="25400"/>
                <a:ext cx="5079660" cy="3364992"/>
              </a:xfrm>
              <a:custGeom>
                <a:avLst/>
                <a:gdLst/>
                <a:ahLst/>
                <a:cxnLst/>
                <a:rect r="r" b="b" t="t" l="l"/>
                <a:pathLst>
                  <a:path h="3364992" w="5079660">
                    <a:moveTo>
                      <a:pt x="0" y="0"/>
                    </a:moveTo>
                    <a:lnTo>
                      <a:pt x="5079660" y="0"/>
                    </a:lnTo>
                    <a:lnTo>
                      <a:pt x="5079660" y="3364992"/>
                    </a:lnTo>
                    <a:lnTo>
                      <a:pt x="0" y="3364992"/>
                    </a:lnTo>
                    <a:close/>
                  </a:path>
                </a:pathLst>
              </a:custGeom>
              <a:solidFill>
                <a:srgbClr val="0F2040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108108" cy="3415792"/>
              </a:xfrm>
              <a:custGeom>
                <a:avLst/>
                <a:gdLst/>
                <a:ahLst/>
                <a:cxnLst/>
                <a:rect r="r" b="b" t="t" l="l"/>
                <a:pathLst>
                  <a:path h="3415792" w="5108108">
                    <a:moveTo>
                      <a:pt x="14224" y="0"/>
                    </a:moveTo>
                    <a:lnTo>
                      <a:pt x="5093884" y="0"/>
                    </a:lnTo>
                    <a:cubicBezTo>
                      <a:pt x="5101707" y="0"/>
                      <a:pt x="5108108" y="11430"/>
                      <a:pt x="5108108" y="25400"/>
                    </a:cubicBezTo>
                    <a:lnTo>
                      <a:pt x="5108108" y="3390392"/>
                    </a:lnTo>
                    <a:cubicBezTo>
                      <a:pt x="5108108" y="3404362"/>
                      <a:pt x="5101707" y="3415792"/>
                      <a:pt x="5093884" y="3415792"/>
                    </a:cubicBezTo>
                    <a:lnTo>
                      <a:pt x="14224" y="3415792"/>
                    </a:lnTo>
                    <a:cubicBezTo>
                      <a:pt x="6401" y="3415792"/>
                      <a:pt x="0" y="3404362"/>
                      <a:pt x="0" y="3390392"/>
                    </a:cubicBezTo>
                    <a:lnTo>
                      <a:pt x="0" y="25400"/>
                    </a:lnTo>
                    <a:cubicBezTo>
                      <a:pt x="0" y="11430"/>
                      <a:pt x="6401" y="0"/>
                      <a:pt x="14224" y="0"/>
                    </a:cubicBezTo>
                    <a:moveTo>
                      <a:pt x="14224" y="50800"/>
                    </a:moveTo>
                    <a:lnTo>
                      <a:pt x="14224" y="25400"/>
                    </a:lnTo>
                    <a:lnTo>
                      <a:pt x="28448" y="25400"/>
                    </a:lnTo>
                    <a:lnTo>
                      <a:pt x="28448" y="3390392"/>
                    </a:lnTo>
                    <a:lnTo>
                      <a:pt x="14224" y="3390392"/>
                    </a:lnTo>
                    <a:lnTo>
                      <a:pt x="14224" y="3364992"/>
                    </a:lnTo>
                    <a:lnTo>
                      <a:pt x="5093884" y="3364992"/>
                    </a:lnTo>
                    <a:lnTo>
                      <a:pt x="5093884" y="3390392"/>
                    </a:lnTo>
                    <a:lnTo>
                      <a:pt x="5079660" y="3390392"/>
                    </a:lnTo>
                    <a:lnTo>
                      <a:pt x="5079660" y="25400"/>
                    </a:lnTo>
                    <a:lnTo>
                      <a:pt x="5093884" y="25400"/>
                    </a:lnTo>
                    <a:lnTo>
                      <a:pt x="5093884" y="50800"/>
                    </a:lnTo>
                    <a:lnTo>
                      <a:pt x="14224" y="50800"/>
                    </a:lnTo>
                    <a:close/>
                  </a:path>
                </a:pathLst>
              </a:custGeom>
              <a:solidFill>
                <a:srgbClr val="00C9B1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4744" y="8471"/>
              <a:ext cx="155518" cy="3398863"/>
              <a:chOff x="0" y="0"/>
              <a:chExt cx="155518" cy="33988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9459" y="16891"/>
                <a:ext cx="136550" cy="3364992"/>
              </a:xfrm>
              <a:custGeom>
                <a:avLst/>
                <a:gdLst/>
                <a:ahLst/>
                <a:cxnLst/>
                <a:rect r="r" b="b" t="t" l="l"/>
                <a:pathLst>
                  <a:path h="3364992" w="136550">
                    <a:moveTo>
                      <a:pt x="0" y="0"/>
                    </a:moveTo>
                    <a:lnTo>
                      <a:pt x="136550" y="0"/>
                    </a:lnTo>
                    <a:lnTo>
                      <a:pt x="136550" y="3364992"/>
                    </a:lnTo>
                    <a:lnTo>
                      <a:pt x="0" y="3364992"/>
                    </a:lnTo>
                    <a:close/>
                  </a:path>
                </a:pathLst>
              </a:custGeom>
              <a:solidFill>
                <a:srgbClr val="00C9B1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5468" cy="3398774"/>
              </a:xfrm>
              <a:custGeom>
                <a:avLst/>
                <a:gdLst/>
                <a:ahLst/>
                <a:cxnLst/>
                <a:rect r="r" b="b" t="t" l="l"/>
                <a:pathLst>
                  <a:path h="3398774" w="155468">
                    <a:moveTo>
                      <a:pt x="9459" y="0"/>
                    </a:moveTo>
                    <a:lnTo>
                      <a:pt x="146009" y="0"/>
                    </a:lnTo>
                    <a:cubicBezTo>
                      <a:pt x="151272" y="0"/>
                      <a:pt x="155468" y="7620"/>
                      <a:pt x="155468" y="16891"/>
                    </a:cubicBezTo>
                    <a:lnTo>
                      <a:pt x="155468" y="3381883"/>
                    </a:lnTo>
                    <a:cubicBezTo>
                      <a:pt x="155468" y="3391281"/>
                      <a:pt x="151201" y="3398774"/>
                      <a:pt x="146009" y="3398774"/>
                    </a:cubicBezTo>
                    <a:lnTo>
                      <a:pt x="9459" y="3398774"/>
                    </a:lnTo>
                    <a:cubicBezTo>
                      <a:pt x="4196" y="3398774"/>
                      <a:pt x="0" y="3391154"/>
                      <a:pt x="0" y="3381883"/>
                    </a:cubicBezTo>
                    <a:lnTo>
                      <a:pt x="0" y="16891"/>
                    </a:lnTo>
                    <a:cubicBezTo>
                      <a:pt x="0" y="7620"/>
                      <a:pt x="4267" y="0"/>
                      <a:pt x="9459" y="0"/>
                    </a:cubicBezTo>
                    <a:moveTo>
                      <a:pt x="9459" y="33909"/>
                    </a:moveTo>
                    <a:lnTo>
                      <a:pt x="9459" y="16891"/>
                    </a:lnTo>
                    <a:lnTo>
                      <a:pt x="18989" y="16891"/>
                    </a:lnTo>
                    <a:lnTo>
                      <a:pt x="18989" y="3381883"/>
                    </a:lnTo>
                    <a:lnTo>
                      <a:pt x="9459" y="3381883"/>
                    </a:lnTo>
                    <a:lnTo>
                      <a:pt x="9459" y="3364992"/>
                    </a:lnTo>
                    <a:lnTo>
                      <a:pt x="146009" y="3364992"/>
                    </a:lnTo>
                    <a:lnTo>
                      <a:pt x="146009" y="3381883"/>
                    </a:lnTo>
                    <a:lnTo>
                      <a:pt x="136550" y="3381883"/>
                    </a:lnTo>
                    <a:lnTo>
                      <a:pt x="136550" y="16891"/>
                    </a:lnTo>
                    <a:lnTo>
                      <a:pt x="146009" y="16891"/>
                    </a:lnTo>
                    <a:lnTo>
                      <a:pt x="146009" y="33909"/>
                    </a:lnTo>
                    <a:lnTo>
                      <a:pt x="9459" y="33909"/>
                    </a:lnTo>
                    <a:close/>
                  </a:path>
                </a:pathLst>
              </a:custGeom>
              <a:solidFill>
                <a:srgbClr val="00C9B1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87324" y="171704"/>
              <a:ext cx="4670010" cy="1365504"/>
              <a:chOff x="0" y="0"/>
              <a:chExt cx="4670010" cy="13655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670010" cy="1365504"/>
              </a:xfrm>
              <a:custGeom>
                <a:avLst/>
                <a:gdLst/>
                <a:ahLst/>
                <a:cxnLst/>
                <a:rect r="r" b="b" t="t" l="l"/>
                <a:pathLst>
                  <a:path h="1365504" w="4670010">
                    <a:moveTo>
                      <a:pt x="0" y="0"/>
                    </a:moveTo>
                    <a:lnTo>
                      <a:pt x="4670010" y="0"/>
                    </a:lnTo>
                    <a:lnTo>
                      <a:pt x="4670010" y="1365504"/>
                    </a:lnTo>
                    <a:lnTo>
                      <a:pt x="0" y="13655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997" r="-78571" b="-68997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4670010" cy="14417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00C9B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56.22%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87324" y="1585976"/>
              <a:ext cx="3004100" cy="1414272"/>
              <a:chOff x="0" y="0"/>
              <a:chExt cx="3004100" cy="141427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0041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3004100">
                    <a:moveTo>
                      <a:pt x="0" y="0"/>
                    </a:moveTo>
                    <a:lnTo>
                      <a:pt x="3004100" y="0"/>
                    </a:lnTo>
                    <a:lnTo>
                      <a:pt x="30041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908" r="-78571" b="-23908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00410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Mean Valence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(σ = 5.11%)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291424" y="1634744"/>
              <a:ext cx="1693220" cy="1170432"/>
              <a:chOff x="0" y="0"/>
              <a:chExt cx="1693220" cy="117043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6932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1693220">
                    <a:moveTo>
                      <a:pt x="0" y="0"/>
                    </a:moveTo>
                    <a:lnTo>
                      <a:pt x="1693220" y="0"/>
                    </a:lnTo>
                    <a:lnTo>
                      <a:pt x="16932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6" r="-78571" b="-336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1693220" cy="12275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0C9B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+1.70 pp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3803904"/>
              <a:ext cx="5108108" cy="3415792"/>
              <a:chOff x="0" y="0"/>
              <a:chExt cx="5108108" cy="341579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4224" y="25400"/>
                <a:ext cx="5079660" cy="3364992"/>
              </a:xfrm>
              <a:custGeom>
                <a:avLst/>
                <a:gdLst/>
                <a:ahLst/>
                <a:cxnLst/>
                <a:rect r="r" b="b" t="t" l="l"/>
                <a:pathLst>
                  <a:path h="3364992" w="5079660">
                    <a:moveTo>
                      <a:pt x="0" y="0"/>
                    </a:moveTo>
                    <a:lnTo>
                      <a:pt x="5079660" y="0"/>
                    </a:lnTo>
                    <a:lnTo>
                      <a:pt x="5079660" y="3364992"/>
                    </a:lnTo>
                    <a:lnTo>
                      <a:pt x="0" y="3364992"/>
                    </a:lnTo>
                    <a:close/>
                  </a:path>
                </a:pathLst>
              </a:custGeom>
              <a:solidFill>
                <a:srgbClr val="0F2040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108108" cy="3415792"/>
              </a:xfrm>
              <a:custGeom>
                <a:avLst/>
                <a:gdLst/>
                <a:ahLst/>
                <a:cxnLst/>
                <a:rect r="r" b="b" t="t" l="l"/>
                <a:pathLst>
                  <a:path h="3415792" w="5108108">
                    <a:moveTo>
                      <a:pt x="14224" y="0"/>
                    </a:moveTo>
                    <a:lnTo>
                      <a:pt x="5093884" y="0"/>
                    </a:lnTo>
                    <a:cubicBezTo>
                      <a:pt x="5101707" y="0"/>
                      <a:pt x="5108108" y="11430"/>
                      <a:pt x="5108108" y="25400"/>
                    </a:cubicBezTo>
                    <a:lnTo>
                      <a:pt x="5108108" y="3390392"/>
                    </a:lnTo>
                    <a:cubicBezTo>
                      <a:pt x="5108108" y="3404362"/>
                      <a:pt x="5101707" y="3415792"/>
                      <a:pt x="5093884" y="3415792"/>
                    </a:cubicBezTo>
                    <a:lnTo>
                      <a:pt x="14224" y="3415792"/>
                    </a:lnTo>
                    <a:cubicBezTo>
                      <a:pt x="6401" y="3415792"/>
                      <a:pt x="0" y="3404362"/>
                      <a:pt x="0" y="3390392"/>
                    </a:cubicBezTo>
                    <a:lnTo>
                      <a:pt x="0" y="25400"/>
                    </a:lnTo>
                    <a:cubicBezTo>
                      <a:pt x="0" y="11430"/>
                      <a:pt x="6401" y="0"/>
                      <a:pt x="14224" y="0"/>
                    </a:cubicBezTo>
                    <a:moveTo>
                      <a:pt x="14224" y="50800"/>
                    </a:moveTo>
                    <a:lnTo>
                      <a:pt x="14224" y="25400"/>
                    </a:lnTo>
                    <a:lnTo>
                      <a:pt x="28448" y="25400"/>
                    </a:lnTo>
                    <a:lnTo>
                      <a:pt x="28448" y="3390392"/>
                    </a:lnTo>
                    <a:lnTo>
                      <a:pt x="14224" y="3390392"/>
                    </a:lnTo>
                    <a:lnTo>
                      <a:pt x="14224" y="3364992"/>
                    </a:lnTo>
                    <a:lnTo>
                      <a:pt x="5093884" y="3364992"/>
                    </a:lnTo>
                    <a:lnTo>
                      <a:pt x="5093884" y="3390392"/>
                    </a:lnTo>
                    <a:lnTo>
                      <a:pt x="5079660" y="3390392"/>
                    </a:lnTo>
                    <a:lnTo>
                      <a:pt x="5079660" y="25400"/>
                    </a:lnTo>
                    <a:lnTo>
                      <a:pt x="5093884" y="25400"/>
                    </a:lnTo>
                    <a:lnTo>
                      <a:pt x="5093884" y="50800"/>
                    </a:lnTo>
                    <a:lnTo>
                      <a:pt x="14224" y="50800"/>
                    </a:lnTo>
                    <a:close/>
                  </a:path>
                </a:pathLst>
              </a:custGeom>
              <a:solidFill>
                <a:srgbClr val="FF7043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4744" y="3812375"/>
              <a:ext cx="155518" cy="3398863"/>
              <a:chOff x="0" y="0"/>
              <a:chExt cx="155518" cy="339886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9459" y="16891"/>
                <a:ext cx="136550" cy="3364992"/>
              </a:xfrm>
              <a:custGeom>
                <a:avLst/>
                <a:gdLst/>
                <a:ahLst/>
                <a:cxnLst/>
                <a:rect r="r" b="b" t="t" l="l"/>
                <a:pathLst>
                  <a:path h="3364992" w="136550">
                    <a:moveTo>
                      <a:pt x="0" y="0"/>
                    </a:moveTo>
                    <a:lnTo>
                      <a:pt x="136550" y="0"/>
                    </a:lnTo>
                    <a:lnTo>
                      <a:pt x="136550" y="3364992"/>
                    </a:lnTo>
                    <a:lnTo>
                      <a:pt x="0" y="3364992"/>
                    </a:lnTo>
                    <a:close/>
                  </a:path>
                </a:pathLst>
              </a:custGeom>
              <a:solidFill>
                <a:srgbClr val="FF7043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55468" cy="3398774"/>
              </a:xfrm>
              <a:custGeom>
                <a:avLst/>
                <a:gdLst/>
                <a:ahLst/>
                <a:cxnLst/>
                <a:rect r="r" b="b" t="t" l="l"/>
                <a:pathLst>
                  <a:path h="3398774" w="155468">
                    <a:moveTo>
                      <a:pt x="9459" y="0"/>
                    </a:moveTo>
                    <a:lnTo>
                      <a:pt x="146009" y="0"/>
                    </a:lnTo>
                    <a:cubicBezTo>
                      <a:pt x="151272" y="0"/>
                      <a:pt x="155468" y="7620"/>
                      <a:pt x="155468" y="16891"/>
                    </a:cubicBezTo>
                    <a:lnTo>
                      <a:pt x="155468" y="3381883"/>
                    </a:lnTo>
                    <a:cubicBezTo>
                      <a:pt x="155468" y="3391281"/>
                      <a:pt x="151201" y="3398774"/>
                      <a:pt x="146009" y="3398774"/>
                    </a:cubicBezTo>
                    <a:lnTo>
                      <a:pt x="9459" y="3398774"/>
                    </a:lnTo>
                    <a:cubicBezTo>
                      <a:pt x="4196" y="3398774"/>
                      <a:pt x="0" y="3391154"/>
                      <a:pt x="0" y="3381883"/>
                    </a:cubicBezTo>
                    <a:lnTo>
                      <a:pt x="0" y="16891"/>
                    </a:lnTo>
                    <a:cubicBezTo>
                      <a:pt x="0" y="7620"/>
                      <a:pt x="4267" y="0"/>
                      <a:pt x="9459" y="0"/>
                    </a:cubicBezTo>
                    <a:moveTo>
                      <a:pt x="9459" y="33909"/>
                    </a:moveTo>
                    <a:lnTo>
                      <a:pt x="9459" y="16891"/>
                    </a:lnTo>
                    <a:lnTo>
                      <a:pt x="18989" y="16891"/>
                    </a:lnTo>
                    <a:lnTo>
                      <a:pt x="18989" y="3381883"/>
                    </a:lnTo>
                    <a:lnTo>
                      <a:pt x="9459" y="3381883"/>
                    </a:lnTo>
                    <a:lnTo>
                      <a:pt x="9459" y="3364992"/>
                    </a:lnTo>
                    <a:lnTo>
                      <a:pt x="146009" y="3364992"/>
                    </a:lnTo>
                    <a:lnTo>
                      <a:pt x="146009" y="3381883"/>
                    </a:lnTo>
                    <a:lnTo>
                      <a:pt x="136550" y="3381883"/>
                    </a:lnTo>
                    <a:lnTo>
                      <a:pt x="136550" y="16891"/>
                    </a:lnTo>
                    <a:lnTo>
                      <a:pt x="146009" y="16891"/>
                    </a:lnTo>
                    <a:lnTo>
                      <a:pt x="146009" y="33909"/>
                    </a:lnTo>
                    <a:lnTo>
                      <a:pt x="9459" y="33909"/>
                    </a:lnTo>
                    <a:close/>
                  </a:path>
                </a:pathLst>
              </a:custGeom>
              <a:solidFill>
                <a:srgbClr val="FF7043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87324" y="3975608"/>
              <a:ext cx="4670010" cy="1365504"/>
              <a:chOff x="0" y="0"/>
              <a:chExt cx="4670010" cy="136550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670010" cy="1365504"/>
              </a:xfrm>
              <a:custGeom>
                <a:avLst/>
                <a:gdLst/>
                <a:ahLst/>
                <a:cxnLst/>
                <a:rect r="r" b="b" t="t" l="l"/>
                <a:pathLst>
                  <a:path h="1365504" w="4670010">
                    <a:moveTo>
                      <a:pt x="0" y="0"/>
                    </a:moveTo>
                    <a:lnTo>
                      <a:pt x="4670010" y="0"/>
                    </a:lnTo>
                    <a:lnTo>
                      <a:pt x="4670010" y="1365504"/>
                    </a:lnTo>
                    <a:lnTo>
                      <a:pt x="0" y="13655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997" r="-78571" b="-68997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76200"/>
                <a:ext cx="4670010" cy="14417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704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58.78%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87324" y="5389880"/>
              <a:ext cx="3004100" cy="1414272"/>
              <a:chOff x="0" y="0"/>
              <a:chExt cx="3004100" cy="141427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0041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3004100">
                    <a:moveTo>
                      <a:pt x="0" y="0"/>
                    </a:moveTo>
                    <a:lnTo>
                      <a:pt x="3004100" y="0"/>
                    </a:lnTo>
                    <a:lnTo>
                      <a:pt x="30041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908" r="-78571" b="-23908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300410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Mean Arousal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(σ = 9.42%)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291424" y="5438648"/>
              <a:ext cx="1693220" cy="1170432"/>
              <a:chOff x="0" y="0"/>
              <a:chExt cx="1693220" cy="117043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6932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1693220">
                    <a:moveTo>
                      <a:pt x="0" y="0"/>
                    </a:moveTo>
                    <a:lnTo>
                      <a:pt x="1693220" y="0"/>
                    </a:lnTo>
                    <a:lnTo>
                      <a:pt x="16932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36" r="-78571" b="-336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1693220" cy="12275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704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+2.75 pp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7607808"/>
              <a:ext cx="5108108" cy="3415792"/>
              <a:chOff x="0" y="0"/>
              <a:chExt cx="5108108" cy="341579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4224" y="25400"/>
                <a:ext cx="5079660" cy="3364992"/>
              </a:xfrm>
              <a:custGeom>
                <a:avLst/>
                <a:gdLst/>
                <a:ahLst/>
                <a:cxnLst/>
                <a:rect r="r" b="b" t="t" l="l"/>
                <a:pathLst>
                  <a:path h="3364992" w="5079660">
                    <a:moveTo>
                      <a:pt x="0" y="0"/>
                    </a:moveTo>
                    <a:lnTo>
                      <a:pt x="5079660" y="0"/>
                    </a:lnTo>
                    <a:lnTo>
                      <a:pt x="5079660" y="3364992"/>
                    </a:lnTo>
                    <a:lnTo>
                      <a:pt x="0" y="3364992"/>
                    </a:lnTo>
                    <a:close/>
                  </a:path>
                </a:pathLst>
              </a:custGeom>
              <a:solidFill>
                <a:srgbClr val="0F2040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108108" cy="3415792"/>
              </a:xfrm>
              <a:custGeom>
                <a:avLst/>
                <a:gdLst/>
                <a:ahLst/>
                <a:cxnLst/>
                <a:rect r="r" b="b" t="t" l="l"/>
                <a:pathLst>
                  <a:path h="3415792" w="5108108">
                    <a:moveTo>
                      <a:pt x="14224" y="0"/>
                    </a:moveTo>
                    <a:lnTo>
                      <a:pt x="5093884" y="0"/>
                    </a:lnTo>
                    <a:cubicBezTo>
                      <a:pt x="5101707" y="0"/>
                      <a:pt x="5108108" y="11430"/>
                      <a:pt x="5108108" y="25400"/>
                    </a:cubicBezTo>
                    <a:lnTo>
                      <a:pt x="5108108" y="3390392"/>
                    </a:lnTo>
                    <a:cubicBezTo>
                      <a:pt x="5108108" y="3404362"/>
                      <a:pt x="5101707" y="3415792"/>
                      <a:pt x="5093884" y="3415792"/>
                    </a:cubicBezTo>
                    <a:lnTo>
                      <a:pt x="14224" y="3415792"/>
                    </a:lnTo>
                    <a:cubicBezTo>
                      <a:pt x="6401" y="3415792"/>
                      <a:pt x="0" y="3404362"/>
                      <a:pt x="0" y="3390392"/>
                    </a:cubicBezTo>
                    <a:lnTo>
                      <a:pt x="0" y="25400"/>
                    </a:lnTo>
                    <a:cubicBezTo>
                      <a:pt x="0" y="11430"/>
                      <a:pt x="6401" y="0"/>
                      <a:pt x="14224" y="0"/>
                    </a:cubicBezTo>
                    <a:moveTo>
                      <a:pt x="14224" y="50800"/>
                    </a:moveTo>
                    <a:lnTo>
                      <a:pt x="14224" y="25400"/>
                    </a:lnTo>
                    <a:lnTo>
                      <a:pt x="28448" y="25400"/>
                    </a:lnTo>
                    <a:lnTo>
                      <a:pt x="28448" y="3390392"/>
                    </a:lnTo>
                    <a:lnTo>
                      <a:pt x="14224" y="3390392"/>
                    </a:lnTo>
                    <a:lnTo>
                      <a:pt x="14224" y="3364992"/>
                    </a:lnTo>
                    <a:lnTo>
                      <a:pt x="5093884" y="3364992"/>
                    </a:lnTo>
                    <a:lnTo>
                      <a:pt x="5093884" y="3390392"/>
                    </a:lnTo>
                    <a:lnTo>
                      <a:pt x="5079660" y="3390392"/>
                    </a:lnTo>
                    <a:lnTo>
                      <a:pt x="5079660" y="25400"/>
                    </a:lnTo>
                    <a:lnTo>
                      <a:pt x="5093884" y="25400"/>
                    </a:lnTo>
                    <a:lnTo>
                      <a:pt x="5093884" y="50800"/>
                    </a:lnTo>
                    <a:lnTo>
                      <a:pt x="14224" y="50800"/>
                    </a:lnTo>
                    <a:close/>
                  </a:path>
                </a:pathLst>
              </a:custGeom>
              <a:solidFill>
                <a:srgbClr val="FFD600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4744" y="7616279"/>
              <a:ext cx="155518" cy="3398863"/>
              <a:chOff x="0" y="0"/>
              <a:chExt cx="155518" cy="339886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9459" y="16891"/>
                <a:ext cx="136550" cy="3364992"/>
              </a:xfrm>
              <a:custGeom>
                <a:avLst/>
                <a:gdLst/>
                <a:ahLst/>
                <a:cxnLst/>
                <a:rect r="r" b="b" t="t" l="l"/>
                <a:pathLst>
                  <a:path h="3364992" w="136550">
                    <a:moveTo>
                      <a:pt x="0" y="0"/>
                    </a:moveTo>
                    <a:lnTo>
                      <a:pt x="136550" y="0"/>
                    </a:lnTo>
                    <a:lnTo>
                      <a:pt x="136550" y="3364992"/>
                    </a:lnTo>
                    <a:lnTo>
                      <a:pt x="0" y="3364992"/>
                    </a:lnTo>
                    <a:close/>
                  </a:path>
                </a:pathLst>
              </a:custGeom>
              <a:solidFill>
                <a:srgbClr val="FFD600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55468" cy="3398774"/>
              </a:xfrm>
              <a:custGeom>
                <a:avLst/>
                <a:gdLst/>
                <a:ahLst/>
                <a:cxnLst/>
                <a:rect r="r" b="b" t="t" l="l"/>
                <a:pathLst>
                  <a:path h="3398774" w="155468">
                    <a:moveTo>
                      <a:pt x="9459" y="0"/>
                    </a:moveTo>
                    <a:lnTo>
                      <a:pt x="146009" y="0"/>
                    </a:lnTo>
                    <a:cubicBezTo>
                      <a:pt x="151272" y="0"/>
                      <a:pt x="155468" y="7620"/>
                      <a:pt x="155468" y="16891"/>
                    </a:cubicBezTo>
                    <a:lnTo>
                      <a:pt x="155468" y="3381883"/>
                    </a:lnTo>
                    <a:cubicBezTo>
                      <a:pt x="155468" y="3391281"/>
                      <a:pt x="151201" y="3398774"/>
                      <a:pt x="146009" y="3398774"/>
                    </a:cubicBezTo>
                    <a:lnTo>
                      <a:pt x="9459" y="3398774"/>
                    </a:lnTo>
                    <a:cubicBezTo>
                      <a:pt x="4196" y="3398774"/>
                      <a:pt x="0" y="3391154"/>
                      <a:pt x="0" y="3381883"/>
                    </a:cubicBezTo>
                    <a:lnTo>
                      <a:pt x="0" y="16891"/>
                    </a:lnTo>
                    <a:cubicBezTo>
                      <a:pt x="0" y="7620"/>
                      <a:pt x="4267" y="0"/>
                      <a:pt x="9459" y="0"/>
                    </a:cubicBezTo>
                    <a:moveTo>
                      <a:pt x="9459" y="33909"/>
                    </a:moveTo>
                    <a:lnTo>
                      <a:pt x="9459" y="16891"/>
                    </a:lnTo>
                    <a:lnTo>
                      <a:pt x="18989" y="16891"/>
                    </a:lnTo>
                    <a:lnTo>
                      <a:pt x="18989" y="3381883"/>
                    </a:lnTo>
                    <a:lnTo>
                      <a:pt x="9459" y="3381883"/>
                    </a:lnTo>
                    <a:lnTo>
                      <a:pt x="9459" y="3364992"/>
                    </a:lnTo>
                    <a:lnTo>
                      <a:pt x="146009" y="3364992"/>
                    </a:lnTo>
                    <a:lnTo>
                      <a:pt x="146009" y="3381883"/>
                    </a:lnTo>
                    <a:lnTo>
                      <a:pt x="136550" y="3381883"/>
                    </a:lnTo>
                    <a:lnTo>
                      <a:pt x="136550" y="16891"/>
                    </a:lnTo>
                    <a:lnTo>
                      <a:pt x="146009" y="16891"/>
                    </a:lnTo>
                    <a:lnTo>
                      <a:pt x="146009" y="33909"/>
                    </a:lnTo>
                    <a:lnTo>
                      <a:pt x="9459" y="33909"/>
                    </a:lnTo>
                    <a:close/>
                  </a:path>
                </a:pathLst>
              </a:custGeom>
              <a:solidFill>
                <a:srgbClr val="FFD600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287324" y="7779512"/>
              <a:ext cx="4670010" cy="1365504"/>
              <a:chOff x="0" y="0"/>
              <a:chExt cx="4670010" cy="136550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670010" cy="1365504"/>
              </a:xfrm>
              <a:custGeom>
                <a:avLst/>
                <a:gdLst/>
                <a:ahLst/>
                <a:cxnLst/>
                <a:rect r="r" b="b" t="t" l="l"/>
                <a:pathLst>
                  <a:path h="1365504" w="4670010">
                    <a:moveTo>
                      <a:pt x="0" y="0"/>
                    </a:moveTo>
                    <a:lnTo>
                      <a:pt x="4670010" y="0"/>
                    </a:lnTo>
                    <a:lnTo>
                      <a:pt x="4670010" y="1365504"/>
                    </a:lnTo>
                    <a:lnTo>
                      <a:pt x="0" y="13655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997" r="-78571" b="-68997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76200"/>
                <a:ext cx="4670010" cy="144170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FFD6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5.1% / 9.4%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287324" y="9193784"/>
              <a:ext cx="3004100" cy="1414272"/>
              <a:chOff x="0" y="0"/>
              <a:chExt cx="3004100" cy="141427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0041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3004100">
                    <a:moveTo>
                      <a:pt x="0" y="0"/>
                    </a:moveTo>
                    <a:lnTo>
                      <a:pt x="3004100" y="0"/>
                    </a:lnTo>
                    <a:lnTo>
                      <a:pt x="30041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908" r="-78571" b="-23908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300410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Reduced Std Dev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(was 7.0% / 13.0%)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3291424" y="9221616"/>
              <a:ext cx="1693220" cy="1212304"/>
              <a:chOff x="0" y="0"/>
              <a:chExt cx="1693220" cy="1212304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693220" cy="1212304"/>
              </a:xfrm>
              <a:custGeom>
                <a:avLst/>
                <a:gdLst/>
                <a:ahLst/>
                <a:cxnLst/>
                <a:rect r="r" b="b" t="t" l="l"/>
                <a:pathLst>
                  <a:path h="1212304" w="1693220">
                    <a:moveTo>
                      <a:pt x="0" y="0"/>
                    </a:moveTo>
                    <a:lnTo>
                      <a:pt x="1693220" y="0"/>
                    </a:lnTo>
                    <a:lnTo>
                      <a:pt x="1693220" y="1212304"/>
                    </a:lnTo>
                    <a:lnTo>
                      <a:pt x="0" y="12123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24" r="-78571" b="3129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57150"/>
                <a:ext cx="1693220" cy="126945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D6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↓ variance</a:t>
                </a: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512064" y="8924544"/>
            <a:ext cx="13473021" cy="822960"/>
            <a:chOff x="0" y="0"/>
            <a:chExt cx="17964028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9640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964028">
                  <a:moveTo>
                    <a:pt x="0" y="0"/>
                  </a:moveTo>
                  <a:lnTo>
                    <a:pt x="17964028" y="0"/>
                  </a:lnTo>
                  <a:lnTo>
                    <a:pt x="179640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752" r="-28136" b="-35875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796402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Notable performers: S27 (71.96%/67.54%), S13 (57.46%/85.00%)  ·  Near-chance: S17, S31  [Table 2]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SEED-IV Results: HARL-EEG v3 — 4-Class Emotion Recognition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663446"/>
            <a:ext cx="13734094" cy="7170420"/>
            <a:chOff x="0" y="0"/>
            <a:chExt cx="18312125" cy="9560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227" y="25400"/>
              <a:ext cx="18245671" cy="9509760"/>
            </a:xfrm>
            <a:custGeom>
              <a:avLst/>
              <a:gdLst/>
              <a:ahLst/>
              <a:cxnLst/>
              <a:rect r="r" b="b" t="t" l="l"/>
              <a:pathLst>
                <a:path h="9509760" w="18245671">
                  <a:moveTo>
                    <a:pt x="0" y="0"/>
                  </a:moveTo>
                  <a:lnTo>
                    <a:pt x="18245671" y="0"/>
                  </a:lnTo>
                  <a:lnTo>
                    <a:pt x="18245671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12126" cy="9560560"/>
            </a:xfrm>
            <a:custGeom>
              <a:avLst/>
              <a:gdLst/>
              <a:ahLst/>
              <a:cxnLst/>
              <a:rect r="r" b="b" t="t" l="l"/>
              <a:pathLst>
                <a:path h="9560560" w="18312126">
                  <a:moveTo>
                    <a:pt x="33227" y="0"/>
                  </a:moveTo>
                  <a:lnTo>
                    <a:pt x="18278898" y="0"/>
                  </a:lnTo>
                  <a:cubicBezTo>
                    <a:pt x="18297173" y="0"/>
                    <a:pt x="18312126" y="11430"/>
                    <a:pt x="18312126" y="25400"/>
                  </a:cubicBezTo>
                  <a:lnTo>
                    <a:pt x="18312126" y="9535160"/>
                  </a:lnTo>
                  <a:cubicBezTo>
                    <a:pt x="18312126" y="9549130"/>
                    <a:pt x="18297173" y="9560560"/>
                    <a:pt x="18278898" y="9560560"/>
                  </a:cubicBezTo>
                  <a:lnTo>
                    <a:pt x="33227" y="9560560"/>
                  </a:lnTo>
                  <a:cubicBezTo>
                    <a:pt x="14952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4952" y="0"/>
                    <a:pt x="33227" y="0"/>
                  </a:cubicBezTo>
                  <a:moveTo>
                    <a:pt x="33227" y="50800"/>
                  </a:moveTo>
                  <a:lnTo>
                    <a:pt x="33227" y="25400"/>
                  </a:lnTo>
                  <a:lnTo>
                    <a:pt x="66454" y="25400"/>
                  </a:lnTo>
                  <a:lnTo>
                    <a:pt x="66454" y="9535160"/>
                  </a:lnTo>
                  <a:lnTo>
                    <a:pt x="33227" y="9535160"/>
                  </a:lnTo>
                  <a:lnTo>
                    <a:pt x="33227" y="9509760"/>
                  </a:lnTo>
                  <a:lnTo>
                    <a:pt x="18278898" y="9509760"/>
                  </a:lnTo>
                  <a:lnTo>
                    <a:pt x="18278898" y="9535160"/>
                  </a:lnTo>
                  <a:lnTo>
                    <a:pt x="18245671" y="9535160"/>
                  </a:lnTo>
                  <a:lnTo>
                    <a:pt x="18245671" y="25400"/>
                  </a:lnTo>
                  <a:lnTo>
                    <a:pt x="18278898" y="25400"/>
                  </a:lnTo>
                  <a:lnTo>
                    <a:pt x="18278898" y="50800"/>
                  </a:lnTo>
                  <a:lnTo>
                    <a:pt x="33227" y="50800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13727741" cy="720347"/>
            <a:chOff x="0" y="0"/>
            <a:chExt cx="18303655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2113" y="16891"/>
              <a:ext cx="18259313" cy="926592"/>
            </a:xfrm>
            <a:custGeom>
              <a:avLst/>
              <a:gdLst/>
              <a:ahLst/>
              <a:cxnLst/>
              <a:rect r="r" b="b" t="t" l="l"/>
              <a:pathLst>
                <a:path h="926592" w="18259313">
                  <a:moveTo>
                    <a:pt x="0" y="0"/>
                  </a:moveTo>
                  <a:lnTo>
                    <a:pt x="18259312" y="0"/>
                  </a:lnTo>
                  <a:lnTo>
                    <a:pt x="1825931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E67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3537" cy="960376"/>
            </a:xfrm>
            <a:custGeom>
              <a:avLst/>
              <a:gdLst/>
              <a:ahLst/>
              <a:cxnLst/>
              <a:rect r="r" b="b" t="t" l="l"/>
              <a:pathLst>
                <a:path h="960376" w="18303537">
                  <a:moveTo>
                    <a:pt x="22113" y="0"/>
                  </a:moveTo>
                  <a:lnTo>
                    <a:pt x="18281425" y="0"/>
                  </a:lnTo>
                  <a:cubicBezTo>
                    <a:pt x="18293728" y="0"/>
                    <a:pt x="18303537" y="7620"/>
                    <a:pt x="18303537" y="16891"/>
                  </a:cubicBezTo>
                  <a:lnTo>
                    <a:pt x="18303537" y="943483"/>
                  </a:lnTo>
                  <a:cubicBezTo>
                    <a:pt x="18303537" y="952881"/>
                    <a:pt x="18293561" y="960374"/>
                    <a:pt x="18281425" y="960374"/>
                  </a:cubicBezTo>
                  <a:lnTo>
                    <a:pt x="22113" y="960374"/>
                  </a:lnTo>
                  <a:cubicBezTo>
                    <a:pt x="9976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9976" y="0"/>
                    <a:pt x="22113" y="0"/>
                  </a:cubicBezTo>
                  <a:moveTo>
                    <a:pt x="22113" y="33909"/>
                  </a:moveTo>
                  <a:lnTo>
                    <a:pt x="22113" y="16891"/>
                  </a:lnTo>
                  <a:lnTo>
                    <a:pt x="44391" y="16891"/>
                  </a:lnTo>
                  <a:lnTo>
                    <a:pt x="44391" y="943483"/>
                  </a:lnTo>
                  <a:lnTo>
                    <a:pt x="22113" y="943483"/>
                  </a:lnTo>
                  <a:lnTo>
                    <a:pt x="22113" y="926592"/>
                  </a:lnTo>
                  <a:lnTo>
                    <a:pt x="18281425" y="926592"/>
                  </a:lnTo>
                  <a:lnTo>
                    <a:pt x="18281425" y="943483"/>
                  </a:lnTo>
                  <a:lnTo>
                    <a:pt x="18259313" y="943483"/>
                  </a:lnTo>
                  <a:lnTo>
                    <a:pt x="18259313" y="16891"/>
                  </a:lnTo>
                  <a:lnTo>
                    <a:pt x="18281425" y="16891"/>
                  </a:lnTo>
                  <a:lnTo>
                    <a:pt x="18281425" y="33909"/>
                  </a:lnTo>
                  <a:lnTo>
                    <a:pt x="22113" y="33909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682496"/>
            <a:ext cx="13715044" cy="694944"/>
            <a:chOff x="0" y="0"/>
            <a:chExt cx="18286725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6726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6726">
                  <a:moveTo>
                    <a:pt x="0" y="0"/>
                  </a:moveTo>
                  <a:lnTo>
                    <a:pt x="18286726" y="0"/>
                  </a:lnTo>
                  <a:lnTo>
                    <a:pt x="1828672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301" r="23728" b="-2433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286725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 — HARL-EEG v3 SEED-IV LOSO (15 subjects, 4-class)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2064" y="2377440"/>
            <a:ext cx="13715044" cy="6310037"/>
            <a:chOff x="0" y="0"/>
            <a:chExt cx="17176194" cy="7902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2059" y="25400"/>
              <a:ext cx="17112075" cy="7851648"/>
            </a:xfrm>
            <a:custGeom>
              <a:avLst/>
              <a:gdLst/>
              <a:ahLst/>
              <a:cxnLst/>
              <a:rect r="r" b="b" t="t" l="l"/>
              <a:pathLst>
                <a:path h="7851648" w="17112075">
                  <a:moveTo>
                    <a:pt x="0" y="0"/>
                  </a:moveTo>
                  <a:lnTo>
                    <a:pt x="17112076" y="0"/>
                  </a:lnTo>
                  <a:lnTo>
                    <a:pt x="17112076" y="7851648"/>
                  </a:lnTo>
                  <a:lnTo>
                    <a:pt x="0" y="7851648"/>
                  </a:lnTo>
                  <a:close/>
                </a:path>
              </a:pathLst>
            </a:custGeom>
            <a:blipFill>
              <a:blip r:embed="rId4"/>
              <a:stretch>
                <a:fillRect l="-857" t="-323" r="-781" b="-327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76193" cy="7902448"/>
            </a:xfrm>
            <a:custGeom>
              <a:avLst/>
              <a:gdLst/>
              <a:ahLst/>
              <a:cxnLst/>
              <a:rect r="r" b="b" t="t" l="l"/>
              <a:pathLst>
                <a:path h="7902448" w="17176193">
                  <a:moveTo>
                    <a:pt x="32059" y="0"/>
                  </a:moveTo>
                  <a:lnTo>
                    <a:pt x="17144135" y="0"/>
                  </a:lnTo>
                  <a:cubicBezTo>
                    <a:pt x="17161766" y="0"/>
                    <a:pt x="17176193" y="11430"/>
                    <a:pt x="17176193" y="25400"/>
                  </a:cubicBezTo>
                  <a:lnTo>
                    <a:pt x="17176193" y="7877048"/>
                  </a:lnTo>
                  <a:cubicBezTo>
                    <a:pt x="17176193" y="7891018"/>
                    <a:pt x="17161766" y="7902448"/>
                    <a:pt x="17144135" y="7902448"/>
                  </a:cubicBezTo>
                  <a:lnTo>
                    <a:pt x="32059" y="7902448"/>
                  </a:lnTo>
                  <a:cubicBezTo>
                    <a:pt x="14427" y="7902448"/>
                    <a:pt x="0" y="7891018"/>
                    <a:pt x="0" y="7877048"/>
                  </a:cubicBezTo>
                  <a:lnTo>
                    <a:pt x="0" y="25400"/>
                  </a:lnTo>
                  <a:cubicBezTo>
                    <a:pt x="0" y="11430"/>
                    <a:pt x="14427" y="0"/>
                    <a:pt x="32059" y="0"/>
                  </a:cubicBezTo>
                  <a:moveTo>
                    <a:pt x="32059" y="50800"/>
                  </a:moveTo>
                  <a:lnTo>
                    <a:pt x="32059" y="25400"/>
                  </a:lnTo>
                  <a:lnTo>
                    <a:pt x="64119" y="25400"/>
                  </a:lnTo>
                  <a:lnTo>
                    <a:pt x="64119" y="7877048"/>
                  </a:lnTo>
                  <a:lnTo>
                    <a:pt x="32059" y="7877048"/>
                  </a:lnTo>
                  <a:lnTo>
                    <a:pt x="32059" y="7851648"/>
                  </a:lnTo>
                  <a:lnTo>
                    <a:pt x="17144135" y="7851648"/>
                  </a:lnTo>
                  <a:lnTo>
                    <a:pt x="17144135" y="7877048"/>
                  </a:lnTo>
                  <a:lnTo>
                    <a:pt x="17112075" y="7877048"/>
                  </a:lnTo>
                  <a:lnTo>
                    <a:pt x="17112075" y="25400"/>
                  </a:lnTo>
                  <a:lnTo>
                    <a:pt x="17144135" y="25400"/>
                  </a:lnTo>
                  <a:lnTo>
                    <a:pt x="17144135" y="50800"/>
                  </a:lnTo>
                  <a:lnTo>
                    <a:pt x="32059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55943" y="1663446"/>
            <a:ext cx="3485347" cy="1866900"/>
            <a:chOff x="0" y="0"/>
            <a:chExt cx="4647130" cy="248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296" y="25400"/>
              <a:ext cx="46205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20538">
                  <a:moveTo>
                    <a:pt x="0" y="0"/>
                  </a:moveTo>
                  <a:lnTo>
                    <a:pt x="4620538" y="0"/>
                  </a:lnTo>
                  <a:lnTo>
                    <a:pt x="462053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4713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647130">
                  <a:moveTo>
                    <a:pt x="13296" y="0"/>
                  </a:moveTo>
                  <a:lnTo>
                    <a:pt x="4633834" y="0"/>
                  </a:lnTo>
                  <a:cubicBezTo>
                    <a:pt x="4641146" y="0"/>
                    <a:pt x="4647130" y="11430"/>
                    <a:pt x="4647130" y="25400"/>
                  </a:cubicBezTo>
                  <a:lnTo>
                    <a:pt x="4647130" y="2463800"/>
                  </a:lnTo>
                  <a:cubicBezTo>
                    <a:pt x="4647130" y="2477770"/>
                    <a:pt x="4641146" y="2489200"/>
                    <a:pt x="4633834" y="2489200"/>
                  </a:cubicBezTo>
                  <a:lnTo>
                    <a:pt x="13296" y="2489200"/>
                  </a:lnTo>
                  <a:cubicBezTo>
                    <a:pt x="5983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5983" y="0"/>
                    <a:pt x="13296" y="0"/>
                  </a:cubicBezTo>
                  <a:moveTo>
                    <a:pt x="13296" y="50800"/>
                  </a:moveTo>
                  <a:lnTo>
                    <a:pt x="13296" y="25400"/>
                  </a:lnTo>
                  <a:lnTo>
                    <a:pt x="26591" y="25400"/>
                  </a:lnTo>
                  <a:lnTo>
                    <a:pt x="26591" y="2463800"/>
                  </a:lnTo>
                  <a:lnTo>
                    <a:pt x="13296" y="2463800"/>
                  </a:lnTo>
                  <a:lnTo>
                    <a:pt x="13296" y="2438400"/>
                  </a:lnTo>
                  <a:lnTo>
                    <a:pt x="4633834" y="2438400"/>
                  </a:lnTo>
                  <a:lnTo>
                    <a:pt x="4633834" y="2463800"/>
                  </a:lnTo>
                  <a:lnTo>
                    <a:pt x="4620538" y="2463800"/>
                  </a:lnTo>
                  <a:lnTo>
                    <a:pt x="4620538" y="25400"/>
                  </a:lnTo>
                  <a:lnTo>
                    <a:pt x="4633834" y="25400"/>
                  </a:lnTo>
                  <a:lnTo>
                    <a:pt x="4633834" y="50800"/>
                  </a:lnTo>
                  <a:lnTo>
                    <a:pt x="13296" y="50800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612112" y="1777636"/>
            <a:ext cx="3127248" cy="797272"/>
            <a:chOff x="0" y="0"/>
            <a:chExt cx="4169664" cy="10630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69664" cy="1063030"/>
            </a:xfrm>
            <a:custGeom>
              <a:avLst/>
              <a:gdLst/>
              <a:ahLst/>
              <a:cxnLst/>
              <a:rect r="r" b="b" t="t" l="l"/>
              <a:pathLst>
                <a:path h="106303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11" r="-95321" b="-974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4169664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36.03%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12112" y="2596896"/>
            <a:ext cx="3127248" cy="694944"/>
            <a:chOff x="0" y="0"/>
            <a:chExt cx="4169664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926592"/>
            </a:xfrm>
            <a:custGeom>
              <a:avLst/>
              <a:gdLst/>
              <a:ahLst/>
              <a:cxnLst/>
              <a:rect r="r" b="b" t="t" l="l"/>
              <a:pathLst>
                <a:path h="926592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263" r="-95321" b="-12126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6966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Accuracy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(σ = 5.18%)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55943" y="3748278"/>
            <a:ext cx="3485347" cy="1866900"/>
            <a:chOff x="0" y="0"/>
            <a:chExt cx="4647130" cy="248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3296" y="25400"/>
              <a:ext cx="46205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20538">
                  <a:moveTo>
                    <a:pt x="0" y="0"/>
                  </a:moveTo>
                  <a:lnTo>
                    <a:pt x="4620538" y="0"/>
                  </a:lnTo>
                  <a:lnTo>
                    <a:pt x="462053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4713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647130">
                  <a:moveTo>
                    <a:pt x="13296" y="0"/>
                  </a:moveTo>
                  <a:lnTo>
                    <a:pt x="4633834" y="0"/>
                  </a:lnTo>
                  <a:cubicBezTo>
                    <a:pt x="4641146" y="0"/>
                    <a:pt x="4647130" y="11430"/>
                    <a:pt x="4647130" y="25400"/>
                  </a:cubicBezTo>
                  <a:lnTo>
                    <a:pt x="4647130" y="2463800"/>
                  </a:lnTo>
                  <a:cubicBezTo>
                    <a:pt x="4647130" y="2477770"/>
                    <a:pt x="4641146" y="2489200"/>
                    <a:pt x="4633834" y="2489200"/>
                  </a:cubicBezTo>
                  <a:lnTo>
                    <a:pt x="13296" y="2489200"/>
                  </a:lnTo>
                  <a:cubicBezTo>
                    <a:pt x="5983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5983" y="0"/>
                    <a:pt x="13296" y="0"/>
                  </a:cubicBezTo>
                  <a:moveTo>
                    <a:pt x="13296" y="50800"/>
                  </a:moveTo>
                  <a:lnTo>
                    <a:pt x="13296" y="25400"/>
                  </a:lnTo>
                  <a:lnTo>
                    <a:pt x="26591" y="25400"/>
                  </a:lnTo>
                  <a:lnTo>
                    <a:pt x="26591" y="2463800"/>
                  </a:lnTo>
                  <a:lnTo>
                    <a:pt x="13296" y="2463800"/>
                  </a:lnTo>
                  <a:lnTo>
                    <a:pt x="13296" y="2438400"/>
                  </a:lnTo>
                  <a:lnTo>
                    <a:pt x="4633834" y="2438400"/>
                  </a:lnTo>
                  <a:lnTo>
                    <a:pt x="4633834" y="2463800"/>
                  </a:lnTo>
                  <a:lnTo>
                    <a:pt x="4620538" y="2463800"/>
                  </a:lnTo>
                  <a:lnTo>
                    <a:pt x="4620538" y="25400"/>
                  </a:lnTo>
                  <a:lnTo>
                    <a:pt x="4633834" y="25400"/>
                  </a:lnTo>
                  <a:lnTo>
                    <a:pt x="4633834" y="50800"/>
                  </a:lnTo>
                  <a:lnTo>
                    <a:pt x="13296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12112" y="3862468"/>
            <a:ext cx="3127248" cy="797272"/>
            <a:chOff x="0" y="0"/>
            <a:chExt cx="4169664" cy="10630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9664" cy="1063030"/>
            </a:xfrm>
            <a:custGeom>
              <a:avLst/>
              <a:gdLst/>
              <a:ahLst/>
              <a:cxnLst/>
              <a:rect r="r" b="b" t="t" l="l"/>
              <a:pathLst>
                <a:path h="106303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11" r="-95321" b="-974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4169664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+11.03 pp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12112" y="4681728"/>
            <a:ext cx="3127248" cy="694944"/>
            <a:chOff x="0" y="0"/>
            <a:chExt cx="4169664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69664" cy="926592"/>
            </a:xfrm>
            <a:custGeom>
              <a:avLst/>
              <a:gdLst/>
              <a:ahLst/>
              <a:cxnLst/>
              <a:rect r="r" b="b" t="t" l="l"/>
              <a:pathLst>
                <a:path h="926592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263" r="-95321" b="-12126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16966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Above 4-class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chance (25%)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55943" y="5833110"/>
            <a:ext cx="3485347" cy="1866900"/>
            <a:chOff x="0" y="0"/>
            <a:chExt cx="4647130" cy="248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3296" y="25400"/>
              <a:ext cx="46205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20538">
                  <a:moveTo>
                    <a:pt x="0" y="0"/>
                  </a:moveTo>
                  <a:lnTo>
                    <a:pt x="4620538" y="0"/>
                  </a:lnTo>
                  <a:lnTo>
                    <a:pt x="462053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4713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647130">
                  <a:moveTo>
                    <a:pt x="13296" y="0"/>
                  </a:moveTo>
                  <a:lnTo>
                    <a:pt x="4633834" y="0"/>
                  </a:lnTo>
                  <a:cubicBezTo>
                    <a:pt x="4641146" y="0"/>
                    <a:pt x="4647130" y="11430"/>
                    <a:pt x="4647130" y="25400"/>
                  </a:cubicBezTo>
                  <a:lnTo>
                    <a:pt x="4647130" y="2463800"/>
                  </a:lnTo>
                  <a:cubicBezTo>
                    <a:pt x="4647130" y="2477770"/>
                    <a:pt x="4641146" y="2489200"/>
                    <a:pt x="4633834" y="2489200"/>
                  </a:cubicBezTo>
                  <a:lnTo>
                    <a:pt x="13296" y="2489200"/>
                  </a:lnTo>
                  <a:cubicBezTo>
                    <a:pt x="5983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5983" y="0"/>
                    <a:pt x="13296" y="0"/>
                  </a:cubicBezTo>
                  <a:moveTo>
                    <a:pt x="13296" y="50800"/>
                  </a:moveTo>
                  <a:lnTo>
                    <a:pt x="13296" y="25400"/>
                  </a:lnTo>
                  <a:lnTo>
                    <a:pt x="26591" y="25400"/>
                  </a:lnTo>
                  <a:lnTo>
                    <a:pt x="26591" y="2463800"/>
                  </a:lnTo>
                  <a:lnTo>
                    <a:pt x="13296" y="2463800"/>
                  </a:lnTo>
                  <a:lnTo>
                    <a:pt x="13296" y="2438400"/>
                  </a:lnTo>
                  <a:lnTo>
                    <a:pt x="4633834" y="2438400"/>
                  </a:lnTo>
                  <a:lnTo>
                    <a:pt x="4633834" y="2463800"/>
                  </a:lnTo>
                  <a:lnTo>
                    <a:pt x="4620538" y="2463800"/>
                  </a:lnTo>
                  <a:lnTo>
                    <a:pt x="4620538" y="25400"/>
                  </a:lnTo>
                  <a:lnTo>
                    <a:pt x="4633834" y="25400"/>
                  </a:lnTo>
                  <a:lnTo>
                    <a:pt x="4633834" y="50800"/>
                  </a:lnTo>
                  <a:lnTo>
                    <a:pt x="13296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612112" y="5947300"/>
            <a:ext cx="3127248" cy="797272"/>
            <a:chOff x="0" y="0"/>
            <a:chExt cx="4169664" cy="10630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69664" cy="1063030"/>
            </a:xfrm>
            <a:custGeom>
              <a:avLst/>
              <a:gdLst/>
              <a:ahLst/>
              <a:cxnLst/>
              <a:rect r="r" b="b" t="t" l="l"/>
              <a:pathLst>
                <a:path h="106303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11" r="-95321" b="-974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4169664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15/15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12112" y="6766560"/>
            <a:ext cx="3127248" cy="694944"/>
            <a:chOff x="0" y="0"/>
            <a:chExt cx="4169664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69664" cy="926592"/>
            </a:xfrm>
            <a:custGeom>
              <a:avLst/>
              <a:gdLst/>
              <a:ahLst/>
              <a:cxnLst/>
              <a:rect r="r" b="b" t="t" l="l"/>
              <a:pathLst>
                <a:path h="926592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263" r="-95321" b="-12126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16966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Subjects above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chance level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55943" y="7917942"/>
            <a:ext cx="3485347" cy="1866900"/>
            <a:chOff x="0" y="0"/>
            <a:chExt cx="4647130" cy="248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3296" y="25400"/>
              <a:ext cx="46205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20538">
                  <a:moveTo>
                    <a:pt x="0" y="0"/>
                  </a:moveTo>
                  <a:lnTo>
                    <a:pt x="4620538" y="0"/>
                  </a:lnTo>
                  <a:lnTo>
                    <a:pt x="462053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4713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647130">
                  <a:moveTo>
                    <a:pt x="13296" y="0"/>
                  </a:moveTo>
                  <a:lnTo>
                    <a:pt x="4633834" y="0"/>
                  </a:lnTo>
                  <a:cubicBezTo>
                    <a:pt x="4641146" y="0"/>
                    <a:pt x="4647130" y="11430"/>
                    <a:pt x="4647130" y="25400"/>
                  </a:cubicBezTo>
                  <a:lnTo>
                    <a:pt x="4647130" y="2463800"/>
                  </a:lnTo>
                  <a:cubicBezTo>
                    <a:pt x="4647130" y="2477770"/>
                    <a:pt x="4641146" y="2489200"/>
                    <a:pt x="4633834" y="2489200"/>
                  </a:cubicBezTo>
                  <a:lnTo>
                    <a:pt x="13296" y="2489200"/>
                  </a:lnTo>
                  <a:cubicBezTo>
                    <a:pt x="5983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5983" y="0"/>
                    <a:pt x="13296" y="0"/>
                  </a:cubicBezTo>
                  <a:moveTo>
                    <a:pt x="13296" y="50800"/>
                  </a:moveTo>
                  <a:lnTo>
                    <a:pt x="13296" y="25400"/>
                  </a:lnTo>
                  <a:lnTo>
                    <a:pt x="26591" y="25400"/>
                  </a:lnTo>
                  <a:lnTo>
                    <a:pt x="26591" y="2463800"/>
                  </a:lnTo>
                  <a:lnTo>
                    <a:pt x="13296" y="2463800"/>
                  </a:lnTo>
                  <a:lnTo>
                    <a:pt x="13296" y="2438400"/>
                  </a:lnTo>
                  <a:lnTo>
                    <a:pt x="4633834" y="2438400"/>
                  </a:lnTo>
                  <a:lnTo>
                    <a:pt x="4633834" y="2463800"/>
                  </a:lnTo>
                  <a:lnTo>
                    <a:pt x="4620538" y="2463800"/>
                  </a:lnTo>
                  <a:lnTo>
                    <a:pt x="4620538" y="25400"/>
                  </a:lnTo>
                  <a:lnTo>
                    <a:pt x="4633834" y="25400"/>
                  </a:lnTo>
                  <a:lnTo>
                    <a:pt x="4633834" y="50800"/>
                  </a:lnTo>
                  <a:lnTo>
                    <a:pt x="13296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644743" y="1669799"/>
            <a:ext cx="208283" cy="8108699"/>
            <a:chOff x="0" y="0"/>
            <a:chExt cx="277711" cy="10811599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277711" cy="2472271"/>
              <a:chOff x="0" y="0"/>
              <a:chExt cx="277711" cy="247227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24384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243840">
                    <a:moveTo>
                      <a:pt x="0" y="0"/>
                    </a:moveTo>
                    <a:lnTo>
                      <a:pt x="243840" y="0"/>
                    </a:lnTo>
                    <a:lnTo>
                      <a:pt x="243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00E676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7762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277622">
                    <a:moveTo>
                      <a:pt x="16891" y="0"/>
                    </a:moveTo>
                    <a:lnTo>
                      <a:pt x="260731" y="0"/>
                    </a:lnTo>
                    <a:cubicBezTo>
                      <a:pt x="270129" y="0"/>
                      <a:pt x="277622" y="7620"/>
                      <a:pt x="277622" y="16891"/>
                    </a:cubicBezTo>
                    <a:lnTo>
                      <a:pt x="277622" y="2455291"/>
                    </a:lnTo>
                    <a:cubicBezTo>
                      <a:pt x="277622" y="2464689"/>
                      <a:pt x="270002" y="2472182"/>
                      <a:pt x="26073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260731" y="2438400"/>
                    </a:lnTo>
                    <a:lnTo>
                      <a:pt x="260731" y="2455291"/>
                    </a:lnTo>
                    <a:lnTo>
                      <a:pt x="243840" y="2455291"/>
                    </a:lnTo>
                    <a:lnTo>
                      <a:pt x="243840" y="16891"/>
                    </a:lnTo>
                    <a:lnTo>
                      <a:pt x="260731" y="16891"/>
                    </a:lnTo>
                    <a:lnTo>
                      <a:pt x="260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676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2779776"/>
              <a:ext cx="277711" cy="2472271"/>
              <a:chOff x="0" y="0"/>
              <a:chExt cx="277711" cy="2472271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6891" y="16891"/>
                <a:ext cx="24384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243840">
                    <a:moveTo>
                      <a:pt x="0" y="0"/>
                    </a:moveTo>
                    <a:lnTo>
                      <a:pt x="243840" y="0"/>
                    </a:lnTo>
                    <a:lnTo>
                      <a:pt x="243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FD600"/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7762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277622">
                    <a:moveTo>
                      <a:pt x="16891" y="0"/>
                    </a:moveTo>
                    <a:lnTo>
                      <a:pt x="260731" y="0"/>
                    </a:lnTo>
                    <a:cubicBezTo>
                      <a:pt x="270129" y="0"/>
                      <a:pt x="277622" y="7620"/>
                      <a:pt x="277622" y="16891"/>
                    </a:cubicBezTo>
                    <a:lnTo>
                      <a:pt x="277622" y="2455291"/>
                    </a:lnTo>
                    <a:cubicBezTo>
                      <a:pt x="277622" y="2464689"/>
                      <a:pt x="270002" y="2472182"/>
                      <a:pt x="26073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260731" y="2438400"/>
                    </a:lnTo>
                    <a:lnTo>
                      <a:pt x="260731" y="2455291"/>
                    </a:lnTo>
                    <a:lnTo>
                      <a:pt x="243840" y="2455291"/>
                    </a:lnTo>
                    <a:lnTo>
                      <a:pt x="243840" y="16891"/>
                    </a:lnTo>
                    <a:lnTo>
                      <a:pt x="260731" y="16891"/>
                    </a:lnTo>
                    <a:lnTo>
                      <a:pt x="260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600"/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5559552"/>
              <a:ext cx="277711" cy="2472271"/>
              <a:chOff x="0" y="0"/>
              <a:chExt cx="277711" cy="2472271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6891" y="16891"/>
                <a:ext cx="24384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243840">
                    <a:moveTo>
                      <a:pt x="0" y="0"/>
                    </a:moveTo>
                    <a:lnTo>
                      <a:pt x="243840" y="0"/>
                    </a:lnTo>
                    <a:lnTo>
                      <a:pt x="243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00C9B1"/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7762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277622">
                    <a:moveTo>
                      <a:pt x="16891" y="0"/>
                    </a:moveTo>
                    <a:lnTo>
                      <a:pt x="260731" y="0"/>
                    </a:lnTo>
                    <a:cubicBezTo>
                      <a:pt x="270129" y="0"/>
                      <a:pt x="277622" y="7620"/>
                      <a:pt x="277622" y="16891"/>
                    </a:cubicBezTo>
                    <a:lnTo>
                      <a:pt x="277622" y="2455291"/>
                    </a:lnTo>
                    <a:cubicBezTo>
                      <a:pt x="277622" y="2464689"/>
                      <a:pt x="270002" y="2472182"/>
                      <a:pt x="26073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260731" y="2438400"/>
                    </a:lnTo>
                    <a:lnTo>
                      <a:pt x="260731" y="2455291"/>
                    </a:lnTo>
                    <a:lnTo>
                      <a:pt x="243840" y="2455291"/>
                    </a:lnTo>
                    <a:lnTo>
                      <a:pt x="243840" y="16891"/>
                    </a:lnTo>
                    <a:lnTo>
                      <a:pt x="260731" y="16891"/>
                    </a:lnTo>
                    <a:lnTo>
                      <a:pt x="260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9B1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8339328"/>
              <a:ext cx="277711" cy="2472271"/>
              <a:chOff x="0" y="0"/>
              <a:chExt cx="277711" cy="247227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24384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243840">
                    <a:moveTo>
                      <a:pt x="0" y="0"/>
                    </a:moveTo>
                    <a:lnTo>
                      <a:pt x="243840" y="0"/>
                    </a:lnTo>
                    <a:lnTo>
                      <a:pt x="24384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7C4DFF"/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7762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277622">
                    <a:moveTo>
                      <a:pt x="16891" y="0"/>
                    </a:moveTo>
                    <a:lnTo>
                      <a:pt x="260731" y="0"/>
                    </a:lnTo>
                    <a:cubicBezTo>
                      <a:pt x="270129" y="0"/>
                      <a:pt x="277622" y="7620"/>
                      <a:pt x="277622" y="16891"/>
                    </a:cubicBezTo>
                    <a:lnTo>
                      <a:pt x="277622" y="2455291"/>
                    </a:lnTo>
                    <a:cubicBezTo>
                      <a:pt x="277622" y="2464689"/>
                      <a:pt x="270002" y="2472182"/>
                      <a:pt x="26073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260731" y="2438400"/>
                    </a:lnTo>
                    <a:lnTo>
                      <a:pt x="260731" y="2455291"/>
                    </a:lnTo>
                    <a:lnTo>
                      <a:pt x="243840" y="2455291"/>
                    </a:lnTo>
                    <a:lnTo>
                      <a:pt x="243840" y="16891"/>
                    </a:lnTo>
                    <a:lnTo>
                      <a:pt x="260731" y="16891"/>
                    </a:lnTo>
                    <a:lnTo>
                      <a:pt x="260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C4DFF"/>
              </a:solidFill>
            </p:spPr>
          </p:sp>
        </p:grpSp>
      </p:grpSp>
      <p:grpSp>
        <p:nvGrpSpPr>
          <p:cNvPr name="Group 63" id="63"/>
          <p:cNvGrpSpPr/>
          <p:nvPr/>
        </p:nvGrpSpPr>
        <p:grpSpPr>
          <a:xfrm rot="0">
            <a:off x="14612112" y="8032132"/>
            <a:ext cx="3127248" cy="797272"/>
            <a:chOff x="0" y="0"/>
            <a:chExt cx="4169664" cy="10630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69664" cy="1063030"/>
            </a:xfrm>
            <a:custGeom>
              <a:avLst/>
              <a:gdLst/>
              <a:ahLst/>
              <a:cxnLst/>
              <a:rect r="r" b="b" t="t" l="l"/>
              <a:pathLst>
                <a:path h="106303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111" r="-95321" b="-9745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4169664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46.74%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612112" y="8851392"/>
            <a:ext cx="3127248" cy="694944"/>
            <a:chOff x="0" y="0"/>
            <a:chExt cx="4169664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69664" cy="926592"/>
            </a:xfrm>
            <a:custGeom>
              <a:avLst/>
              <a:gdLst/>
              <a:ahLst/>
              <a:cxnLst/>
              <a:rect r="r" b="b" t="t" l="l"/>
              <a:pathLst>
                <a:path h="926592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263" r="-95321" b="-12126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16966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subject S04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(max accuracy)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2064" y="8924544"/>
            <a:ext cx="13715044" cy="822960"/>
            <a:chOff x="0" y="0"/>
            <a:chExt cx="18286725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286726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6726">
                  <a:moveTo>
                    <a:pt x="0" y="0"/>
                  </a:moveTo>
                  <a:lnTo>
                    <a:pt x="18286726" y="0"/>
                  </a:lnTo>
                  <a:lnTo>
                    <a:pt x="1828672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752" r="-25875" b="-35875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8286725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Near-chance: S11 (26.16%), S13 (29.22%)  ·  High performers: S04 (46.74%), S07 (41.95%)  [Table 3]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DEAP Accuracy: Across Three Phases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527" y="427612"/>
            <a:ext cx="13700719" cy="11001114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3454454" y="1663446"/>
            <a:ext cx="4340532" cy="2378964"/>
            <a:chOff x="0" y="0"/>
            <a:chExt cx="5787376" cy="31719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73" y="25400"/>
              <a:ext cx="5749231" cy="3121152"/>
            </a:xfrm>
            <a:custGeom>
              <a:avLst/>
              <a:gdLst/>
              <a:ahLst/>
              <a:cxnLst/>
              <a:rect r="r" b="b" t="t" l="l"/>
              <a:pathLst>
                <a:path h="3121152" w="5749231">
                  <a:moveTo>
                    <a:pt x="0" y="0"/>
                  </a:moveTo>
                  <a:lnTo>
                    <a:pt x="5749231" y="0"/>
                  </a:lnTo>
                  <a:lnTo>
                    <a:pt x="5749231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87376" cy="3171952"/>
            </a:xfrm>
            <a:custGeom>
              <a:avLst/>
              <a:gdLst/>
              <a:ahLst/>
              <a:cxnLst/>
              <a:rect r="r" b="b" t="t" l="l"/>
              <a:pathLst>
                <a:path h="3171952" w="5787376">
                  <a:moveTo>
                    <a:pt x="19073" y="0"/>
                  </a:moveTo>
                  <a:lnTo>
                    <a:pt x="5768304" y="0"/>
                  </a:lnTo>
                  <a:cubicBezTo>
                    <a:pt x="5778793" y="0"/>
                    <a:pt x="5787376" y="11430"/>
                    <a:pt x="5787376" y="25400"/>
                  </a:cubicBezTo>
                  <a:lnTo>
                    <a:pt x="5787376" y="3146552"/>
                  </a:lnTo>
                  <a:cubicBezTo>
                    <a:pt x="5787376" y="3160522"/>
                    <a:pt x="5778793" y="3171952"/>
                    <a:pt x="5768304" y="3171952"/>
                  </a:cubicBezTo>
                  <a:lnTo>
                    <a:pt x="19073" y="3171952"/>
                  </a:lnTo>
                  <a:cubicBezTo>
                    <a:pt x="8583" y="3171952"/>
                    <a:pt x="0" y="3160522"/>
                    <a:pt x="0" y="3146552"/>
                  </a:cubicBezTo>
                  <a:lnTo>
                    <a:pt x="0" y="25400"/>
                  </a:lnTo>
                  <a:cubicBezTo>
                    <a:pt x="0" y="11430"/>
                    <a:pt x="8583" y="0"/>
                    <a:pt x="19073" y="0"/>
                  </a:cubicBezTo>
                  <a:moveTo>
                    <a:pt x="19073" y="50800"/>
                  </a:moveTo>
                  <a:lnTo>
                    <a:pt x="19073" y="25400"/>
                  </a:lnTo>
                  <a:lnTo>
                    <a:pt x="38145" y="25400"/>
                  </a:lnTo>
                  <a:lnTo>
                    <a:pt x="38145" y="3146552"/>
                  </a:lnTo>
                  <a:lnTo>
                    <a:pt x="19073" y="3146552"/>
                  </a:lnTo>
                  <a:lnTo>
                    <a:pt x="19073" y="3121152"/>
                  </a:lnTo>
                  <a:lnTo>
                    <a:pt x="5768304" y="3121152"/>
                  </a:lnTo>
                  <a:lnTo>
                    <a:pt x="5768304" y="3146552"/>
                  </a:lnTo>
                  <a:lnTo>
                    <a:pt x="5749231" y="3146552"/>
                  </a:lnTo>
                  <a:lnTo>
                    <a:pt x="5749231" y="25400"/>
                  </a:lnTo>
                  <a:lnTo>
                    <a:pt x="5768304" y="25400"/>
                  </a:lnTo>
                  <a:lnTo>
                    <a:pt x="5768304" y="50800"/>
                  </a:lnTo>
                  <a:lnTo>
                    <a:pt x="19073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59224" y="1669799"/>
            <a:ext cx="156397" cy="2366267"/>
            <a:chOff x="0" y="0"/>
            <a:chExt cx="208530" cy="3155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683" y="16891"/>
              <a:ext cx="183097" cy="3121152"/>
            </a:xfrm>
            <a:custGeom>
              <a:avLst/>
              <a:gdLst/>
              <a:ahLst/>
              <a:cxnLst/>
              <a:rect r="r" b="b" t="t" l="l"/>
              <a:pathLst>
                <a:path h="3121152" w="183097">
                  <a:moveTo>
                    <a:pt x="0" y="0"/>
                  </a:moveTo>
                  <a:lnTo>
                    <a:pt x="183097" y="0"/>
                  </a:lnTo>
                  <a:lnTo>
                    <a:pt x="183097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63" cy="3154934"/>
            </a:xfrm>
            <a:custGeom>
              <a:avLst/>
              <a:gdLst/>
              <a:ahLst/>
              <a:cxnLst/>
              <a:rect r="r" b="b" t="t" l="l"/>
              <a:pathLst>
                <a:path h="3154934" w="208463">
                  <a:moveTo>
                    <a:pt x="12683" y="0"/>
                  </a:moveTo>
                  <a:lnTo>
                    <a:pt x="195780" y="0"/>
                  </a:lnTo>
                  <a:cubicBezTo>
                    <a:pt x="202837" y="0"/>
                    <a:pt x="208463" y="7620"/>
                    <a:pt x="208463" y="16891"/>
                  </a:cubicBezTo>
                  <a:lnTo>
                    <a:pt x="208463" y="3138043"/>
                  </a:lnTo>
                  <a:cubicBezTo>
                    <a:pt x="208463" y="3147441"/>
                    <a:pt x="202741" y="3154934"/>
                    <a:pt x="195780" y="3154934"/>
                  </a:cubicBezTo>
                  <a:lnTo>
                    <a:pt x="12683" y="3154934"/>
                  </a:lnTo>
                  <a:cubicBezTo>
                    <a:pt x="5626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5722" y="0"/>
                    <a:pt x="12683" y="0"/>
                  </a:cubicBezTo>
                  <a:moveTo>
                    <a:pt x="12683" y="33909"/>
                  </a:moveTo>
                  <a:lnTo>
                    <a:pt x="12683" y="16891"/>
                  </a:lnTo>
                  <a:lnTo>
                    <a:pt x="25462" y="16891"/>
                  </a:lnTo>
                  <a:lnTo>
                    <a:pt x="25462" y="3138043"/>
                  </a:lnTo>
                  <a:lnTo>
                    <a:pt x="12683" y="3138043"/>
                  </a:lnTo>
                  <a:lnTo>
                    <a:pt x="12683" y="3121152"/>
                  </a:lnTo>
                  <a:lnTo>
                    <a:pt x="195780" y="3121152"/>
                  </a:lnTo>
                  <a:lnTo>
                    <a:pt x="195780" y="3138043"/>
                  </a:lnTo>
                  <a:lnTo>
                    <a:pt x="183097" y="3138043"/>
                  </a:lnTo>
                  <a:lnTo>
                    <a:pt x="183097" y="16891"/>
                  </a:lnTo>
                  <a:lnTo>
                    <a:pt x="195780" y="16891"/>
                  </a:lnTo>
                  <a:lnTo>
                    <a:pt x="195780" y="33909"/>
                  </a:lnTo>
                  <a:lnTo>
                    <a:pt x="12683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5939" y="1787444"/>
            <a:ext cx="3927421" cy="960537"/>
            <a:chOff x="0" y="0"/>
            <a:chExt cx="5236561" cy="12807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36561" cy="1280716"/>
            </a:xfrm>
            <a:custGeom>
              <a:avLst/>
              <a:gdLst/>
              <a:ahLst/>
              <a:cxnLst/>
              <a:rect r="r" b="b" t="t" l="l"/>
              <a:pathLst>
                <a:path h="1280716" w="5236561">
                  <a:moveTo>
                    <a:pt x="0" y="0"/>
                  </a:moveTo>
                  <a:lnTo>
                    <a:pt x="5236561" y="0"/>
                  </a:lnTo>
                  <a:lnTo>
                    <a:pt x="5236561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98" r="-33175" b="-556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5236561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+1.70 pp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5939" y="2779776"/>
            <a:ext cx="3927421" cy="1005840"/>
            <a:chOff x="0" y="0"/>
            <a:chExt cx="5236561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6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36561">
                  <a:moveTo>
                    <a:pt x="0" y="0"/>
                  </a:moveTo>
                  <a:lnTo>
                    <a:pt x="5236561" y="0"/>
                  </a:lnTo>
                  <a:lnTo>
                    <a:pt x="52365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-33175" b="-513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36561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Valence improvement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(Baseline → Enhanced)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54454" y="4333494"/>
            <a:ext cx="4340532" cy="2378964"/>
            <a:chOff x="0" y="0"/>
            <a:chExt cx="5787376" cy="31719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73" y="25400"/>
              <a:ext cx="5749231" cy="3121152"/>
            </a:xfrm>
            <a:custGeom>
              <a:avLst/>
              <a:gdLst/>
              <a:ahLst/>
              <a:cxnLst/>
              <a:rect r="r" b="b" t="t" l="l"/>
              <a:pathLst>
                <a:path h="3121152" w="5749231">
                  <a:moveTo>
                    <a:pt x="0" y="0"/>
                  </a:moveTo>
                  <a:lnTo>
                    <a:pt x="5749231" y="0"/>
                  </a:lnTo>
                  <a:lnTo>
                    <a:pt x="5749231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87376" cy="3171952"/>
            </a:xfrm>
            <a:custGeom>
              <a:avLst/>
              <a:gdLst/>
              <a:ahLst/>
              <a:cxnLst/>
              <a:rect r="r" b="b" t="t" l="l"/>
              <a:pathLst>
                <a:path h="3171952" w="5787376">
                  <a:moveTo>
                    <a:pt x="19073" y="0"/>
                  </a:moveTo>
                  <a:lnTo>
                    <a:pt x="5768304" y="0"/>
                  </a:lnTo>
                  <a:cubicBezTo>
                    <a:pt x="5778793" y="0"/>
                    <a:pt x="5787376" y="11430"/>
                    <a:pt x="5787376" y="25400"/>
                  </a:cubicBezTo>
                  <a:lnTo>
                    <a:pt x="5787376" y="3146552"/>
                  </a:lnTo>
                  <a:cubicBezTo>
                    <a:pt x="5787376" y="3160522"/>
                    <a:pt x="5778793" y="3171952"/>
                    <a:pt x="5768304" y="3171952"/>
                  </a:cubicBezTo>
                  <a:lnTo>
                    <a:pt x="19073" y="3171952"/>
                  </a:lnTo>
                  <a:cubicBezTo>
                    <a:pt x="8583" y="3171952"/>
                    <a:pt x="0" y="3160522"/>
                    <a:pt x="0" y="3146552"/>
                  </a:cubicBezTo>
                  <a:lnTo>
                    <a:pt x="0" y="25400"/>
                  </a:lnTo>
                  <a:cubicBezTo>
                    <a:pt x="0" y="11430"/>
                    <a:pt x="8583" y="0"/>
                    <a:pt x="19073" y="0"/>
                  </a:cubicBezTo>
                  <a:moveTo>
                    <a:pt x="19073" y="50800"/>
                  </a:moveTo>
                  <a:lnTo>
                    <a:pt x="19073" y="25400"/>
                  </a:lnTo>
                  <a:lnTo>
                    <a:pt x="38145" y="25400"/>
                  </a:lnTo>
                  <a:lnTo>
                    <a:pt x="38145" y="3146552"/>
                  </a:lnTo>
                  <a:lnTo>
                    <a:pt x="19073" y="3146552"/>
                  </a:lnTo>
                  <a:lnTo>
                    <a:pt x="19073" y="3121152"/>
                  </a:lnTo>
                  <a:lnTo>
                    <a:pt x="5768304" y="3121152"/>
                  </a:lnTo>
                  <a:lnTo>
                    <a:pt x="5768304" y="3146552"/>
                  </a:lnTo>
                  <a:lnTo>
                    <a:pt x="5749231" y="3146552"/>
                  </a:lnTo>
                  <a:lnTo>
                    <a:pt x="5749231" y="25400"/>
                  </a:lnTo>
                  <a:lnTo>
                    <a:pt x="5768304" y="25400"/>
                  </a:lnTo>
                  <a:lnTo>
                    <a:pt x="5768304" y="50800"/>
                  </a:lnTo>
                  <a:lnTo>
                    <a:pt x="19073" y="50800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459224" y="4339847"/>
            <a:ext cx="156397" cy="2366267"/>
            <a:chOff x="0" y="0"/>
            <a:chExt cx="208530" cy="31550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683" y="16891"/>
              <a:ext cx="183097" cy="3121152"/>
            </a:xfrm>
            <a:custGeom>
              <a:avLst/>
              <a:gdLst/>
              <a:ahLst/>
              <a:cxnLst/>
              <a:rect r="r" b="b" t="t" l="l"/>
              <a:pathLst>
                <a:path h="3121152" w="183097">
                  <a:moveTo>
                    <a:pt x="0" y="0"/>
                  </a:moveTo>
                  <a:lnTo>
                    <a:pt x="183097" y="0"/>
                  </a:lnTo>
                  <a:lnTo>
                    <a:pt x="183097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463" cy="3154934"/>
            </a:xfrm>
            <a:custGeom>
              <a:avLst/>
              <a:gdLst/>
              <a:ahLst/>
              <a:cxnLst/>
              <a:rect r="r" b="b" t="t" l="l"/>
              <a:pathLst>
                <a:path h="3154934" w="208463">
                  <a:moveTo>
                    <a:pt x="12683" y="0"/>
                  </a:moveTo>
                  <a:lnTo>
                    <a:pt x="195780" y="0"/>
                  </a:lnTo>
                  <a:cubicBezTo>
                    <a:pt x="202837" y="0"/>
                    <a:pt x="208463" y="7620"/>
                    <a:pt x="208463" y="16891"/>
                  </a:cubicBezTo>
                  <a:lnTo>
                    <a:pt x="208463" y="3138043"/>
                  </a:lnTo>
                  <a:cubicBezTo>
                    <a:pt x="208463" y="3147441"/>
                    <a:pt x="202741" y="3154934"/>
                    <a:pt x="195780" y="3154934"/>
                  </a:cubicBezTo>
                  <a:lnTo>
                    <a:pt x="12683" y="3154934"/>
                  </a:lnTo>
                  <a:cubicBezTo>
                    <a:pt x="5626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5722" y="0"/>
                    <a:pt x="12683" y="0"/>
                  </a:cubicBezTo>
                  <a:moveTo>
                    <a:pt x="12683" y="33909"/>
                  </a:moveTo>
                  <a:lnTo>
                    <a:pt x="12683" y="16891"/>
                  </a:lnTo>
                  <a:lnTo>
                    <a:pt x="25462" y="16891"/>
                  </a:lnTo>
                  <a:lnTo>
                    <a:pt x="25462" y="3138043"/>
                  </a:lnTo>
                  <a:lnTo>
                    <a:pt x="12683" y="3138043"/>
                  </a:lnTo>
                  <a:lnTo>
                    <a:pt x="12683" y="3121152"/>
                  </a:lnTo>
                  <a:lnTo>
                    <a:pt x="195780" y="3121152"/>
                  </a:lnTo>
                  <a:lnTo>
                    <a:pt x="195780" y="3138043"/>
                  </a:lnTo>
                  <a:lnTo>
                    <a:pt x="183097" y="3138043"/>
                  </a:lnTo>
                  <a:lnTo>
                    <a:pt x="183097" y="16891"/>
                  </a:lnTo>
                  <a:lnTo>
                    <a:pt x="195780" y="16891"/>
                  </a:lnTo>
                  <a:lnTo>
                    <a:pt x="195780" y="33909"/>
                  </a:lnTo>
                  <a:lnTo>
                    <a:pt x="12683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5939" y="4457492"/>
            <a:ext cx="3927421" cy="960537"/>
            <a:chOff x="0" y="0"/>
            <a:chExt cx="5236561" cy="12807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6561" cy="1280716"/>
            </a:xfrm>
            <a:custGeom>
              <a:avLst/>
              <a:gdLst/>
              <a:ahLst/>
              <a:cxnLst/>
              <a:rect r="r" b="b" t="t" l="l"/>
              <a:pathLst>
                <a:path h="1280716" w="5236561">
                  <a:moveTo>
                    <a:pt x="0" y="0"/>
                  </a:moveTo>
                  <a:lnTo>
                    <a:pt x="5236561" y="0"/>
                  </a:lnTo>
                  <a:lnTo>
                    <a:pt x="5236561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98" r="-33175" b="-5560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5236561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+2.75 pp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5939" y="5449824"/>
            <a:ext cx="3927421" cy="1005840"/>
            <a:chOff x="0" y="0"/>
            <a:chExt cx="5236561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6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36561">
                  <a:moveTo>
                    <a:pt x="0" y="0"/>
                  </a:moveTo>
                  <a:lnTo>
                    <a:pt x="5236561" y="0"/>
                  </a:lnTo>
                  <a:lnTo>
                    <a:pt x="52365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-33175" b="-513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236561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Arousal improvement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(Baseline → Enhanced)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454454" y="7003542"/>
            <a:ext cx="4340532" cy="2378964"/>
            <a:chOff x="0" y="0"/>
            <a:chExt cx="5787376" cy="31719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73" y="25400"/>
              <a:ext cx="5749231" cy="3121152"/>
            </a:xfrm>
            <a:custGeom>
              <a:avLst/>
              <a:gdLst/>
              <a:ahLst/>
              <a:cxnLst/>
              <a:rect r="r" b="b" t="t" l="l"/>
              <a:pathLst>
                <a:path h="3121152" w="5749231">
                  <a:moveTo>
                    <a:pt x="0" y="0"/>
                  </a:moveTo>
                  <a:lnTo>
                    <a:pt x="5749231" y="0"/>
                  </a:lnTo>
                  <a:lnTo>
                    <a:pt x="5749231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87376" cy="3171952"/>
            </a:xfrm>
            <a:custGeom>
              <a:avLst/>
              <a:gdLst/>
              <a:ahLst/>
              <a:cxnLst/>
              <a:rect r="r" b="b" t="t" l="l"/>
              <a:pathLst>
                <a:path h="3171952" w="5787376">
                  <a:moveTo>
                    <a:pt x="19073" y="0"/>
                  </a:moveTo>
                  <a:lnTo>
                    <a:pt x="5768304" y="0"/>
                  </a:lnTo>
                  <a:cubicBezTo>
                    <a:pt x="5778793" y="0"/>
                    <a:pt x="5787376" y="11430"/>
                    <a:pt x="5787376" y="25400"/>
                  </a:cubicBezTo>
                  <a:lnTo>
                    <a:pt x="5787376" y="3146552"/>
                  </a:lnTo>
                  <a:cubicBezTo>
                    <a:pt x="5787376" y="3160522"/>
                    <a:pt x="5778793" y="3171952"/>
                    <a:pt x="5768304" y="3171952"/>
                  </a:cubicBezTo>
                  <a:lnTo>
                    <a:pt x="19073" y="3171952"/>
                  </a:lnTo>
                  <a:cubicBezTo>
                    <a:pt x="8583" y="3171952"/>
                    <a:pt x="0" y="3160522"/>
                    <a:pt x="0" y="3146552"/>
                  </a:cubicBezTo>
                  <a:lnTo>
                    <a:pt x="0" y="25400"/>
                  </a:lnTo>
                  <a:cubicBezTo>
                    <a:pt x="0" y="11430"/>
                    <a:pt x="8583" y="0"/>
                    <a:pt x="19073" y="0"/>
                  </a:cubicBezTo>
                  <a:moveTo>
                    <a:pt x="19073" y="50800"/>
                  </a:moveTo>
                  <a:lnTo>
                    <a:pt x="19073" y="25400"/>
                  </a:lnTo>
                  <a:lnTo>
                    <a:pt x="38145" y="25400"/>
                  </a:lnTo>
                  <a:lnTo>
                    <a:pt x="38145" y="3146552"/>
                  </a:lnTo>
                  <a:lnTo>
                    <a:pt x="19073" y="3146552"/>
                  </a:lnTo>
                  <a:lnTo>
                    <a:pt x="19073" y="3121152"/>
                  </a:lnTo>
                  <a:lnTo>
                    <a:pt x="5768304" y="3121152"/>
                  </a:lnTo>
                  <a:lnTo>
                    <a:pt x="5768304" y="3146552"/>
                  </a:lnTo>
                  <a:lnTo>
                    <a:pt x="5749231" y="3146552"/>
                  </a:lnTo>
                  <a:lnTo>
                    <a:pt x="5749231" y="25400"/>
                  </a:lnTo>
                  <a:lnTo>
                    <a:pt x="5768304" y="25400"/>
                  </a:lnTo>
                  <a:lnTo>
                    <a:pt x="5768304" y="50800"/>
                  </a:lnTo>
                  <a:lnTo>
                    <a:pt x="19073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59224" y="7009895"/>
            <a:ext cx="156397" cy="2366267"/>
            <a:chOff x="0" y="0"/>
            <a:chExt cx="208530" cy="31550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683" y="16891"/>
              <a:ext cx="183097" cy="3121152"/>
            </a:xfrm>
            <a:custGeom>
              <a:avLst/>
              <a:gdLst/>
              <a:ahLst/>
              <a:cxnLst/>
              <a:rect r="r" b="b" t="t" l="l"/>
              <a:pathLst>
                <a:path h="3121152" w="183097">
                  <a:moveTo>
                    <a:pt x="0" y="0"/>
                  </a:moveTo>
                  <a:lnTo>
                    <a:pt x="183097" y="0"/>
                  </a:lnTo>
                  <a:lnTo>
                    <a:pt x="183097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8463" cy="3154934"/>
            </a:xfrm>
            <a:custGeom>
              <a:avLst/>
              <a:gdLst/>
              <a:ahLst/>
              <a:cxnLst/>
              <a:rect r="r" b="b" t="t" l="l"/>
              <a:pathLst>
                <a:path h="3154934" w="208463">
                  <a:moveTo>
                    <a:pt x="12683" y="0"/>
                  </a:moveTo>
                  <a:lnTo>
                    <a:pt x="195780" y="0"/>
                  </a:lnTo>
                  <a:cubicBezTo>
                    <a:pt x="202837" y="0"/>
                    <a:pt x="208463" y="7620"/>
                    <a:pt x="208463" y="16891"/>
                  </a:cubicBezTo>
                  <a:lnTo>
                    <a:pt x="208463" y="3138043"/>
                  </a:lnTo>
                  <a:cubicBezTo>
                    <a:pt x="208463" y="3147441"/>
                    <a:pt x="202741" y="3154934"/>
                    <a:pt x="195780" y="3154934"/>
                  </a:cubicBezTo>
                  <a:lnTo>
                    <a:pt x="12683" y="3154934"/>
                  </a:lnTo>
                  <a:cubicBezTo>
                    <a:pt x="5626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5722" y="0"/>
                    <a:pt x="12683" y="0"/>
                  </a:cubicBezTo>
                  <a:moveTo>
                    <a:pt x="12683" y="33909"/>
                  </a:moveTo>
                  <a:lnTo>
                    <a:pt x="12683" y="16891"/>
                  </a:lnTo>
                  <a:lnTo>
                    <a:pt x="25462" y="16891"/>
                  </a:lnTo>
                  <a:lnTo>
                    <a:pt x="25462" y="3138043"/>
                  </a:lnTo>
                  <a:lnTo>
                    <a:pt x="12683" y="3138043"/>
                  </a:lnTo>
                  <a:lnTo>
                    <a:pt x="12683" y="3121152"/>
                  </a:lnTo>
                  <a:lnTo>
                    <a:pt x="195780" y="3121152"/>
                  </a:lnTo>
                  <a:lnTo>
                    <a:pt x="195780" y="3138043"/>
                  </a:lnTo>
                  <a:lnTo>
                    <a:pt x="183097" y="3138043"/>
                  </a:lnTo>
                  <a:lnTo>
                    <a:pt x="183097" y="16891"/>
                  </a:lnTo>
                  <a:lnTo>
                    <a:pt x="195780" y="16891"/>
                  </a:lnTo>
                  <a:lnTo>
                    <a:pt x="195780" y="33909"/>
                  </a:lnTo>
                  <a:lnTo>
                    <a:pt x="12683" y="33909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5939" y="7127540"/>
            <a:ext cx="3927421" cy="960537"/>
            <a:chOff x="0" y="0"/>
            <a:chExt cx="5236561" cy="12807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36561" cy="1280716"/>
            </a:xfrm>
            <a:custGeom>
              <a:avLst/>
              <a:gdLst/>
              <a:ahLst/>
              <a:cxnLst/>
              <a:rect r="r" b="b" t="t" l="l"/>
              <a:pathLst>
                <a:path h="1280716" w="5236561">
                  <a:moveTo>
                    <a:pt x="0" y="0"/>
                  </a:moveTo>
                  <a:lnTo>
                    <a:pt x="5236561" y="0"/>
                  </a:lnTo>
                  <a:lnTo>
                    <a:pt x="5236561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98" r="-33175" b="-556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5236561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5.1%/9.4%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15939" y="8119872"/>
            <a:ext cx="3927421" cy="1005840"/>
            <a:chOff x="0" y="0"/>
            <a:chExt cx="5236561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36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36561">
                  <a:moveTo>
                    <a:pt x="0" y="0"/>
                  </a:moveTo>
                  <a:lnTo>
                    <a:pt x="5236561" y="0"/>
                  </a:lnTo>
                  <a:lnTo>
                    <a:pt x="52365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-33175" b="-5132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236561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inter-subject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std dev (down from 7%/13%)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Cross-Dataset Robustness: Papez-Circuit Prior Generalises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669799"/>
            <a:ext cx="8401307" cy="793499"/>
            <a:chOff x="0" y="0"/>
            <a:chExt cx="11201743" cy="1057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16787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01654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201654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1041019"/>
                  </a:lnTo>
                  <a:cubicBezTo>
                    <a:pt x="11201654" y="1050417"/>
                    <a:pt x="11194034" y="1057910"/>
                    <a:pt x="11184763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184763" y="1024128"/>
                  </a:lnTo>
                  <a:lnTo>
                    <a:pt x="11184763" y="1041019"/>
                  </a:lnTo>
                  <a:lnTo>
                    <a:pt x="11167872" y="1041019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1682496"/>
            <a:ext cx="8375904" cy="768096"/>
            <a:chOff x="0" y="0"/>
            <a:chExt cx="11167872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6787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79" r="0" b="-1624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167872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DEAP  (Binary, 2-class)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36192" y="2633472"/>
            <a:ext cx="7095744" cy="731520"/>
            <a:chOff x="0" y="0"/>
            <a:chExt cx="9460992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32-ch layout → L/R hemisphere + frontal split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36192" y="3767328"/>
            <a:ext cx="7095744" cy="731520"/>
            <a:chOff x="0" y="0"/>
            <a:chExt cx="9460992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 valence &amp; arousal labels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36192" y="4901184"/>
            <a:ext cx="7095744" cy="731520"/>
            <a:chOff x="0" y="0"/>
            <a:chExt cx="9460992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λ_DANN = λ_CORAL = 0.1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36192" y="6035040"/>
            <a:ext cx="7095744" cy="731520"/>
            <a:chOff x="0" y="0"/>
            <a:chExt cx="9460992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Multi-task dual D3QN heads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36192" y="7168896"/>
            <a:ext cx="7095744" cy="731520"/>
            <a:chOff x="0" y="0"/>
            <a:chExt cx="9460992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56.22% / 58.78%  (+1.70 / +2.75 pp)  [Table 2]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87335" y="1669799"/>
            <a:ext cx="8401307" cy="793499"/>
            <a:chOff x="0" y="0"/>
            <a:chExt cx="11201743" cy="10579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16787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0E67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01654" cy="1057912"/>
            </a:xfrm>
            <a:custGeom>
              <a:avLst/>
              <a:gdLst/>
              <a:ahLst/>
              <a:cxnLst/>
              <a:rect r="r" b="b" t="t" l="l"/>
              <a:pathLst>
                <a:path h="1057912" w="11201654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1041019"/>
                  </a:lnTo>
                  <a:cubicBezTo>
                    <a:pt x="11201654" y="1050417"/>
                    <a:pt x="11194034" y="1057910"/>
                    <a:pt x="11184763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184763" y="1024128"/>
                  </a:lnTo>
                  <a:lnTo>
                    <a:pt x="11184763" y="1041019"/>
                  </a:lnTo>
                  <a:lnTo>
                    <a:pt x="11167872" y="1041019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0032" y="1682496"/>
            <a:ext cx="8375904" cy="768096"/>
            <a:chOff x="0" y="0"/>
            <a:chExt cx="11167872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6787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79" r="0" b="-1624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1167872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SEED-IV  (Discrete, 4-class)  — NEW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24160" y="2633472"/>
            <a:ext cx="7095744" cy="866198"/>
            <a:chOff x="0" y="0"/>
            <a:chExt cx="9460992" cy="11549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60992" cy="1154931"/>
            </a:xfrm>
            <a:custGeom>
              <a:avLst/>
              <a:gdLst/>
              <a:ahLst/>
              <a:cxnLst/>
              <a:rect r="r" b="b" t="t" l="l"/>
              <a:pathLst>
                <a:path h="1154931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1154931"/>
                  </a:lnTo>
                  <a:lnTo>
                    <a:pt x="0" y="1154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92" r="0" b="-1018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460992" cy="1202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62-ch layout → same topographic partition principle  [Sec. 2.3.1]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24160" y="3767328"/>
            <a:ext cx="7095744" cy="731520"/>
            <a:chOff x="0" y="0"/>
            <a:chExt cx="9460992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4-class: Neutral / Sad / Fear / Happy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24160" y="4901184"/>
            <a:ext cx="7095744" cy="731520"/>
            <a:chOff x="0" y="0"/>
            <a:chExt cx="9460992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HARL λ* via PPO actor  [Eq. 11]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24160" y="6035040"/>
            <a:ext cx="7095744" cy="731520"/>
            <a:chOff x="0" y="0"/>
            <a:chExt cx="9460992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3-session non-stationarity handled by HARL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24160" y="7168896"/>
            <a:ext cx="7095744" cy="731520"/>
            <a:chOff x="0" y="0"/>
            <a:chExt cx="9460992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04" r="0" b="-1390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46099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36.03%  (+11.03 pp above chance)  [Table 3]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075038" y="4746498"/>
            <a:ext cx="1195835" cy="1228096"/>
            <a:chOff x="0" y="0"/>
            <a:chExt cx="1594447" cy="16374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7347"/>
              <a:ext cx="1560576" cy="1602677"/>
            </a:xfrm>
            <a:custGeom>
              <a:avLst/>
              <a:gdLst/>
              <a:ahLst/>
              <a:cxnLst/>
              <a:rect r="r" b="b" t="t" l="l"/>
              <a:pathLst>
                <a:path h="1602677" w="1560576">
                  <a:moveTo>
                    <a:pt x="0" y="801338"/>
                  </a:moveTo>
                  <a:cubicBezTo>
                    <a:pt x="0" y="358802"/>
                    <a:pt x="349377" y="0"/>
                    <a:pt x="780288" y="0"/>
                  </a:cubicBezTo>
                  <a:cubicBezTo>
                    <a:pt x="1211199" y="0"/>
                    <a:pt x="1560576" y="358802"/>
                    <a:pt x="1560576" y="801338"/>
                  </a:cubicBezTo>
                  <a:cubicBezTo>
                    <a:pt x="1560576" y="1243874"/>
                    <a:pt x="1211199" y="1602677"/>
                    <a:pt x="780288" y="1602677"/>
                  </a:cubicBezTo>
                  <a:cubicBezTo>
                    <a:pt x="349377" y="1602677"/>
                    <a:pt x="0" y="1244005"/>
                    <a:pt x="0" y="801338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94358" cy="1637371"/>
            </a:xfrm>
            <a:custGeom>
              <a:avLst/>
              <a:gdLst/>
              <a:ahLst/>
              <a:cxnLst/>
              <a:rect r="r" b="b" t="t" l="l"/>
              <a:pathLst>
                <a:path h="1637371" w="1594358">
                  <a:moveTo>
                    <a:pt x="0" y="818685"/>
                  </a:moveTo>
                  <a:cubicBezTo>
                    <a:pt x="0" y="366498"/>
                    <a:pt x="356870" y="0"/>
                    <a:pt x="797179" y="0"/>
                  </a:cubicBezTo>
                  <a:lnTo>
                    <a:pt x="797179" y="17347"/>
                  </a:lnTo>
                  <a:lnTo>
                    <a:pt x="797179" y="0"/>
                  </a:lnTo>
                  <a:cubicBezTo>
                    <a:pt x="1237488" y="0"/>
                    <a:pt x="1594358" y="366498"/>
                    <a:pt x="1594358" y="818685"/>
                  </a:cubicBezTo>
                  <a:cubicBezTo>
                    <a:pt x="1594358" y="1270873"/>
                    <a:pt x="1237488" y="1637371"/>
                    <a:pt x="797179" y="1637371"/>
                  </a:cubicBezTo>
                  <a:lnTo>
                    <a:pt x="797179" y="1620024"/>
                  </a:lnTo>
                  <a:lnTo>
                    <a:pt x="797179" y="1637371"/>
                  </a:lnTo>
                  <a:cubicBezTo>
                    <a:pt x="356870" y="1637500"/>
                    <a:pt x="0" y="1270873"/>
                    <a:pt x="0" y="818685"/>
                  </a:cubicBezTo>
                  <a:lnTo>
                    <a:pt x="16891" y="818685"/>
                  </a:lnTo>
                  <a:lnTo>
                    <a:pt x="31242" y="827945"/>
                  </a:lnTo>
                  <a:cubicBezTo>
                    <a:pt x="27178" y="834467"/>
                    <a:pt x="19431" y="837467"/>
                    <a:pt x="12192" y="835380"/>
                  </a:cubicBezTo>
                  <a:cubicBezTo>
                    <a:pt x="4953" y="833293"/>
                    <a:pt x="0" y="826511"/>
                    <a:pt x="0" y="818685"/>
                  </a:cubicBezTo>
                  <a:moveTo>
                    <a:pt x="33909" y="818685"/>
                  </a:moveTo>
                  <a:lnTo>
                    <a:pt x="16891" y="818685"/>
                  </a:lnTo>
                  <a:lnTo>
                    <a:pt x="2667" y="809425"/>
                  </a:lnTo>
                  <a:cubicBezTo>
                    <a:pt x="6731" y="802904"/>
                    <a:pt x="14478" y="799904"/>
                    <a:pt x="21717" y="801991"/>
                  </a:cubicBezTo>
                  <a:cubicBezTo>
                    <a:pt x="28956" y="804078"/>
                    <a:pt x="33909" y="810990"/>
                    <a:pt x="33909" y="818685"/>
                  </a:cubicBezTo>
                  <a:cubicBezTo>
                    <a:pt x="33909" y="1251700"/>
                    <a:pt x="375666" y="1602677"/>
                    <a:pt x="797306" y="1602677"/>
                  </a:cubicBezTo>
                  <a:cubicBezTo>
                    <a:pt x="1218946" y="1602677"/>
                    <a:pt x="1560703" y="1251700"/>
                    <a:pt x="1560703" y="818685"/>
                  </a:cubicBezTo>
                  <a:lnTo>
                    <a:pt x="1577594" y="818685"/>
                  </a:lnTo>
                  <a:lnTo>
                    <a:pt x="1560703" y="818685"/>
                  </a:lnTo>
                  <a:cubicBezTo>
                    <a:pt x="1560703" y="385670"/>
                    <a:pt x="1218946" y="34693"/>
                    <a:pt x="797306" y="34693"/>
                  </a:cubicBezTo>
                  <a:lnTo>
                    <a:pt x="797306" y="17347"/>
                  </a:lnTo>
                  <a:lnTo>
                    <a:pt x="797306" y="34824"/>
                  </a:lnTo>
                  <a:cubicBezTo>
                    <a:pt x="375666" y="34824"/>
                    <a:pt x="33909" y="385801"/>
                    <a:pt x="33909" y="818816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087735" y="4759537"/>
            <a:ext cx="1170432" cy="1202008"/>
            <a:chOff x="0" y="0"/>
            <a:chExt cx="1560576" cy="160267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60576" cy="1602677"/>
            </a:xfrm>
            <a:custGeom>
              <a:avLst/>
              <a:gdLst/>
              <a:ahLst/>
              <a:cxnLst/>
              <a:rect r="r" b="b" t="t" l="l"/>
              <a:pathLst>
                <a:path h="1602677" w="1560576">
                  <a:moveTo>
                    <a:pt x="0" y="0"/>
                  </a:moveTo>
                  <a:lnTo>
                    <a:pt x="1560576" y="0"/>
                  </a:lnTo>
                  <a:lnTo>
                    <a:pt x="1560576" y="1602677"/>
                  </a:lnTo>
                  <a:lnTo>
                    <a:pt x="0" y="16026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26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560576" cy="1669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60E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3014" y="9271254"/>
            <a:ext cx="17301972" cy="842772"/>
            <a:chOff x="0" y="0"/>
            <a:chExt cx="23069296" cy="11236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230184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0692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23069296">
                  <a:moveTo>
                    <a:pt x="25400" y="0"/>
                  </a:moveTo>
                  <a:lnTo>
                    <a:pt x="23043896" y="0"/>
                  </a:lnTo>
                  <a:cubicBezTo>
                    <a:pt x="23057865" y="0"/>
                    <a:pt x="23069296" y="11430"/>
                    <a:pt x="23069296" y="25400"/>
                  </a:cubicBezTo>
                  <a:lnTo>
                    <a:pt x="23069296" y="1098296"/>
                  </a:lnTo>
                  <a:cubicBezTo>
                    <a:pt x="23069296" y="1112266"/>
                    <a:pt x="23057865" y="1123696"/>
                    <a:pt x="23043896" y="1123696"/>
                  </a:cubicBezTo>
                  <a:lnTo>
                    <a:pt x="25400" y="1123696"/>
                  </a:lnTo>
                  <a:cubicBezTo>
                    <a:pt x="11430" y="1123696"/>
                    <a:pt x="0" y="1112266"/>
                    <a:pt x="0" y="1098296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98296"/>
                  </a:lnTo>
                  <a:lnTo>
                    <a:pt x="25400" y="1098296"/>
                  </a:lnTo>
                  <a:lnTo>
                    <a:pt x="25400" y="1072896"/>
                  </a:lnTo>
                  <a:lnTo>
                    <a:pt x="23043896" y="1072896"/>
                  </a:lnTo>
                  <a:lnTo>
                    <a:pt x="23043896" y="1098296"/>
                  </a:lnTo>
                  <a:lnTo>
                    <a:pt x="23018496" y="1098296"/>
                  </a:lnTo>
                  <a:lnTo>
                    <a:pt x="23018496" y="25400"/>
                  </a:lnTo>
                  <a:lnTo>
                    <a:pt x="23043896" y="25400"/>
                  </a:lnTo>
                  <a:lnTo>
                    <a:pt x="2304389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94944" y="9326880"/>
            <a:ext cx="585216" cy="585216"/>
            <a:chOff x="0" y="0"/>
            <a:chExt cx="780288" cy="780288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26464" y="9290304"/>
            <a:ext cx="16203168" cy="804672"/>
            <a:chOff x="0" y="0"/>
            <a:chExt cx="21604224" cy="10728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604224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604224">
                  <a:moveTo>
                    <a:pt x="0" y="0"/>
                  </a:moveTo>
                  <a:lnTo>
                    <a:pt x="21604224" y="0"/>
                  </a:lnTo>
                  <a:lnTo>
                    <a:pt x="21604224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357" r="0" b="-34235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1604224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INSIGHT: The frontal alpha-asymmetry electrode partition transfers across datasets without architectural modification  [Sec. 5.6.2]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40664" y="2634748"/>
            <a:ext cx="640080" cy="640080"/>
            <a:chOff x="0" y="0"/>
            <a:chExt cx="853440" cy="85344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40664" y="3785616"/>
            <a:ext cx="640080" cy="640080"/>
            <a:chOff x="0" y="0"/>
            <a:chExt cx="853440" cy="85344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40664" y="4901184"/>
            <a:ext cx="640080" cy="640080"/>
            <a:chOff x="0" y="0"/>
            <a:chExt cx="853440" cy="85344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08660" y="6080760"/>
            <a:ext cx="640080" cy="640080"/>
            <a:chOff x="0" y="0"/>
            <a:chExt cx="853440" cy="85344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740664" y="7168896"/>
            <a:ext cx="640080" cy="640080"/>
            <a:chOff x="0" y="0"/>
            <a:chExt cx="853440" cy="85344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28048" y="2710948"/>
            <a:ext cx="640080" cy="640080"/>
            <a:chOff x="0" y="0"/>
            <a:chExt cx="853440" cy="85344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559042" y="7168896"/>
            <a:ext cx="640080" cy="640080"/>
            <a:chOff x="0" y="0"/>
            <a:chExt cx="853440" cy="85344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528048" y="6126480"/>
            <a:ext cx="640080" cy="640080"/>
            <a:chOff x="0" y="0"/>
            <a:chExt cx="853440" cy="853440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528048" y="4992624"/>
            <a:ext cx="640080" cy="640080"/>
            <a:chOff x="0" y="0"/>
            <a:chExt cx="853440" cy="85344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59042" y="3813048"/>
            <a:ext cx="640080" cy="640080"/>
            <a:chOff x="0" y="0"/>
            <a:chExt cx="853440" cy="853440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Does It Work? Mechanism Breakdown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1700022"/>
            <a:ext cx="8487156" cy="3805428"/>
            <a:chOff x="0" y="0"/>
            <a:chExt cx="11316208" cy="5073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265408" cy="5023104"/>
            </a:xfrm>
            <a:custGeom>
              <a:avLst/>
              <a:gdLst/>
              <a:ahLst/>
              <a:cxnLst/>
              <a:rect r="r" b="b" t="t" l="l"/>
              <a:pathLst>
                <a:path h="5023104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16208" cy="5073904"/>
            </a:xfrm>
            <a:custGeom>
              <a:avLst/>
              <a:gdLst/>
              <a:ahLst/>
              <a:cxnLst/>
              <a:rect r="r" b="b" t="t" l="l"/>
              <a:pathLst>
                <a:path h="5073904" w="11316208">
                  <a:moveTo>
                    <a:pt x="25400" y="0"/>
                  </a:moveTo>
                  <a:lnTo>
                    <a:pt x="11290808" y="0"/>
                  </a:lnTo>
                  <a:cubicBezTo>
                    <a:pt x="11304777" y="0"/>
                    <a:pt x="11316208" y="11430"/>
                    <a:pt x="11316208" y="25400"/>
                  </a:cubicBezTo>
                  <a:lnTo>
                    <a:pt x="11316208" y="5048504"/>
                  </a:lnTo>
                  <a:cubicBezTo>
                    <a:pt x="11316208" y="5062474"/>
                    <a:pt x="11304777" y="5073904"/>
                    <a:pt x="11290808" y="5073904"/>
                  </a:cubicBezTo>
                  <a:lnTo>
                    <a:pt x="25400" y="5073904"/>
                  </a:lnTo>
                  <a:cubicBezTo>
                    <a:pt x="11430" y="5073904"/>
                    <a:pt x="0" y="5062474"/>
                    <a:pt x="0" y="504850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048504"/>
                  </a:lnTo>
                  <a:lnTo>
                    <a:pt x="25400" y="5048504"/>
                  </a:lnTo>
                  <a:lnTo>
                    <a:pt x="25400" y="5023104"/>
                  </a:lnTo>
                  <a:lnTo>
                    <a:pt x="11290808" y="5023104"/>
                  </a:lnTo>
                  <a:lnTo>
                    <a:pt x="11290808" y="5048504"/>
                  </a:lnTo>
                  <a:lnTo>
                    <a:pt x="11265408" y="5048504"/>
                  </a:lnTo>
                  <a:lnTo>
                    <a:pt x="11265408" y="25400"/>
                  </a:lnTo>
                  <a:lnTo>
                    <a:pt x="11290808" y="25400"/>
                  </a:lnTo>
                  <a:lnTo>
                    <a:pt x="112908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706375"/>
            <a:ext cx="8474459" cy="153419"/>
            <a:chOff x="0" y="0"/>
            <a:chExt cx="11299279" cy="20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65408" cy="170688"/>
            </a:xfrm>
            <a:custGeom>
              <a:avLst/>
              <a:gdLst/>
              <a:ahLst/>
              <a:cxnLst/>
              <a:rect r="r" b="b" t="t" l="l"/>
              <a:pathLst>
                <a:path h="17068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99190" cy="204472"/>
            </a:xfrm>
            <a:custGeom>
              <a:avLst/>
              <a:gdLst/>
              <a:ahLst/>
              <a:cxnLst/>
              <a:rect r="r" b="b" t="t" l="l"/>
              <a:pathLst>
                <a:path h="204472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187579"/>
                  </a:lnTo>
                  <a:cubicBezTo>
                    <a:pt x="11299190" y="196977"/>
                    <a:pt x="11291570" y="204470"/>
                    <a:pt x="11282299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282299" y="170688"/>
                  </a:lnTo>
                  <a:lnTo>
                    <a:pt x="11282299" y="187579"/>
                  </a:lnTo>
                  <a:lnTo>
                    <a:pt x="11265408" y="18757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2084832"/>
            <a:ext cx="804672" cy="804672"/>
            <a:chOff x="0" y="0"/>
            <a:chExt cx="1072896" cy="107289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55648" y="2011680"/>
            <a:ext cx="6949440" cy="804672"/>
            <a:chOff x="0" y="0"/>
            <a:chExt cx="9265920" cy="1072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265920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Papez-Circuit Prior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8096" y="3035808"/>
            <a:ext cx="7936992" cy="2157984"/>
            <a:chOff x="0" y="0"/>
            <a:chExt cx="10582656" cy="28773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82656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65" r="0" b="-216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582656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Electrode split into L/R + frontal streams focuses gradients on AF3/F3/F7/AF4/F4/F8 — the most cross-subject-stable emotion channels  [Sec. 5.6.2]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80982" y="1700022"/>
            <a:ext cx="8487156" cy="3805428"/>
            <a:chOff x="0" y="0"/>
            <a:chExt cx="11316208" cy="50739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1265408" cy="5023104"/>
            </a:xfrm>
            <a:custGeom>
              <a:avLst/>
              <a:gdLst/>
              <a:ahLst/>
              <a:cxnLst/>
              <a:rect r="r" b="b" t="t" l="l"/>
              <a:pathLst>
                <a:path h="5023104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16208" cy="5073904"/>
            </a:xfrm>
            <a:custGeom>
              <a:avLst/>
              <a:gdLst/>
              <a:ahLst/>
              <a:cxnLst/>
              <a:rect r="r" b="b" t="t" l="l"/>
              <a:pathLst>
                <a:path h="5073904" w="11316208">
                  <a:moveTo>
                    <a:pt x="25400" y="0"/>
                  </a:moveTo>
                  <a:lnTo>
                    <a:pt x="11290808" y="0"/>
                  </a:lnTo>
                  <a:cubicBezTo>
                    <a:pt x="11304777" y="0"/>
                    <a:pt x="11316208" y="11430"/>
                    <a:pt x="11316208" y="25400"/>
                  </a:cubicBezTo>
                  <a:lnTo>
                    <a:pt x="11316208" y="5048504"/>
                  </a:lnTo>
                  <a:cubicBezTo>
                    <a:pt x="11316208" y="5062474"/>
                    <a:pt x="11304777" y="5073904"/>
                    <a:pt x="11290808" y="5073904"/>
                  </a:cubicBezTo>
                  <a:lnTo>
                    <a:pt x="25400" y="5073904"/>
                  </a:lnTo>
                  <a:cubicBezTo>
                    <a:pt x="11430" y="5073904"/>
                    <a:pt x="0" y="5062474"/>
                    <a:pt x="0" y="504850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048504"/>
                  </a:lnTo>
                  <a:lnTo>
                    <a:pt x="25400" y="5048504"/>
                  </a:lnTo>
                  <a:lnTo>
                    <a:pt x="25400" y="5023104"/>
                  </a:lnTo>
                  <a:lnTo>
                    <a:pt x="11290808" y="5023104"/>
                  </a:lnTo>
                  <a:lnTo>
                    <a:pt x="11290808" y="5048504"/>
                  </a:lnTo>
                  <a:lnTo>
                    <a:pt x="11265408" y="5048504"/>
                  </a:lnTo>
                  <a:lnTo>
                    <a:pt x="11265408" y="25400"/>
                  </a:lnTo>
                  <a:lnTo>
                    <a:pt x="11290808" y="25400"/>
                  </a:lnTo>
                  <a:lnTo>
                    <a:pt x="112908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87335" y="1706375"/>
            <a:ext cx="8474459" cy="153419"/>
            <a:chOff x="0" y="0"/>
            <a:chExt cx="11299279" cy="2045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265408" cy="170688"/>
            </a:xfrm>
            <a:custGeom>
              <a:avLst/>
              <a:gdLst/>
              <a:ahLst/>
              <a:cxnLst/>
              <a:rect r="r" b="b" t="t" l="l"/>
              <a:pathLst>
                <a:path h="17068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99190" cy="204472"/>
            </a:xfrm>
            <a:custGeom>
              <a:avLst/>
              <a:gdLst/>
              <a:ahLst/>
              <a:cxnLst/>
              <a:rect r="r" b="b" t="t" l="l"/>
              <a:pathLst>
                <a:path h="204472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187579"/>
                  </a:lnTo>
                  <a:cubicBezTo>
                    <a:pt x="11299190" y="196977"/>
                    <a:pt x="11291570" y="204470"/>
                    <a:pt x="11282299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282299" y="170688"/>
                  </a:lnTo>
                  <a:lnTo>
                    <a:pt x="11282299" y="187579"/>
                  </a:lnTo>
                  <a:lnTo>
                    <a:pt x="11265408" y="18757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56064" y="2084832"/>
            <a:ext cx="804672" cy="804672"/>
            <a:chOff x="0" y="0"/>
            <a:chExt cx="1072896" cy="1072896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643616" y="2011680"/>
            <a:ext cx="6949440" cy="804672"/>
            <a:chOff x="0" y="0"/>
            <a:chExt cx="9265920" cy="107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265920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Synergistic 3-Level Alignment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56064" y="3035808"/>
            <a:ext cx="7936992" cy="2157984"/>
            <a:chOff x="0" y="0"/>
            <a:chExt cx="10582656" cy="28773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82656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65" r="0" b="-216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582656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 → CORAL → DANN targets 1st-, 2nd-, and higher-order shift. No single level alone achieves the variance reduction  [Sec. 5.6.4]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3014" y="5833110"/>
            <a:ext cx="8487156" cy="3805428"/>
            <a:chOff x="0" y="0"/>
            <a:chExt cx="11316208" cy="50739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5400" y="25400"/>
              <a:ext cx="11265408" cy="5023104"/>
            </a:xfrm>
            <a:custGeom>
              <a:avLst/>
              <a:gdLst/>
              <a:ahLst/>
              <a:cxnLst/>
              <a:rect r="r" b="b" t="t" l="l"/>
              <a:pathLst>
                <a:path h="5023104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16208" cy="5073904"/>
            </a:xfrm>
            <a:custGeom>
              <a:avLst/>
              <a:gdLst/>
              <a:ahLst/>
              <a:cxnLst/>
              <a:rect r="r" b="b" t="t" l="l"/>
              <a:pathLst>
                <a:path h="5073904" w="11316208">
                  <a:moveTo>
                    <a:pt x="25400" y="0"/>
                  </a:moveTo>
                  <a:lnTo>
                    <a:pt x="11290808" y="0"/>
                  </a:lnTo>
                  <a:cubicBezTo>
                    <a:pt x="11304777" y="0"/>
                    <a:pt x="11316208" y="11430"/>
                    <a:pt x="11316208" y="25400"/>
                  </a:cubicBezTo>
                  <a:lnTo>
                    <a:pt x="11316208" y="5048504"/>
                  </a:lnTo>
                  <a:cubicBezTo>
                    <a:pt x="11316208" y="5062474"/>
                    <a:pt x="11304777" y="5073904"/>
                    <a:pt x="11290808" y="5073904"/>
                  </a:cubicBezTo>
                  <a:lnTo>
                    <a:pt x="25400" y="5073904"/>
                  </a:lnTo>
                  <a:cubicBezTo>
                    <a:pt x="11430" y="5073904"/>
                    <a:pt x="0" y="5062474"/>
                    <a:pt x="0" y="504850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048504"/>
                  </a:lnTo>
                  <a:lnTo>
                    <a:pt x="25400" y="5048504"/>
                  </a:lnTo>
                  <a:lnTo>
                    <a:pt x="25400" y="5023104"/>
                  </a:lnTo>
                  <a:lnTo>
                    <a:pt x="11290808" y="5023104"/>
                  </a:lnTo>
                  <a:lnTo>
                    <a:pt x="11290808" y="5048504"/>
                  </a:lnTo>
                  <a:lnTo>
                    <a:pt x="11265408" y="5048504"/>
                  </a:lnTo>
                  <a:lnTo>
                    <a:pt x="11265408" y="25400"/>
                  </a:lnTo>
                  <a:lnTo>
                    <a:pt x="11290808" y="25400"/>
                  </a:lnTo>
                  <a:lnTo>
                    <a:pt x="112908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99367" y="5839463"/>
            <a:ext cx="8474459" cy="153419"/>
            <a:chOff x="0" y="0"/>
            <a:chExt cx="11299279" cy="2045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1265408" cy="170688"/>
            </a:xfrm>
            <a:custGeom>
              <a:avLst/>
              <a:gdLst/>
              <a:ahLst/>
              <a:cxnLst/>
              <a:rect r="r" b="b" t="t" l="l"/>
              <a:pathLst>
                <a:path h="17068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99190" cy="204472"/>
            </a:xfrm>
            <a:custGeom>
              <a:avLst/>
              <a:gdLst/>
              <a:ahLst/>
              <a:cxnLst/>
              <a:rect r="r" b="b" t="t" l="l"/>
              <a:pathLst>
                <a:path h="204472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187579"/>
                  </a:lnTo>
                  <a:cubicBezTo>
                    <a:pt x="11299190" y="196977"/>
                    <a:pt x="11291570" y="204470"/>
                    <a:pt x="11282299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282299" y="170688"/>
                  </a:lnTo>
                  <a:lnTo>
                    <a:pt x="11282299" y="187579"/>
                  </a:lnTo>
                  <a:lnTo>
                    <a:pt x="11265408" y="18757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8096" y="6217920"/>
            <a:ext cx="804672" cy="804672"/>
            <a:chOff x="0" y="0"/>
            <a:chExt cx="1072896" cy="1072896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55648" y="6144768"/>
            <a:ext cx="6949440" cy="804672"/>
            <a:chOff x="0" y="0"/>
            <a:chExt cx="9265920" cy="1072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265920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 as Implicit Denoiser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8096" y="7168896"/>
            <a:ext cx="7936992" cy="2157984"/>
            <a:chOff x="0" y="0"/>
            <a:chExt cx="10582656" cy="28773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82656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65" r="0" b="-2166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582656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blocks suppress subject-identity-heavy peripheral channels, cleaning features before CORAL &amp; DANN apply  [Sec. 2.3.2]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80982" y="5833110"/>
            <a:ext cx="8487156" cy="3805428"/>
            <a:chOff x="0" y="0"/>
            <a:chExt cx="11316208" cy="50739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11265408" cy="5023104"/>
            </a:xfrm>
            <a:custGeom>
              <a:avLst/>
              <a:gdLst/>
              <a:ahLst/>
              <a:cxnLst/>
              <a:rect r="r" b="b" t="t" l="l"/>
              <a:pathLst>
                <a:path h="5023104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023104"/>
                  </a:lnTo>
                  <a:lnTo>
                    <a:pt x="0" y="5023104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16208" cy="5073904"/>
            </a:xfrm>
            <a:custGeom>
              <a:avLst/>
              <a:gdLst/>
              <a:ahLst/>
              <a:cxnLst/>
              <a:rect r="r" b="b" t="t" l="l"/>
              <a:pathLst>
                <a:path h="5073904" w="11316208">
                  <a:moveTo>
                    <a:pt x="25400" y="0"/>
                  </a:moveTo>
                  <a:lnTo>
                    <a:pt x="11290808" y="0"/>
                  </a:lnTo>
                  <a:cubicBezTo>
                    <a:pt x="11304777" y="0"/>
                    <a:pt x="11316208" y="11430"/>
                    <a:pt x="11316208" y="25400"/>
                  </a:cubicBezTo>
                  <a:lnTo>
                    <a:pt x="11316208" y="5048504"/>
                  </a:lnTo>
                  <a:cubicBezTo>
                    <a:pt x="11316208" y="5062474"/>
                    <a:pt x="11304777" y="5073904"/>
                    <a:pt x="11290808" y="5073904"/>
                  </a:cubicBezTo>
                  <a:lnTo>
                    <a:pt x="25400" y="5073904"/>
                  </a:lnTo>
                  <a:cubicBezTo>
                    <a:pt x="11430" y="5073904"/>
                    <a:pt x="0" y="5062474"/>
                    <a:pt x="0" y="504850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048504"/>
                  </a:lnTo>
                  <a:lnTo>
                    <a:pt x="25400" y="5048504"/>
                  </a:lnTo>
                  <a:lnTo>
                    <a:pt x="25400" y="5023104"/>
                  </a:lnTo>
                  <a:lnTo>
                    <a:pt x="11290808" y="5023104"/>
                  </a:lnTo>
                  <a:lnTo>
                    <a:pt x="11290808" y="5048504"/>
                  </a:lnTo>
                  <a:lnTo>
                    <a:pt x="11265408" y="5048504"/>
                  </a:lnTo>
                  <a:lnTo>
                    <a:pt x="11265408" y="25400"/>
                  </a:lnTo>
                  <a:lnTo>
                    <a:pt x="11290808" y="25400"/>
                  </a:lnTo>
                  <a:lnTo>
                    <a:pt x="112908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87335" y="5839463"/>
            <a:ext cx="8474459" cy="153419"/>
            <a:chOff x="0" y="0"/>
            <a:chExt cx="11299279" cy="2045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265408" cy="170688"/>
            </a:xfrm>
            <a:custGeom>
              <a:avLst/>
              <a:gdLst/>
              <a:ahLst/>
              <a:cxnLst/>
              <a:rect r="r" b="b" t="t" l="l"/>
              <a:pathLst>
                <a:path h="17068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E67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99190" cy="204472"/>
            </a:xfrm>
            <a:custGeom>
              <a:avLst/>
              <a:gdLst/>
              <a:ahLst/>
              <a:cxnLst/>
              <a:rect r="r" b="b" t="t" l="l"/>
              <a:pathLst>
                <a:path h="204472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187579"/>
                  </a:lnTo>
                  <a:cubicBezTo>
                    <a:pt x="11299190" y="196977"/>
                    <a:pt x="11291570" y="204470"/>
                    <a:pt x="11282299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282299" y="170688"/>
                  </a:lnTo>
                  <a:lnTo>
                    <a:pt x="11282299" y="187579"/>
                  </a:lnTo>
                  <a:lnTo>
                    <a:pt x="11265408" y="18757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E67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56064" y="6217920"/>
            <a:ext cx="804672" cy="804672"/>
            <a:chOff x="0" y="0"/>
            <a:chExt cx="1072896" cy="1072896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643616" y="6144768"/>
            <a:ext cx="6949440" cy="804672"/>
            <a:chOff x="0" y="0"/>
            <a:chExt cx="9265920" cy="10728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9265920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00E6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HARL Dynamic Weighting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56064" y="7168896"/>
            <a:ext cx="7936992" cy="2157984"/>
            <a:chOff x="0" y="0"/>
            <a:chExt cx="10582656" cy="28773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582656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65" r="0" b="-2166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582656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PPO policy increases λ* when domain gap g is large, decreasing it when g is small — producing uniform generalisation on 4-class SEED-IV  [Sec. 5.6.3]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25019"/>
            <a:chOff x="0" y="0"/>
            <a:chExt cx="24417871" cy="2033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60E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16379"/>
                  </a:lnTo>
                  <a:cubicBezTo>
                    <a:pt x="24417782" y="2025777"/>
                    <a:pt x="24410163" y="2033270"/>
                    <a:pt x="244008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4400890" y="1999488"/>
                  </a:lnTo>
                  <a:lnTo>
                    <a:pt x="24400890" y="2016379"/>
                  </a:lnTo>
                  <a:lnTo>
                    <a:pt x="24384000" y="20163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4944" y="73152"/>
            <a:ext cx="16898112" cy="1353312"/>
            <a:chOff x="0" y="0"/>
            <a:chExt cx="22530816" cy="1804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0815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299" r="0" b="-1932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530816" cy="1880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Honest Assessment: What We Haven't Solved Yet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0294" y="1809750"/>
            <a:ext cx="15107412" cy="2378964"/>
            <a:chOff x="0" y="0"/>
            <a:chExt cx="20143216" cy="317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20092415" cy="3121152"/>
            </a:xfrm>
            <a:custGeom>
              <a:avLst/>
              <a:gdLst/>
              <a:ahLst/>
              <a:cxnLst/>
              <a:rect r="r" b="b" t="t" l="l"/>
              <a:pathLst>
                <a:path h="3121152" w="20092415">
                  <a:moveTo>
                    <a:pt x="0" y="0"/>
                  </a:moveTo>
                  <a:lnTo>
                    <a:pt x="20092415" y="0"/>
                  </a:lnTo>
                  <a:lnTo>
                    <a:pt x="20092415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43215" cy="3171952"/>
            </a:xfrm>
            <a:custGeom>
              <a:avLst/>
              <a:gdLst/>
              <a:ahLst/>
              <a:cxnLst/>
              <a:rect r="r" b="b" t="t" l="l"/>
              <a:pathLst>
                <a:path h="3171952" w="20143215">
                  <a:moveTo>
                    <a:pt x="25400" y="0"/>
                  </a:moveTo>
                  <a:lnTo>
                    <a:pt x="20117815" y="0"/>
                  </a:lnTo>
                  <a:cubicBezTo>
                    <a:pt x="20131785" y="0"/>
                    <a:pt x="20143215" y="11430"/>
                    <a:pt x="20143215" y="25400"/>
                  </a:cubicBezTo>
                  <a:lnTo>
                    <a:pt x="20143215" y="3146552"/>
                  </a:lnTo>
                  <a:cubicBezTo>
                    <a:pt x="20143215" y="3160522"/>
                    <a:pt x="20131785" y="3171952"/>
                    <a:pt x="20117815" y="3171952"/>
                  </a:cubicBezTo>
                  <a:lnTo>
                    <a:pt x="25400" y="3171952"/>
                  </a:lnTo>
                  <a:cubicBezTo>
                    <a:pt x="11430" y="3171952"/>
                    <a:pt x="0" y="3160522"/>
                    <a:pt x="0" y="314655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46552"/>
                  </a:lnTo>
                  <a:lnTo>
                    <a:pt x="25400" y="3146552"/>
                  </a:lnTo>
                  <a:lnTo>
                    <a:pt x="25400" y="3121152"/>
                  </a:lnTo>
                  <a:lnTo>
                    <a:pt x="20117815" y="3121152"/>
                  </a:lnTo>
                  <a:lnTo>
                    <a:pt x="20117815" y="3146552"/>
                  </a:lnTo>
                  <a:lnTo>
                    <a:pt x="20092415" y="3146552"/>
                  </a:lnTo>
                  <a:lnTo>
                    <a:pt x="20092415" y="25400"/>
                  </a:lnTo>
                  <a:lnTo>
                    <a:pt x="20117815" y="25400"/>
                  </a:lnTo>
                  <a:lnTo>
                    <a:pt x="20117815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6647" y="1816103"/>
            <a:ext cx="208283" cy="2366267"/>
            <a:chOff x="0" y="0"/>
            <a:chExt cx="277711" cy="3155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622" cy="3154934"/>
            </a:xfrm>
            <a:custGeom>
              <a:avLst/>
              <a:gdLst/>
              <a:ahLst/>
              <a:cxnLst/>
              <a:rect r="r" b="b" t="t" l="l"/>
              <a:pathLst>
                <a:path h="3154934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138043"/>
                  </a:lnTo>
                  <a:cubicBezTo>
                    <a:pt x="277622" y="3147441"/>
                    <a:pt x="270002" y="3154934"/>
                    <a:pt x="2607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260731" y="3121152"/>
                  </a:lnTo>
                  <a:lnTo>
                    <a:pt x="260731" y="3138043"/>
                  </a:lnTo>
                  <a:lnTo>
                    <a:pt x="243840" y="3138043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38528" y="2011680"/>
            <a:ext cx="804672" cy="804672"/>
            <a:chOff x="0" y="0"/>
            <a:chExt cx="1072896" cy="107289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962656" y="1901952"/>
            <a:ext cx="13459968" cy="804672"/>
            <a:chOff x="0" y="0"/>
            <a:chExt cx="17946624" cy="1072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46624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946624">
                  <a:moveTo>
                    <a:pt x="0" y="0"/>
                  </a:moveTo>
                  <a:lnTo>
                    <a:pt x="17946624" y="0"/>
                  </a:lnTo>
                  <a:lnTo>
                    <a:pt x="17946624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7946624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 Budget Constraint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62656" y="2743200"/>
            <a:ext cx="13459968" cy="1133856"/>
            <a:chOff x="0" y="0"/>
            <a:chExt cx="17946624" cy="15118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4662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946624">
                  <a:moveTo>
                    <a:pt x="0" y="0"/>
                  </a:moveTo>
                  <a:lnTo>
                    <a:pt x="17946624" y="0"/>
                  </a:lnTo>
                  <a:lnTo>
                    <a:pt x="1794662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06" r="0" b="-18130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7946624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DEAP: 5,000 steps/fold  ·  SEED-IV: 60 epochs. Extended training expected to yield further accuracy gains.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90294" y="4479798"/>
            <a:ext cx="15107412" cy="2378964"/>
            <a:chOff x="0" y="0"/>
            <a:chExt cx="20143216" cy="31719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20092415" cy="3121152"/>
            </a:xfrm>
            <a:custGeom>
              <a:avLst/>
              <a:gdLst/>
              <a:ahLst/>
              <a:cxnLst/>
              <a:rect r="r" b="b" t="t" l="l"/>
              <a:pathLst>
                <a:path h="3121152" w="20092415">
                  <a:moveTo>
                    <a:pt x="0" y="0"/>
                  </a:moveTo>
                  <a:lnTo>
                    <a:pt x="20092415" y="0"/>
                  </a:lnTo>
                  <a:lnTo>
                    <a:pt x="20092415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43215" cy="3171952"/>
            </a:xfrm>
            <a:custGeom>
              <a:avLst/>
              <a:gdLst/>
              <a:ahLst/>
              <a:cxnLst/>
              <a:rect r="r" b="b" t="t" l="l"/>
              <a:pathLst>
                <a:path h="3171952" w="20143215">
                  <a:moveTo>
                    <a:pt x="25400" y="0"/>
                  </a:moveTo>
                  <a:lnTo>
                    <a:pt x="20117815" y="0"/>
                  </a:lnTo>
                  <a:cubicBezTo>
                    <a:pt x="20131785" y="0"/>
                    <a:pt x="20143215" y="11430"/>
                    <a:pt x="20143215" y="25400"/>
                  </a:cubicBezTo>
                  <a:lnTo>
                    <a:pt x="20143215" y="3146552"/>
                  </a:lnTo>
                  <a:cubicBezTo>
                    <a:pt x="20143215" y="3160522"/>
                    <a:pt x="20131785" y="3171952"/>
                    <a:pt x="20117815" y="3171952"/>
                  </a:cubicBezTo>
                  <a:lnTo>
                    <a:pt x="25400" y="3171952"/>
                  </a:lnTo>
                  <a:cubicBezTo>
                    <a:pt x="11430" y="3171952"/>
                    <a:pt x="0" y="3160522"/>
                    <a:pt x="0" y="314655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46552"/>
                  </a:lnTo>
                  <a:lnTo>
                    <a:pt x="25400" y="3146552"/>
                  </a:lnTo>
                  <a:lnTo>
                    <a:pt x="25400" y="3121152"/>
                  </a:lnTo>
                  <a:lnTo>
                    <a:pt x="20117815" y="3121152"/>
                  </a:lnTo>
                  <a:lnTo>
                    <a:pt x="20117815" y="3146552"/>
                  </a:lnTo>
                  <a:lnTo>
                    <a:pt x="20092415" y="3146552"/>
                  </a:lnTo>
                  <a:lnTo>
                    <a:pt x="20092415" y="25400"/>
                  </a:lnTo>
                  <a:lnTo>
                    <a:pt x="20117815" y="25400"/>
                  </a:lnTo>
                  <a:lnTo>
                    <a:pt x="20117815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96647" y="4486151"/>
            <a:ext cx="208283" cy="2366267"/>
            <a:chOff x="0" y="0"/>
            <a:chExt cx="277711" cy="31550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438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7622" cy="3154934"/>
            </a:xfrm>
            <a:custGeom>
              <a:avLst/>
              <a:gdLst/>
              <a:ahLst/>
              <a:cxnLst/>
              <a:rect r="r" b="b" t="t" l="l"/>
              <a:pathLst>
                <a:path h="3154934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138043"/>
                  </a:lnTo>
                  <a:cubicBezTo>
                    <a:pt x="277622" y="3147441"/>
                    <a:pt x="270002" y="3154934"/>
                    <a:pt x="2607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260731" y="3121152"/>
                  </a:lnTo>
                  <a:lnTo>
                    <a:pt x="260731" y="3138043"/>
                  </a:lnTo>
                  <a:lnTo>
                    <a:pt x="243840" y="3138043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38528" y="4681728"/>
            <a:ext cx="804672" cy="804672"/>
            <a:chOff x="0" y="0"/>
            <a:chExt cx="1072896" cy="1072896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962656" y="4572000"/>
            <a:ext cx="13459968" cy="804672"/>
            <a:chOff x="0" y="0"/>
            <a:chExt cx="17946624" cy="107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946624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946624">
                  <a:moveTo>
                    <a:pt x="0" y="0"/>
                  </a:moveTo>
                  <a:lnTo>
                    <a:pt x="17946624" y="0"/>
                  </a:lnTo>
                  <a:lnTo>
                    <a:pt x="17946624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7946624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DANN Requires Target Calibration Samples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962656" y="5413248"/>
            <a:ext cx="13459968" cy="1133856"/>
            <a:chOff x="0" y="0"/>
            <a:chExt cx="17946624" cy="15118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94662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946624">
                  <a:moveTo>
                    <a:pt x="0" y="0"/>
                  </a:moveTo>
                  <a:lnTo>
                    <a:pt x="17946624" y="0"/>
                  </a:lnTo>
                  <a:lnTo>
                    <a:pt x="1794662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06" r="0" b="-18130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7946624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10% unlabelled target data needed for HARL domain-gap estimator. Fully zero-shot generalisation remains open.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90294" y="7149846"/>
            <a:ext cx="15107412" cy="2378964"/>
            <a:chOff x="0" y="0"/>
            <a:chExt cx="20143216" cy="31719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5400" y="25400"/>
              <a:ext cx="20092415" cy="3121152"/>
            </a:xfrm>
            <a:custGeom>
              <a:avLst/>
              <a:gdLst/>
              <a:ahLst/>
              <a:cxnLst/>
              <a:rect r="r" b="b" t="t" l="l"/>
              <a:pathLst>
                <a:path h="3121152" w="20092415">
                  <a:moveTo>
                    <a:pt x="0" y="0"/>
                  </a:moveTo>
                  <a:lnTo>
                    <a:pt x="20092415" y="0"/>
                  </a:lnTo>
                  <a:lnTo>
                    <a:pt x="20092415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143215" cy="3171952"/>
            </a:xfrm>
            <a:custGeom>
              <a:avLst/>
              <a:gdLst/>
              <a:ahLst/>
              <a:cxnLst/>
              <a:rect r="r" b="b" t="t" l="l"/>
              <a:pathLst>
                <a:path h="3171952" w="20143215">
                  <a:moveTo>
                    <a:pt x="25400" y="0"/>
                  </a:moveTo>
                  <a:lnTo>
                    <a:pt x="20117815" y="0"/>
                  </a:lnTo>
                  <a:cubicBezTo>
                    <a:pt x="20131785" y="0"/>
                    <a:pt x="20143215" y="11430"/>
                    <a:pt x="20143215" y="25400"/>
                  </a:cubicBezTo>
                  <a:lnTo>
                    <a:pt x="20143215" y="3146552"/>
                  </a:lnTo>
                  <a:cubicBezTo>
                    <a:pt x="20143215" y="3160522"/>
                    <a:pt x="20131785" y="3171952"/>
                    <a:pt x="20117815" y="3171952"/>
                  </a:cubicBezTo>
                  <a:lnTo>
                    <a:pt x="25400" y="3171952"/>
                  </a:lnTo>
                  <a:cubicBezTo>
                    <a:pt x="11430" y="3171952"/>
                    <a:pt x="0" y="3160522"/>
                    <a:pt x="0" y="314655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46552"/>
                  </a:lnTo>
                  <a:lnTo>
                    <a:pt x="25400" y="3146552"/>
                  </a:lnTo>
                  <a:lnTo>
                    <a:pt x="25400" y="3121152"/>
                  </a:lnTo>
                  <a:lnTo>
                    <a:pt x="20117815" y="3121152"/>
                  </a:lnTo>
                  <a:lnTo>
                    <a:pt x="20117815" y="3146552"/>
                  </a:lnTo>
                  <a:lnTo>
                    <a:pt x="20092415" y="3146552"/>
                  </a:lnTo>
                  <a:lnTo>
                    <a:pt x="20092415" y="25400"/>
                  </a:lnTo>
                  <a:lnTo>
                    <a:pt x="20117815" y="25400"/>
                  </a:lnTo>
                  <a:lnTo>
                    <a:pt x="20117815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96647" y="7156199"/>
            <a:ext cx="208283" cy="2366267"/>
            <a:chOff x="0" y="0"/>
            <a:chExt cx="277711" cy="31550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43840" cy="3121152"/>
            </a:xfrm>
            <a:custGeom>
              <a:avLst/>
              <a:gdLst/>
              <a:ahLst/>
              <a:cxnLst/>
              <a:rect r="r" b="b" t="t" l="l"/>
              <a:pathLst>
                <a:path h="312115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7622" cy="3154934"/>
            </a:xfrm>
            <a:custGeom>
              <a:avLst/>
              <a:gdLst/>
              <a:ahLst/>
              <a:cxnLst/>
              <a:rect r="r" b="b" t="t" l="l"/>
              <a:pathLst>
                <a:path h="3154934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138043"/>
                  </a:lnTo>
                  <a:cubicBezTo>
                    <a:pt x="277622" y="3147441"/>
                    <a:pt x="270002" y="3154934"/>
                    <a:pt x="2607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260731" y="3121152"/>
                  </a:lnTo>
                  <a:lnTo>
                    <a:pt x="260731" y="3138043"/>
                  </a:lnTo>
                  <a:lnTo>
                    <a:pt x="243840" y="3138043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938528" y="7351776"/>
            <a:ext cx="804672" cy="804672"/>
            <a:chOff x="0" y="0"/>
            <a:chExt cx="1072896" cy="1072896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962656" y="7242048"/>
            <a:ext cx="13459968" cy="804672"/>
            <a:chOff x="0" y="0"/>
            <a:chExt cx="17946624" cy="1072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946624" cy="1072896"/>
            </a:xfrm>
            <a:custGeom>
              <a:avLst/>
              <a:gdLst/>
              <a:ahLst/>
              <a:cxnLst/>
              <a:rect r="r" b="b" t="t" l="l"/>
              <a:pathLst>
                <a:path h="1072896" w="17946624">
                  <a:moveTo>
                    <a:pt x="0" y="0"/>
                  </a:moveTo>
                  <a:lnTo>
                    <a:pt x="17946624" y="0"/>
                  </a:lnTo>
                  <a:lnTo>
                    <a:pt x="17946624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17946624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SEED-IV Gap Below SOTA: −20 pp vs MS-MDA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962656" y="8083296"/>
            <a:ext cx="13459968" cy="1133856"/>
            <a:chOff x="0" y="0"/>
            <a:chExt cx="17946624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946624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946624">
                  <a:moveTo>
                    <a:pt x="0" y="0"/>
                  </a:moveTo>
                  <a:lnTo>
                    <a:pt x="17946624" y="0"/>
                  </a:lnTo>
                  <a:lnTo>
                    <a:pt x="1794662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06" r="0" b="-18130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7946624" cy="1568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MS-MDA uses dedicated 3-session alignment. BiDANN (65.6%) uses per-subject discriminators. Our single-discriminator DANN is architecture-agnostic but less specialised  [Sec. 5.6.5].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90294" y="9566910"/>
            <a:ext cx="15107412" cy="769620"/>
            <a:chOff x="0" y="0"/>
            <a:chExt cx="20143216" cy="1026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20092415" cy="975360"/>
            </a:xfrm>
            <a:custGeom>
              <a:avLst/>
              <a:gdLst/>
              <a:ahLst/>
              <a:cxnLst/>
              <a:rect r="r" b="b" t="t" l="l"/>
              <a:pathLst>
                <a:path h="975360" w="20092415">
                  <a:moveTo>
                    <a:pt x="0" y="0"/>
                  </a:moveTo>
                  <a:lnTo>
                    <a:pt x="20092415" y="0"/>
                  </a:lnTo>
                  <a:lnTo>
                    <a:pt x="20092415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143215" cy="1026160"/>
            </a:xfrm>
            <a:custGeom>
              <a:avLst/>
              <a:gdLst/>
              <a:ahLst/>
              <a:cxnLst/>
              <a:rect r="r" b="b" t="t" l="l"/>
              <a:pathLst>
                <a:path h="1026160" w="20143215">
                  <a:moveTo>
                    <a:pt x="25400" y="0"/>
                  </a:moveTo>
                  <a:lnTo>
                    <a:pt x="20117815" y="0"/>
                  </a:lnTo>
                  <a:cubicBezTo>
                    <a:pt x="20131785" y="0"/>
                    <a:pt x="20143215" y="11430"/>
                    <a:pt x="20143215" y="25400"/>
                  </a:cubicBezTo>
                  <a:lnTo>
                    <a:pt x="20143215" y="1000760"/>
                  </a:lnTo>
                  <a:cubicBezTo>
                    <a:pt x="20143215" y="1014730"/>
                    <a:pt x="20131785" y="1026160"/>
                    <a:pt x="20117815" y="1026160"/>
                  </a:cubicBezTo>
                  <a:lnTo>
                    <a:pt x="25400" y="1026160"/>
                  </a:lnTo>
                  <a:cubicBezTo>
                    <a:pt x="11430" y="1026160"/>
                    <a:pt x="0" y="1014730"/>
                    <a:pt x="0" y="10007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00760"/>
                  </a:lnTo>
                  <a:lnTo>
                    <a:pt x="25400" y="1000760"/>
                  </a:lnTo>
                  <a:lnTo>
                    <a:pt x="25400" y="975360"/>
                  </a:lnTo>
                  <a:lnTo>
                    <a:pt x="20117815" y="975360"/>
                  </a:lnTo>
                  <a:lnTo>
                    <a:pt x="20117815" y="1000760"/>
                  </a:lnTo>
                  <a:lnTo>
                    <a:pt x="20092415" y="1000760"/>
                  </a:lnTo>
                  <a:lnTo>
                    <a:pt x="20092415" y="25400"/>
                  </a:lnTo>
                  <a:lnTo>
                    <a:pt x="20117815" y="25400"/>
                  </a:lnTo>
                  <a:lnTo>
                    <a:pt x="20117815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828805" y="9566910"/>
            <a:ext cx="14630400" cy="731520"/>
            <a:chOff x="0" y="0"/>
            <a:chExt cx="1950720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9507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i="true">
                  <a:solidFill>
                    <a:srgbClr val="00C9B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~42 pp gap to subject-dependent ceiling remains — the open frontier of generalizable affective BCI research.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971783" y="5473703"/>
            <a:ext cx="6974843" cy="6974843"/>
            <a:chOff x="0" y="0"/>
            <a:chExt cx="9299791" cy="9299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2659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9265920">
                  <a:moveTo>
                    <a:pt x="0" y="4632960"/>
                  </a:moveTo>
                  <a:cubicBezTo>
                    <a:pt x="0" y="2074291"/>
                    <a:pt x="2074291" y="0"/>
                    <a:pt x="4632960" y="0"/>
                  </a:cubicBezTo>
                  <a:cubicBezTo>
                    <a:pt x="7191629" y="0"/>
                    <a:pt x="9265920" y="2074291"/>
                    <a:pt x="9265920" y="4632960"/>
                  </a:cubicBezTo>
                  <a:cubicBezTo>
                    <a:pt x="9265920" y="7191629"/>
                    <a:pt x="7191629" y="9265920"/>
                    <a:pt x="4632960" y="9265920"/>
                  </a:cubicBezTo>
                  <a:cubicBezTo>
                    <a:pt x="2074291" y="9265920"/>
                    <a:pt x="0" y="7191756"/>
                    <a:pt x="0" y="4632960"/>
                  </a:cubicBezTo>
                  <a:close/>
                </a:path>
              </a:pathLst>
            </a:custGeom>
            <a:solidFill>
              <a:srgbClr val="00C9B1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9829" cy="9299702"/>
            </a:xfrm>
            <a:custGeom>
              <a:avLst/>
              <a:gdLst/>
              <a:ahLst/>
              <a:cxnLst/>
              <a:rect r="r" b="b" t="t" l="l"/>
              <a:pathLst>
                <a:path h="9299702" w="9299829">
                  <a:moveTo>
                    <a:pt x="0" y="4649851"/>
                  </a:moveTo>
                  <a:cubicBezTo>
                    <a:pt x="0" y="2081784"/>
                    <a:pt x="2081784" y="0"/>
                    <a:pt x="4649851" y="0"/>
                  </a:cubicBezTo>
                  <a:lnTo>
                    <a:pt x="4649851" y="16891"/>
                  </a:lnTo>
                  <a:lnTo>
                    <a:pt x="4649851" y="0"/>
                  </a:lnTo>
                  <a:cubicBezTo>
                    <a:pt x="7217918" y="0"/>
                    <a:pt x="9299829" y="2081784"/>
                    <a:pt x="9299829" y="4649851"/>
                  </a:cubicBezTo>
                  <a:lnTo>
                    <a:pt x="9282938" y="4649851"/>
                  </a:lnTo>
                  <a:lnTo>
                    <a:pt x="9299829" y="4649851"/>
                  </a:lnTo>
                  <a:cubicBezTo>
                    <a:pt x="9299829" y="7217918"/>
                    <a:pt x="7218045" y="9299702"/>
                    <a:pt x="4649978" y="9299702"/>
                  </a:cubicBezTo>
                  <a:lnTo>
                    <a:pt x="4649978" y="9282811"/>
                  </a:lnTo>
                  <a:lnTo>
                    <a:pt x="4649978" y="9299702"/>
                  </a:lnTo>
                  <a:cubicBezTo>
                    <a:pt x="2081784" y="9299829"/>
                    <a:pt x="0" y="7217918"/>
                    <a:pt x="0" y="4649851"/>
                  </a:cubicBezTo>
                  <a:lnTo>
                    <a:pt x="16891" y="464985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0" y="4649851"/>
                  </a:lnTo>
                  <a:moveTo>
                    <a:pt x="33909" y="4649851"/>
                  </a:moveTo>
                  <a:cubicBezTo>
                    <a:pt x="33909" y="4659249"/>
                    <a:pt x="26289" y="4666742"/>
                    <a:pt x="17018" y="4666742"/>
                  </a:cubicBezTo>
                  <a:cubicBezTo>
                    <a:pt x="7747" y="4666742"/>
                    <a:pt x="0" y="4659249"/>
                    <a:pt x="0" y="4649851"/>
                  </a:cubicBezTo>
                  <a:cubicBezTo>
                    <a:pt x="0" y="4640453"/>
                    <a:pt x="7620" y="4632960"/>
                    <a:pt x="16891" y="4632960"/>
                  </a:cubicBezTo>
                  <a:cubicBezTo>
                    <a:pt x="26162" y="4632960"/>
                    <a:pt x="33782" y="4640580"/>
                    <a:pt x="33782" y="4649851"/>
                  </a:cubicBezTo>
                  <a:cubicBezTo>
                    <a:pt x="33909" y="7199249"/>
                    <a:pt x="2100580" y="9265920"/>
                    <a:pt x="4649851" y="9265920"/>
                  </a:cubicBezTo>
                  <a:cubicBezTo>
                    <a:pt x="7199249" y="9265920"/>
                    <a:pt x="9265920" y="7199249"/>
                    <a:pt x="9265920" y="4649851"/>
                  </a:cubicBezTo>
                  <a:cubicBezTo>
                    <a:pt x="9265920" y="2100580"/>
                    <a:pt x="7199249" y="33909"/>
                    <a:pt x="4649851" y="33909"/>
                  </a:cubicBezTo>
                  <a:lnTo>
                    <a:pt x="4649851" y="16891"/>
                  </a:lnTo>
                  <a:lnTo>
                    <a:pt x="4649851" y="33909"/>
                  </a:lnTo>
                  <a:cubicBezTo>
                    <a:pt x="2100580" y="33909"/>
                    <a:pt x="33909" y="2100580"/>
                    <a:pt x="33909" y="4649851"/>
                  </a:cubicBezTo>
                  <a:close/>
                </a:path>
              </a:pathLst>
            </a:custGeom>
            <a:solidFill>
              <a:srgbClr val="00C9B1">
                <a:alpha val="549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4944" y="292608"/>
            <a:ext cx="10058400" cy="1024128"/>
            <a:chOff x="0" y="0"/>
            <a:chExt cx="13411200" cy="1365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341120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1609344"/>
            <a:ext cx="12289536" cy="731520"/>
            <a:chOff x="0" y="0"/>
            <a:chExt cx="16386048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8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6386048">
                  <a:moveTo>
                    <a:pt x="0" y="0"/>
                  </a:moveTo>
                  <a:lnTo>
                    <a:pt x="16386048" y="0"/>
                  </a:lnTo>
                  <a:lnTo>
                    <a:pt x="1638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63860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open-source dual-dataset LOSO baseline  (DEAP binary + SEED-IV 4-class)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2706624"/>
            <a:ext cx="12289536" cy="731520"/>
            <a:chOff x="0" y="0"/>
            <a:chExt cx="16386048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8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6386048">
                  <a:moveTo>
                    <a:pt x="0" y="0"/>
                  </a:moveTo>
                  <a:lnTo>
                    <a:pt x="16386048" y="0"/>
                  </a:lnTo>
                  <a:lnTo>
                    <a:pt x="1638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3860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 + CORAL + DANN reduce inter-subject σ from 7%/13% → 5.1%/9.4%  [Sec. 5.3]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3803904"/>
            <a:ext cx="12289536" cy="731520"/>
            <a:chOff x="0" y="0"/>
            <a:chExt cx="16386048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8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6386048">
                  <a:moveTo>
                    <a:pt x="0" y="0"/>
                  </a:moveTo>
                  <a:lnTo>
                    <a:pt x="16386048" y="0"/>
                  </a:lnTo>
                  <a:lnTo>
                    <a:pt x="1638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3860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HARL-EEG: 36.03% on SEED-IV — all 15 subjects above 25% chance  [Sec. 5.4]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3040" y="4901184"/>
            <a:ext cx="12289536" cy="731520"/>
            <a:chOff x="0" y="0"/>
            <a:chExt cx="16386048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386048" cy="975360"/>
            </a:xfrm>
            <a:custGeom>
              <a:avLst/>
              <a:gdLst/>
              <a:ahLst/>
              <a:cxnLst/>
              <a:rect r="r" b="b" t="t" l="l"/>
              <a:pathLst>
                <a:path h="975360" w="16386048">
                  <a:moveTo>
                    <a:pt x="0" y="0"/>
                  </a:moveTo>
                  <a:lnTo>
                    <a:pt x="16386048" y="0"/>
                  </a:lnTo>
                  <a:lnTo>
                    <a:pt x="163860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638604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Papez-circuit frontal partition transfers across channel layouts without retuning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5671" y="6168647"/>
            <a:ext cx="12095483" cy="80267"/>
            <a:chOff x="0" y="0"/>
            <a:chExt cx="16127311" cy="1070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6093439" cy="73152"/>
            </a:xfrm>
            <a:custGeom>
              <a:avLst/>
              <a:gdLst/>
              <a:ahLst/>
              <a:cxnLst/>
              <a:rect r="r" b="b" t="t" l="l"/>
              <a:pathLst>
                <a:path h="73152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94A3B8">
                <a:alpha val="2000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127222" cy="106936"/>
            </a:xfrm>
            <a:custGeom>
              <a:avLst/>
              <a:gdLst/>
              <a:ahLst/>
              <a:cxnLst/>
              <a:rect r="r" b="b" t="t" l="l"/>
              <a:pathLst>
                <a:path h="106936" w="16127222">
                  <a:moveTo>
                    <a:pt x="16891" y="0"/>
                  </a:moveTo>
                  <a:lnTo>
                    <a:pt x="16110330" y="0"/>
                  </a:lnTo>
                  <a:cubicBezTo>
                    <a:pt x="16119729" y="0"/>
                    <a:pt x="16127222" y="7620"/>
                    <a:pt x="16127222" y="16891"/>
                  </a:cubicBezTo>
                  <a:lnTo>
                    <a:pt x="16127222" y="90043"/>
                  </a:lnTo>
                  <a:cubicBezTo>
                    <a:pt x="16127222" y="99441"/>
                    <a:pt x="16119602" y="106934"/>
                    <a:pt x="1611033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6110330" y="73152"/>
                  </a:lnTo>
                  <a:lnTo>
                    <a:pt x="16110330" y="90043"/>
                  </a:lnTo>
                  <a:lnTo>
                    <a:pt x="16093439" y="90043"/>
                  </a:lnTo>
                  <a:lnTo>
                    <a:pt x="16093439" y="16891"/>
                  </a:lnTo>
                  <a:lnTo>
                    <a:pt x="16110330" y="16891"/>
                  </a:lnTo>
                  <a:lnTo>
                    <a:pt x="161103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" y="6364224"/>
            <a:ext cx="10058400" cy="841248"/>
            <a:chOff x="0" y="0"/>
            <a:chExt cx="13411200" cy="1121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973" r="0" b="-18297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3411200" cy="1207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Directions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9318" y="7332726"/>
            <a:ext cx="5707380" cy="1281684"/>
            <a:chOff x="0" y="0"/>
            <a:chExt cx="7609840" cy="170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755904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09840" cy="1708912"/>
            </a:xfrm>
            <a:custGeom>
              <a:avLst/>
              <a:gdLst/>
              <a:ahLst/>
              <a:cxnLst/>
              <a:rect r="r" b="b" t="t" l="l"/>
              <a:pathLst>
                <a:path h="1708912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1683512"/>
                  </a:lnTo>
                  <a:cubicBezTo>
                    <a:pt x="7609840" y="1697482"/>
                    <a:pt x="7598410" y="1708912"/>
                    <a:pt x="7584440" y="1708912"/>
                  </a:cubicBezTo>
                  <a:lnTo>
                    <a:pt x="25400" y="1708912"/>
                  </a:lnTo>
                  <a:cubicBezTo>
                    <a:pt x="11430" y="1708912"/>
                    <a:pt x="0" y="1697482"/>
                    <a:pt x="0" y="1683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83512"/>
                  </a:lnTo>
                  <a:lnTo>
                    <a:pt x="25400" y="1683512"/>
                  </a:lnTo>
                  <a:lnTo>
                    <a:pt x="25400" y="1658112"/>
                  </a:lnTo>
                  <a:lnTo>
                    <a:pt x="7584440" y="1658112"/>
                  </a:lnTo>
                  <a:lnTo>
                    <a:pt x="7584440" y="1683512"/>
                  </a:lnTo>
                  <a:lnTo>
                    <a:pt x="7559040" y="1683512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5671" y="7339079"/>
            <a:ext cx="153419" cy="1268987"/>
            <a:chOff x="0" y="0"/>
            <a:chExt cx="204559" cy="16919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0C9B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1691894"/>
            </a:xfrm>
            <a:custGeom>
              <a:avLst/>
              <a:gdLst/>
              <a:ahLst/>
              <a:cxnLst/>
              <a:rect r="r" b="b" t="t" l="l"/>
              <a:pathLst>
                <a:path h="169189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675003"/>
                  </a:lnTo>
                  <a:cubicBezTo>
                    <a:pt x="204470" y="1684401"/>
                    <a:pt x="196850" y="1691894"/>
                    <a:pt x="187579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87579" y="1658112"/>
                  </a:lnTo>
                  <a:lnTo>
                    <a:pt x="187579" y="1675003"/>
                  </a:lnTo>
                  <a:lnTo>
                    <a:pt x="170688" y="167500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0976" y="7388352"/>
            <a:ext cx="5157216" cy="548640"/>
            <a:chOff x="0" y="0"/>
            <a:chExt cx="6876288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876288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Riemannian Geometry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0976" y="7936992"/>
            <a:ext cx="5157216" cy="475488"/>
            <a:chOff x="0" y="0"/>
            <a:chExt cx="6876288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87628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SPD manifold geodesic alignment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37782" y="7332726"/>
            <a:ext cx="5707380" cy="1281684"/>
            <a:chOff x="0" y="0"/>
            <a:chExt cx="7609840" cy="170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755904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09840" cy="1708912"/>
            </a:xfrm>
            <a:custGeom>
              <a:avLst/>
              <a:gdLst/>
              <a:ahLst/>
              <a:cxnLst/>
              <a:rect r="r" b="b" t="t" l="l"/>
              <a:pathLst>
                <a:path h="1708912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1683512"/>
                  </a:lnTo>
                  <a:cubicBezTo>
                    <a:pt x="7609840" y="1697482"/>
                    <a:pt x="7598410" y="1708912"/>
                    <a:pt x="7584440" y="1708912"/>
                  </a:cubicBezTo>
                  <a:lnTo>
                    <a:pt x="25400" y="1708912"/>
                  </a:lnTo>
                  <a:cubicBezTo>
                    <a:pt x="11430" y="1708912"/>
                    <a:pt x="0" y="1697482"/>
                    <a:pt x="0" y="1683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83512"/>
                  </a:lnTo>
                  <a:lnTo>
                    <a:pt x="25400" y="1683512"/>
                  </a:lnTo>
                  <a:lnTo>
                    <a:pt x="25400" y="1658112"/>
                  </a:lnTo>
                  <a:lnTo>
                    <a:pt x="7584440" y="1658112"/>
                  </a:lnTo>
                  <a:lnTo>
                    <a:pt x="7584440" y="1683512"/>
                  </a:lnTo>
                  <a:lnTo>
                    <a:pt x="7559040" y="1683512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44135" y="7339079"/>
            <a:ext cx="153419" cy="1268987"/>
            <a:chOff x="0" y="0"/>
            <a:chExt cx="204559" cy="16919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1691894"/>
            </a:xfrm>
            <a:custGeom>
              <a:avLst/>
              <a:gdLst/>
              <a:ahLst/>
              <a:cxnLst/>
              <a:rect r="r" b="b" t="t" l="l"/>
              <a:pathLst>
                <a:path h="169189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675003"/>
                  </a:lnTo>
                  <a:cubicBezTo>
                    <a:pt x="204470" y="1684401"/>
                    <a:pt x="196850" y="1691894"/>
                    <a:pt x="187579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87579" y="1658112"/>
                  </a:lnTo>
                  <a:lnTo>
                    <a:pt x="187579" y="1675003"/>
                  </a:lnTo>
                  <a:lnTo>
                    <a:pt x="170688" y="167500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949440" y="7388352"/>
            <a:ext cx="5157216" cy="548640"/>
            <a:chOff x="0" y="0"/>
            <a:chExt cx="6876288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876288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7C4D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Meta-Learning (MAML)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49440" y="7936992"/>
            <a:ext cx="5157216" cy="475488"/>
            <a:chOff x="0" y="0"/>
            <a:chExt cx="6876288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87628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Rapid few-shot subject adaptation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9318" y="8795766"/>
            <a:ext cx="5707380" cy="1281684"/>
            <a:chOff x="0" y="0"/>
            <a:chExt cx="7609840" cy="170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25400"/>
              <a:ext cx="755904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09840" cy="1708912"/>
            </a:xfrm>
            <a:custGeom>
              <a:avLst/>
              <a:gdLst/>
              <a:ahLst/>
              <a:cxnLst/>
              <a:rect r="r" b="b" t="t" l="l"/>
              <a:pathLst>
                <a:path h="1708912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1683512"/>
                  </a:lnTo>
                  <a:cubicBezTo>
                    <a:pt x="7609840" y="1697482"/>
                    <a:pt x="7598410" y="1708912"/>
                    <a:pt x="7584440" y="1708912"/>
                  </a:cubicBezTo>
                  <a:lnTo>
                    <a:pt x="25400" y="1708912"/>
                  </a:lnTo>
                  <a:cubicBezTo>
                    <a:pt x="11430" y="1708912"/>
                    <a:pt x="0" y="1697482"/>
                    <a:pt x="0" y="1683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83512"/>
                  </a:lnTo>
                  <a:lnTo>
                    <a:pt x="25400" y="1683512"/>
                  </a:lnTo>
                  <a:lnTo>
                    <a:pt x="25400" y="1658112"/>
                  </a:lnTo>
                  <a:lnTo>
                    <a:pt x="7584440" y="1658112"/>
                  </a:lnTo>
                  <a:lnTo>
                    <a:pt x="7584440" y="1683512"/>
                  </a:lnTo>
                  <a:lnTo>
                    <a:pt x="7559040" y="1683512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5671" y="8802119"/>
            <a:ext cx="153419" cy="1268987"/>
            <a:chOff x="0" y="0"/>
            <a:chExt cx="204559" cy="16919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1691894"/>
            </a:xfrm>
            <a:custGeom>
              <a:avLst/>
              <a:gdLst/>
              <a:ahLst/>
              <a:cxnLst/>
              <a:rect r="r" b="b" t="t" l="l"/>
              <a:pathLst>
                <a:path h="169189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675003"/>
                  </a:lnTo>
                  <a:cubicBezTo>
                    <a:pt x="204470" y="1684401"/>
                    <a:pt x="196850" y="1691894"/>
                    <a:pt x="187579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87579" y="1658112"/>
                  </a:lnTo>
                  <a:lnTo>
                    <a:pt x="187579" y="1675003"/>
                  </a:lnTo>
                  <a:lnTo>
                    <a:pt x="170688" y="167500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60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0976" y="8851392"/>
            <a:ext cx="5157216" cy="548640"/>
            <a:chOff x="0" y="0"/>
            <a:chExt cx="6876288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876288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D6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Federated Learning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0976" y="9400032"/>
            <a:ext cx="5157216" cy="475488"/>
            <a:chOff x="0" y="0"/>
            <a:chExt cx="6876288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87628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Privacy-preserving cross-institution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37782" y="8795766"/>
            <a:ext cx="5707380" cy="1281684"/>
            <a:chOff x="0" y="0"/>
            <a:chExt cx="7609840" cy="170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755904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09840" cy="1708912"/>
            </a:xfrm>
            <a:custGeom>
              <a:avLst/>
              <a:gdLst/>
              <a:ahLst/>
              <a:cxnLst/>
              <a:rect r="r" b="b" t="t" l="l"/>
              <a:pathLst>
                <a:path h="1708912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1683512"/>
                  </a:lnTo>
                  <a:cubicBezTo>
                    <a:pt x="7609840" y="1697482"/>
                    <a:pt x="7598410" y="1708912"/>
                    <a:pt x="7584440" y="1708912"/>
                  </a:cubicBezTo>
                  <a:lnTo>
                    <a:pt x="25400" y="1708912"/>
                  </a:lnTo>
                  <a:cubicBezTo>
                    <a:pt x="11430" y="1708912"/>
                    <a:pt x="0" y="1697482"/>
                    <a:pt x="0" y="16835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83512"/>
                  </a:lnTo>
                  <a:lnTo>
                    <a:pt x="25400" y="1683512"/>
                  </a:lnTo>
                  <a:lnTo>
                    <a:pt x="25400" y="1658112"/>
                  </a:lnTo>
                  <a:lnTo>
                    <a:pt x="7584440" y="1658112"/>
                  </a:lnTo>
                  <a:lnTo>
                    <a:pt x="7584440" y="1683512"/>
                  </a:lnTo>
                  <a:lnTo>
                    <a:pt x="7559040" y="1683512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644135" y="8802119"/>
            <a:ext cx="153419" cy="1268987"/>
            <a:chOff x="0" y="0"/>
            <a:chExt cx="204559" cy="169198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7068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704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470" cy="1691894"/>
            </a:xfrm>
            <a:custGeom>
              <a:avLst/>
              <a:gdLst/>
              <a:ahLst/>
              <a:cxnLst/>
              <a:rect r="r" b="b" t="t" l="l"/>
              <a:pathLst>
                <a:path h="169189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675003"/>
                  </a:lnTo>
                  <a:cubicBezTo>
                    <a:pt x="204470" y="1684401"/>
                    <a:pt x="196850" y="1691894"/>
                    <a:pt x="187579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87579" y="1658112"/>
                  </a:lnTo>
                  <a:lnTo>
                    <a:pt x="187579" y="1675003"/>
                  </a:lnTo>
                  <a:lnTo>
                    <a:pt x="170688" y="167500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04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49440" y="8851392"/>
            <a:ext cx="5157216" cy="548640"/>
            <a:chOff x="0" y="0"/>
            <a:chExt cx="6876288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76288" cy="731520"/>
            </a:xfrm>
            <a:custGeom>
              <a:avLst/>
              <a:gdLst/>
              <a:ahLst/>
              <a:cxnLst/>
              <a:rect r="r" b="b" t="t" l="l"/>
              <a:pathLst>
                <a:path h="7315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6876288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70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DREAMER / SEED / MAHNOB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49440" y="9400032"/>
            <a:ext cx="5157216" cy="475488"/>
            <a:chOff x="0" y="0"/>
            <a:chExt cx="6876288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76288" cy="633984"/>
            </a:xfrm>
            <a:custGeom>
              <a:avLst/>
              <a:gdLst/>
              <a:ahLst/>
              <a:cxnLst/>
              <a:rect r="r" b="b" t="t" l="l"/>
              <a:pathLst>
                <a:path h="633984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337" r="0" b="-1613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7628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Cross-dataset evaluation suite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965430" y="1261110"/>
            <a:ext cx="5012436" cy="8596884"/>
            <a:chOff x="0" y="0"/>
            <a:chExt cx="6683248" cy="114625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5400" y="25400"/>
              <a:ext cx="6632448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F204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83248" cy="11462512"/>
            </a:xfrm>
            <a:custGeom>
              <a:avLst/>
              <a:gdLst/>
              <a:ahLst/>
              <a:cxnLst/>
              <a:rect r="r" b="b" t="t" l="l"/>
              <a:pathLst>
                <a:path h="11462512" w="6683248">
                  <a:moveTo>
                    <a:pt x="25400" y="0"/>
                  </a:moveTo>
                  <a:lnTo>
                    <a:pt x="6657848" y="0"/>
                  </a:lnTo>
                  <a:cubicBezTo>
                    <a:pt x="6671818" y="0"/>
                    <a:pt x="6683248" y="11430"/>
                    <a:pt x="6683248" y="25400"/>
                  </a:cubicBezTo>
                  <a:lnTo>
                    <a:pt x="6683248" y="11437112"/>
                  </a:lnTo>
                  <a:cubicBezTo>
                    <a:pt x="6683248" y="11451082"/>
                    <a:pt x="6671818" y="11462512"/>
                    <a:pt x="6657848" y="11462512"/>
                  </a:cubicBezTo>
                  <a:lnTo>
                    <a:pt x="25400" y="11462512"/>
                  </a:lnTo>
                  <a:cubicBezTo>
                    <a:pt x="11430" y="11462512"/>
                    <a:pt x="0" y="11451082"/>
                    <a:pt x="0" y="114371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1437112"/>
                  </a:lnTo>
                  <a:lnTo>
                    <a:pt x="25400" y="11437112"/>
                  </a:lnTo>
                  <a:lnTo>
                    <a:pt x="25400" y="11411712"/>
                  </a:lnTo>
                  <a:lnTo>
                    <a:pt x="6657848" y="11411712"/>
                  </a:lnTo>
                  <a:lnTo>
                    <a:pt x="6657848" y="11437112"/>
                  </a:lnTo>
                  <a:lnTo>
                    <a:pt x="6632448" y="11437112"/>
                  </a:lnTo>
                  <a:lnTo>
                    <a:pt x="6632448" y="25400"/>
                  </a:lnTo>
                  <a:lnTo>
                    <a:pt x="6657848" y="25400"/>
                  </a:lnTo>
                  <a:lnTo>
                    <a:pt x="66578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C9B1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630400" y="1645920"/>
            <a:ext cx="1645920" cy="1645920"/>
            <a:chOff x="0" y="0"/>
            <a:chExt cx="2194560" cy="219456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984480" y="3584448"/>
            <a:ext cx="4974336" cy="768096"/>
            <a:chOff x="0" y="0"/>
            <a:chExt cx="6632448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6324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88" r="0" b="-7618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663244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C9B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Open-Source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167360" y="4462272"/>
            <a:ext cx="4608576" cy="1828800"/>
            <a:chOff x="0" y="0"/>
            <a:chExt cx="6144768" cy="2438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144768" cy="2438400"/>
            </a:xfrm>
            <a:custGeom>
              <a:avLst/>
              <a:gdLst/>
              <a:ahLst/>
              <a:cxnLst/>
              <a:rect r="r" b="b" t="t" l="l"/>
              <a:pathLst>
                <a:path h="2438400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4" t="0" r="-91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6144768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PyTorch code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1 · 2 · 2+ · HARL-EEG v3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E8F4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(on acceptance)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167360" y="6547104"/>
            <a:ext cx="4608576" cy="1316736"/>
            <a:chOff x="0" y="0"/>
            <a:chExt cx="6144768" cy="17556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14476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6144768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DEAP: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eecs.qmul.ac.uk/mmv/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datasets/deap/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167360" y="8010144"/>
            <a:ext cx="4608576" cy="1316736"/>
            <a:chOff x="0" y="0"/>
            <a:chExt cx="6144768" cy="17556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144768" cy="1755648"/>
            </a:xfrm>
            <a:custGeom>
              <a:avLst/>
              <a:gdLst/>
              <a:ahLst/>
              <a:cxnLst/>
              <a:rect r="r" b="b" t="t" l="l"/>
              <a:pathLst>
                <a:path h="175564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144768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SEED-IV: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bcmi.sjtu.edu.cn/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home/seed/seed-iv.html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40664" y="4901184"/>
            <a:ext cx="640080" cy="640080"/>
            <a:chOff x="0" y="0"/>
            <a:chExt cx="853440" cy="853440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22381" y="3870579"/>
            <a:ext cx="640080" cy="640080"/>
            <a:chOff x="0" y="0"/>
            <a:chExt cx="853440" cy="853440"/>
          </a:xfrm>
        </p:grpSpPr>
        <p:sp>
          <p:nvSpPr>
            <p:cNvPr name="Freeform 97" id="9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22381" y="2763141"/>
            <a:ext cx="640080" cy="640080"/>
            <a:chOff x="0" y="0"/>
            <a:chExt cx="853440" cy="853440"/>
          </a:xfrm>
        </p:grpSpPr>
        <p:sp>
          <p:nvSpPr>
            <p:cNvPr name="Freeform 99" id="99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740664" y="1655702"/>
            <a:ext cx="640080" cy="640080"/>
            <a:chOff x="0" y="0"/>
            <a:chExt cx="853440" cy="853440"/>
          </a:xfrm>
        </p:grpSpPr>
        <p:sp>
          <p:nvSpPr>
            <p:cNvPr name="Freeform 101" id="10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954780"/>
            <a:ext cx="16459200" cy="2377440"/>
            <a:chOff x="0" y="0"/>
            <a:chExt cx="21945600" cy="316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76225"/>
              <a:ext cx="21945600" cy="3446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Impact"/>
                  <a:ea typeface="Impact"/>
                  <a:cs typeface="Impact"/>
                  <a:sym typeface="Impact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DAHHSTRGnr0</dc:identifier>
  <dcterms:modified xsi:type="dcterms:W3CDTF">2011-08-01T06:04:30Z</dcterms:modified>
  <cp:revision>1</cp:revision>
  <dc:title>&lt;Shashank&gt;.pptx</dc:title>
</cp:coreProperties>
</file>